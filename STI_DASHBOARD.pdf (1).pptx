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Cases</c:v>
                </c:pt>
              </c:strCache>
            </c:strRef>
          </c:tx>
          <c:spPr>
            <a:solidFill>
              <a:srgbClr val="0A7EA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D1F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  <c:pt idx="10">
                    <c:v>2025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3.63</c:v>
                </c:pt>
                <c:pt idx="1">
                  <c:v>4.52</c:v>
                </c:pt>
                <c:pt idx="2">
                  <c:v>3.61</c:v>
                </c:pt>
                <c:pt idx="3">
                  <c:v>3.58</c:v>
                </c:pt>
                <c:pt idx="4">
                  <c:v>3.48</c:v>
                </c:pt>
                <c:pt idx="5">
                  <c:v>2.9</c:v>
                </c:pt>
                <c:pt idx="6">
                  <c:v>3</c:v>
                </c:pt>
                <c:pt idx="7">
                  <c:v>3.97</c:v>
                </c:pt>
                <c:pt idx="8">
                  <c:v>3.09</c:v>
                </c:pt>
                <c:pt idx="9">
                  <c:v>4.19</c:v>
                </c:pt>
                <c:pt idx="10">
                  <c:v>2.91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D1F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Deaths</c:v>
                </c:pt>
              </c:strCache>
            </c:strRef>
          </c:tx>
          <c:spPr>
            <a:solidFill>
              <a:srgbClr val="D64045"/>
            </a:solidFill>
            <a:ln w="38100" cap="flat">
              <a:solidFill>
                <a:srgbClr val="D6404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D1F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64045"/>
              </a:solidFill>
              <a:ln w="9525" cap="flat">
                <a:solidFill>
                  <a:srgbClr val="D6404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  <c:pt idx="10">
                    <c:v>2025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1.47</c:v>
                </c:pt>
                <c:pt idx="1">
                  <c:v>1.79</c:v>
                </c:pt>
                <c:pt idx="2">
                  <c:v>1.44</c:v>
                </c:pt>
                <c:pt idx="3">
                  <c:v>1.49</c:v>
                </c:pt>
                <c:pt idx="4">
                  <c:v>1.59</c:v>
                </c:pt>
                <c:pt idx="5">
                  <c:v>1.17</c:v>
                </c:pt>
                <c:pt idx="6">
                  <c:v>1.18</c:v>
                </c:pt>
                <c:pt idx="7">
                  <c:v>1.53</c:v>
                </c:pt>
                <c:pt idx="8">
                  <c:v>1.17</c:v>
                </c:pt>
                <c:pt idx="9">
                  <c:v>1.78</c:v>
                </c:pt>
                <c:pt idx="10">
                  <c:v>1.13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D1F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60" cy="51435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0"/>
            <a:ext cx="91440" cy="5143500"/>
          </a:xfrm>
          <a:prstGeom prst="rect">
            <a:avLst/>
          </a:prstGeom>
          <a:solidFill>
            <a:srgbClr val="02C5D3"/>
          </a:solidFill>
          <a:ln w="12700">
            <a:solidFill>
              <a:srgbClr val="02C5D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A2340"/>
          </a:solidFill>
          <a:ln w="12700">
            <a:solidFill>
              <a:srgbClr val="0A23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32520" y="0"/>
            <a:ext cx="411480" cy="51435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777240"/>
            <a:ext cx="2377440" cy="2743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777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HEALTH ANALYSIS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" y="1170432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Sexually Transmitted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22960" y="1755648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C5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Diseases Dashboard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822960" y="2423160"/>
            <a:ext cx="5577840" cy="36576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478024"/>
            <a:ext cx="5577840" cy="13716"/>
          </a:xfrm>
          <a:prstGeom prst="rect">
            <a:avLst/>
          </a:prstGeom>
          <a:solidFill>
            <a:srgbClr val="02C5D3"/>
          </a:solidFill>
          <a:ln w="12700">
            <a:solidFill>
              <a:srgbClr val="02C5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54203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Analysis Report  |  2015 – 2025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3035808"/>
            <a:ext cx="1188720" cy="32004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0358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HIV/AIDs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121408" y="3035808"/>
            <a:ext cx="1188720" cy="32004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21408" y="30358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HPV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19856" y="3035808"/>
            <a:ext cx="1188720" cy="32004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19856" y="30358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Hepatitis B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18304" y="3035808"/>
            <a:ext cx="1188720" cy="320040"/>
          </a:xfrm>
          <a:prstGeom prst="rect">
            <a:avLst/>
          </a:prstGeom>
          <a:solidFill>
            <a:srgbClr val="2EAD6C"/>
          </a:solidFill>
          <a:ln w="12700">
            <a:solidFill>
              <a:srgbClr val="2EAD6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18304" y="30358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Syphilis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22960" y="46634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 Awareness, Prevention and Control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0"/>
            <a:ext cx="201168" cy="51435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" y="0"/>
            <a:ext cx="73152" cy="5143500"/>
          </a:xfrm>
          <a:prstGeom prst="rect">
            <a:avLst/>
          </a:prstGeom>
          <a:solidFill>
            <a:srgbClr val="02C5D3"/>
          </a:solidFill>
          <a:ln w="12700">
            <a:solidFill>
              <a:srgbClr val="02C5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7315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Sexually Transmitted Diseases – Global Analysis Report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503920" y="490118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85800" y="868680"/>
            <a:ext cx="8229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914400"/>
            <a:ext cx="329184" cy="329184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914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70432" y="9052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70432" y="1088136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analyze and why it matters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5800" y="1362456"/>
            <a:ext cx="8229600" cy="420624"/>
          </a:xfrm>
          <a:prstGeom prst="rect">
            <a:avLst/>
          </a:prstGeom>
          <a:solidFill>
            <a:srgbClr val="EBF2F7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1408176"/>
            <a:ext cx="329184" cy="329184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1408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70432" y="13990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Overview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70432" y="158191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cases, deaths and new infections 2015–2025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5800" y="1856232"/>
            <a:ext cx="8229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9808" y="1901952"/>
            <a:ext cx="329184" cy="329184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1901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70432" y="18928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Disease Breakdown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70432" y="2075688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HIV/AIDs · Hepatitis B · HPV · Syphilis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85800" y="2350008"/>
            <a:ext cx="8229600" cy="420624"/>
          </a:xfrm>
          <a:prstGeom prst="rect">
            <a:avLst/>
          </a:prstGeom>
          <a:solidFill>
            <a:srgbClr val="EBF2F7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9808" y="2395728"/>
            <a:ext cx="329184" cy="329184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2395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70432" y="23865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Regional Distribution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70432" y="2569464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Burden across Africa, Asia, Americas, Europe &amp; Oceania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85800" y="2843784"/>
            <a:ext cx="8229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9808" y="2889504"/>
            <a:ext cx="329184" cy="329184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" y="28895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70432" y="28803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Trends Over Time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70432" y="3063240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new cases and death trends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85800" y="3337560"/>
            <a:ext cx="8229600" cy="420624"/>
          </a:xfrm>
          <a:prstGeom prst="rect">
            <a:avLst/>
          </a:prstGeom>
          <a:solidFill>
            <a:srgbClr val="EBF2F7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9808" y="3383280"/>
            <a:ext cx="329184" cy="329184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808" y="3383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70432" y="33741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Treatment Coverage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170432" y="3557016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are patients being reached?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85800" y="3831336"/>
            <a:ext cx="8229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9808" y="3877056"/>
            <a:ext cx="329184" cy="329184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9808" y="38770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70432" y="38679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170432" y="40507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findings from the analysis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85800" y="4325112"/>
            <a:ext cx="8229600" cy="420624"/>
          </a:xfrm>
          <a:prstGeom prst="rect">
            <a:avLst/>
          </a:prstGeom>
          <a:solidFill>
            <a:srgbClr val="EBF2F7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9808" y="4370832"/>
            <a:ext cx="329184" cy="329184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9808" y="4370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70432" y="43616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170432" y="4544568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actions for stakeholders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0"/>
            <a:ext cx="201168" cy="51435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" y="0"/>
            <a:ext cx="73152" cy="5143500"/>
          </a:xfrm>
          <a:prstGeom prst="rect">
            <a:avLst/>
          </a:prstGeom>
          <a:solidFill>
            <a:srgbClr val="02C5D3"/>
          </a:solidFill>
          <a:ln w="12700">
            <a:solidFill>
              <a:srgbClr val="02C5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7315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Sexually Transmitted Diseases – Global Analysis Report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503920" y="490118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800" y="7772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This Report Sets Out to Achieve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1234440"/>
            <a:ext cx="8183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1234440"/>
            <a:ext cx="91440" cy="64008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1389888"/>
            <a:ext cx="329184" cy="329184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1389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53312" y="12893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Analyze Disease Burden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53312" y="152704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total cases, new infections and deaths across 4 major STDs from 2015 to 2025 across the globe.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5800" y="1965960"/>
            <a:ext cx="8183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" y="1965960"/>
            <a:ext cx="91440" cy="64008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2121408"/>
            <a:ext cx="329184" cy="329184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53312" y="202082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Identify High-Risk Regions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53312" y="225856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 which regions and countries carry the highest disease burden and why action is most urgent.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5800" y="2697480"/>
            <a:ext cx="8183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5800" y="2697480"/>
            <a:ext cx="91440" cy="64008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2852928"/>
            <a:ext cx="329184" cy="32918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2852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53312" y="275234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 Trends Over Time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353312" y="299008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how new cases and mortality rates have shifted year-over-year to identify patterns and turning points.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85800" y="3429000"/>
            <a:ext cx="8183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5800" y="3429000"/>
            <a:ext cx="91440" cy="640080"/>
          </a:xfrm>
          <a:prstGeom prst="rect">
            <a:avLst/>
          </a:prstGeom>
          <a:solidFill>
            <a:srgbClr val="2EAD6C"/>
          </a:solidFill>
          <a:ln w="12700">
            <a:solidFill>
              <a:srgbClr val="2EAD6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4400" y="3584448"/>
            <a:ext cx="329184" cy="329184"/>
          </a:xfrm>
          <a:prstGeom prst="ellipse">
            <a:avLst/>
          </a:prstGeom>
          <a:solidFill>
            <a:srgbClr val="2EAD6C"/>
          </a:solidFill>
          <a:ln w="12700">
            <a:solidFill>
              <a:srgbClr val="2EAD6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3584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353312" y="348386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Evaluate Treatment Reach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353312" y="372160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treatment coverage rates to determine how effectively health systems are responding to each disease.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85800" y="4160520"/>
            <a:ext cx="8183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85800" y="4160520"/>
            <a:ext cx="9144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4400" y="4315968"/>
            <a:ext cx="329184" cy="329184"/>
          </a:xfrm>
          <a:prstGeom prst="ellipse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4315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353312" y="42153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 Strategic Action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353312" y="445312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data-driven recommendations for policymakers, health organizations and stakeholders to reduce impact.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Sexually Transmitted Diseases – Global Analysis Report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90118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0"/>
          </a:solidFill>
          <a:ln w="12700">
            <a:solidFill>
              <a:srgbClr val="0A23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2C5D3"/>
          </a:solidFill>
          <a:ln w="12700">
            <a:solidFill>
              <a:srgbClr val="02C5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Overview  |  2015 – 2025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Figures at a Glance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234440"/>
            <a:ext cx="2651760" cy="128016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307592"/>
            <a:ext cx="24688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336.9M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0040" y="1976933"/>
            <a:ext cx="256032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Cases Recorded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1234440"/>
            <a:ext cx="2651760" cy="128016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37560" y="1307592"/>
            <a:ext cx="24688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15.7M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291840" y="1976933"/>
            <a:ext cx="256032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Deaths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1234440"/>
            <a:ext cx="2651760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09360" y="1307592"/>
            <a:ext cx="24688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38.9M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263640" y="1976933"/>
            <a:ext cx="256032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New Infections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743200"/>
            <a:ext cx="1920240" cy="1097280"/>
          </a:xfrm>
          <a:prstGeom prst="rect">
            <a:avLst/>
          </a:prstGeom>
          <a:solidFill>
            <a:srgbClr val="0A2340"/>
          </a:solidFill>
          <a:ln w="12700">
            <a:solidFill>
              <a:srgbClr val="0A23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5760" y="2816352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5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20040" y="3379622"/>
            <a:ext cx="182880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2C5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Covered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423160" y="2743200"/>
            <a:ext cx="1920240" cy="1097280"/>
          </a:xfrm>
          <a:prstGeom prst="rect">
            <a:avLst/>
          </a:prstGeom>
          <a:solidFill>
            <a:srgbClr val="0A2340"/>
          </a:solidFill>
          <a:ln w="12700">
            <a:solidFill>
              <a:srgbClr val="0A23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514600" y="2816352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5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2468880" y="3379622"/>
            <a:ext cx="182880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2C5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Diseases Tracked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0" y="2743200"/>
            <a:ext cx="1920240" cy="1097280"/>
          </a:xfrm>
          <a:prstGeom prst="rect">
            <a:avLst/>
          </a:prstGeom>
          <a:solidFill>
            <a:srgbClr val="0A2340"/>
          </a:solidFill>
          <a:ln w="12700">
            <a:solidFill>
              <a:srgbClr val="0A23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63440" y="2816352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5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617720" y="3379622"/>
            <a:ext cx="182880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2C5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Data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720840" y="2743200"/>
            <a:ext cx="1920240" cy="1097280"/>
          </a:xfrm>
          <a:prstGeom prst="rect">
            <a:avLst/>
          </a:prstGeom>
          <a:solidFill>
            <a:srgbClr val="2EAD6C"/>
          </a:solidFill>
          <a:ln w="12700">
            <a:solidFill>
              <a:srgbClr val="2EAD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12280" y="2816352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~78%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766560" y="3379622"/>
            <a:ext cx="182880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Treatment Coverage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4023360"/>
            <a:ext cx="8595360" cy="594360"/>
          </a:xfrm>
          <a:prstGeom prst="rect">
            <a:avLst/>
          </a:prstGeom>
          <a:solidFill>
            <a:srgbClr val="0A2340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05993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5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 </a:t>
            </a:r>
            <a:pPr indent="0" marL="0">
              <a:buNone/>
            </a:pPr>
            <a:r>
              <a:rPr lang="en-US" sz="95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ongoing global health efforts, STDs continue to impose a massive burden. With over 336 million cumulative cases recorded across 5 regions, the data underscores the urgent need for sustained investment in testing, treatment and prevention programmes.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0"/>
            <a:ext cx="201168" cy="51435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" y="0"/>
            <a:ext cx="73152" cy="5143500"/>
          </a:xfrm>
          <a:prstGeom prst="rect">
            <a:avLst/>
          </a:prstGeom>
          <a:solidFill>
            <a:srgbClr val="02C5D3"/>
          </a:solidFill>
          <a:ln w="12700">
            <a:solidFill>
              <a:srgbClr val="02C5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7315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Disease Breakdown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Sexually Transmitted Diseases – Global Analysis Report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503920" y="490118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8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Major STDs Under the Microscope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118872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1188720"/>
            <a:ext cx="4114800" cy="73152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131673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HIV / AIDs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971800" y="1316736"/>
            <a:ext cx="1691640" cy="256032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71800" y="131673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total cases &amp; deaths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822960" y="16642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40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Cases: 102.9M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88920" y="16642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Deaths: 4.99M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" y="1920240"/>
            <a:ext cx="3840480" cy="18288"/>
          </a:xfrm>
          <a:prstGeom prst="rect">
            <a:avLst/>
          </a:prstGeom>
          <a:solidFill>
            <a:srgbClr val="E2EAF0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1975104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STD burden globally. HIV remains most prevalent in Africa and Asia, with Sub-Saharan Africa carrying a disproportionate share. Treatment coverage averages 77.9%, leaving millions without access to antiretroviral therapy.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85800" y="315468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5800" y="3154680"/>
            <a:ext cx="4114800" cy="7315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28269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Hepatitis B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971800" y="3282696"/>
            <a:ext cx="1691640" cy="25603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71800" y="32826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highest disease burden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22960" y="36301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Cases: 96.0M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88920" y="36301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Deaths: 4.91M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" y="3886200"/>
            <a:ext cx="3840480" cy="18288"/>
          </a:xfrm>
          <a:prstGeom prst="rect">
            <a:avLst/>
          </a:prstGeom>
          <a:solidFill>
            <a:srgbClr val="E2EAF0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3941064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behind HIV in scale. Hepatitis B is highly prevalent in Asia where vaccination coverage remains inconsistent. Untreated, it leads to liver disease and cancer. Average treatment coverage: 78.4%.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956048" y="118872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56048" y="1188720"/>
            <a:ext cx="4114800" cy="7315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93208" y="131673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HPV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242048" y="1316736"/>
            <a:ext cx="1691640" cy="25603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42048" y="131673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among youth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093208" y="16642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E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Cases: 85.2M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059168" y="16642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Deaths: 3.29M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093208" y="1920240"/>
            <a:ext cx="3840480" cy="18288"/>
          </a:xfrm>
          <a:prstGeom prst="rect">
            <a:avLst/>
          </a:prstGeom>
          <a:solidFill>
            <a:srgbClr val="E2EAF0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93208" y="1975104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viral STD. HPV disproportionately affects young females aged 15–24. Vaccines are available but coverage varies significantly across regions, particularly in low-income settings. Treatment coverage: 78.5%.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956048" y="315468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956048" y="3154680"/>
            <a:ext cx="4114800" cy="73152"/>
          </a:xfrm>
          <a:prstGeom prst="rect">
            <a:avLst/>
          </a:prstGeom>
          <a:solidFill>
            <a:srgbClr val="2EAD6C"/>
          </a:solidFill>
          <a:ln w="12700">
            <a:solidFill>
              <a:srgbClr val="2EAD6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93208" y="328269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Syphilis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242048" y="3282696"/>
            <a:ext cx="1691640" cy="256032"/>
          </a:xfrm>
          <a:prstGeom prst="rect">
            <a:avLst/>
          </a:prstGeom>
          <a:solidFill>
            <a:srgbClr val="2EAD6C"/>
          </a:solidFill>
          <a:ln w="12700">
            <a:solidFill>
              <a:srgbClr val="2EAD6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42048" y="32826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burden but high risk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093208" y="36301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AD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Cases: 52.8M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059168" y="36301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Deaths: 2.55M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093208" y="3886200"/>
            <a:ext cx="3840480" cy="18288"/>
          </a:xfrm>
          <a:prstGeom prst="rect">
            <a:avLst/>
          </a:prstGeom>
          <a:solidFill>
            <a:srgbClr val="E2EAF0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93208" y="3941064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 lowest in total cases, Syphilis remains a serious concern due to complications if untreated, including neurological damage and increased HIV risk. Treatment coverage averages 77.9% globally.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0"/>
            <a:ext cx="201168" cy="51435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" y="0"/>
            <a:ext cx="73152" cy="5143500"/>
          </a:xfrm>
          <a:prstGeom prst="rect">
            <a:avLst/>
          </a:prstGeom>
          <a:solidFill>
            <a:srgbClr val="02C5D3"/>
          </a:solidFill>
          <a:ln w="12700">
            <a:solidFill>
              <a:srgbClr val="02C5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7315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Regional Distribution of STD Cases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Sexually Transmitted Diseases – Global Analysis Report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503920" y="490118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8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Regions Carry the Highest Burden?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130759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Asia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920240" y="1307592"/>
            <a:ext cx="5029200" cy="310896"/>
          </a:xfrm>
          <a:prstGeom prst="rect">
            <a:avLst/>
          </a:prstGeom>
          <a:solidFill>
            <a:srgbClr val="E2EAF0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20240" y="1307592"/>
            <a:ext cx="5029200" cy="310896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86600" y="130759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108.5M cases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200253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Americas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920240" y="2002536"/>
            <a:ext cx="5029200" cy="310896"/>
          </a:xfrm>
          <a:prstGeom prst="rect">
            <a:avLst/>
          </a:prstGeom>
          <a:solidFill>
            <a:srgbClr val="E2EAF0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20240" y="2002536"/>
            <a:ext cx="3922776" cy="310896"/>
          </a:xfrm>
          <a:prstGeom prst="rect">
            <a:avLst/>
          </a:prstGeom>
          <a:solidFill>
            <a:srgbClr val="1AACDB"/>
          </a:solidFill>
          <a:ln w="12700">
            <a:solidFill>
              <a:srgbClr val="1AAC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86600" y="200253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84.7M cases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26974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Africa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920240" y="2697480"/>
            <a:ext cx="5029200" cy="310896"/>
          </a:xfrm>
          <a:prstGeom prst="rect">
            <a:avLst/>
          </a:prstGeom>
          <a:solidFill>
            <a:srgbClr val="E2EAF0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20240" y="2697480"/>
            <a:ext cx="3671316" cy="31089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86600" y="26974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79.6M cases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" y="339242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Europe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920240" y="3392424"/>
            <a:ext cx="5029200" cy="310896"/>
          </a:xfrm>
          <a:prstGeom prst="rect">
            <a:avLst/>
          </a:prstGeom>
          <a:solidFill>
            <a:srgbClr val="E2EAF0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20240" y="3392424"/>
            <a:ext cx="2464308" cy="310896"/>
          </a:xfrm>
          <a:prstGeom prst="rect">
            <a:avLst/>
          </a:prstGeom>
          <a:solidFill>
            <a:srgbClr val="8FA3B8"/>
          </a:solidFill>
          <a:ln w="12700">
            <a:solidFill>
              <a:srgbClr val="8FA3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86600" y="339242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52.8M cases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" y="40873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Oceania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920240" y="4087368"/>
            <a:ext cx="5029200" cy="310896"/>
          </a:xfrm>
          <a:prstGeom prst="rect">
            <a:avLst/>
          </a:prstGeom>
          <a:solidFill>
            <a:srgbClr val="E2EAF0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20240" y="4087368"/>
            <a:ext cx="502920" cy="310896"/>
          </a:xfrm>
          <a:prstGeom prst="rect">
            <a:avLst/>
          </a:prstGeom>
          <a:solidFill>
            <a:srgbClr val="2EAD6C"/>
          </a:solidFill>
          <a:ln w="12700">
            <a:solidFill>
              <a:srgbClr val="2EAD6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86600" y="408736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11.3M cases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5800" y="4572000"/>
            <a:ext cx="2651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" y="4572000"/>
            <a:ext cx="2651760" cy="6400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463600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Asia Leads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77240" y="47914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Asia's high burden is driven by large populations in India and China with dense urban centers and varying access to healthcare and STD screening.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520440" y="4572000"/>
            <a:ext cx="2651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20440" y="4572000"/>
            <a:ext cx="265176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11880" y="463600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Africa's Challenge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611880" y="47914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faces high HIV/AIDs rates, limited treatment infrastructure and stigma around STD testing, particularly in Sub-Saharan nations.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6355080" y="4572000"/>
            <a:ext cx="2651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55080" y="4572000"/>
            <a:ext cx="2651760" cy="64008"/>
          </a:xfrm>
          <a:prstGeom prst="rect">
            <a:avLst/>
          </a:prstGeom>
          <a:solidFill>
            <a:srgbClr val="1AACDB"/>
          </a:solidFill>
          <a:ln w="12700">
            <a:solidFill>
              <a:srgbClr val="1AAC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46520" y="463600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Americas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446520" y="47914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Americas sees high HPV and Syphilis rates in Brazil and the USA, offset by stronger healthcare systems and broader vaccination access.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0"/>
            <a:ext cx="201168" cy="51435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" y="0"/>
            <a:ext cx="73152" cy="5143500"/>
          </a:xfrm>
          <a:prstGeom prst="rect">
            <a:avLst/>
          </a:prstGeom>
          <a:solidFill>
            <a:srgbClr val="02C5D3"/>
          </a:solidFill>
          <a:ln w="12700">
            <a:solidFill>
              <a:srgbClr val="02C5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7315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Cases &amp; Death Trends  |  2015 – 2025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Sexually Transmitted Diseases – Global Analysis Report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503920" y="490118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8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Have Infections &amp; Mortality Shifted Over the Decade?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11704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 New Cases (millions)</a:t>
            </a:r>
            <a:endParaRPr lang="en-US" sz="10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94360" y="1417320"/>
          <a:ext cx="402336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4892040" y="11704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 Deaths (millions)</a:t>
            </a:r>
            <a:endParaRPr lang="en-US" sz="1000" dirty="0"/>
          </a:p>
        </p:txBody>
      </p:sp>
      <p:graphicFrame>
        <p:nvGraphicFramePr>
          <p:cNvPr id="15" name="Chart 1" descr=""/>
          <p:cNvGraphicFramePr/>
          <p:nvPr/>
        </p:nvGraphicFramePr>
        <p:xfrm>
          <a:off x="4800600" y="1417320"/>
          <a:ext cx="402336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Shape 12"/>
          <p:cNvSpPr/>
          <p:nvPr/>
        </p:nvSpPr>
        <p:spPr>
          <a:xfrm>
            <a:off x="685800" y="4114800"/>
            <a:ext cx="2697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77240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4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005840" y="41330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&amp; 2024 saw the highest new case spikes — possible surveillance surges or outbreak events.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3520440" y="4114800"/>
            <a:ext cx="2697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611880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3840480" y="41330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recorded the lowest deaths (1.17M) — likely due to COVID-era healthcare disruptions reducing reported STD deaths.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6355080" y="4114800"/>
            <a:ext cx="2697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446520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7E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6675120" y="41330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cases show no consistent decline, signaling that prevention efforts need to be significantly scaled up.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0"/>
            <a:ext cx="201168" cy="51435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" y="0"/>
            <a:ext cx="73152" cy="5143500"/>
          </a:xfrm>
          <a:prstGeom prst="rect">
            <a:avLst/>
          </a:prstGeom>
          <a:solidFill>
            <a:srgbClr val="02C5D3"/>
          </a:solidFill>
          <a:ln w="12700">
            <a:solidFill>
              <a:srgbClr val="02C5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7315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Treatment Coverage &amp; Health System Response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Sexually Transmitted Diseases – Global Analysis Report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503920" y="490118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8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Are Patients Getting the Care They Need?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1188720"/>
            <a:ext cx="1920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1188720"/>
            <a:ext cx="1920240" cy="64008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135331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640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77.9%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85800" y="20116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HIV / AIDs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22860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Coverage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807208" y="1188720"/>
            <a:ext cx="1920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807208" y="1188720"/>
            <a:ext cx="1920240" cy="6400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07208" y="135331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A7E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78.5%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2807208" y="20116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HPV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807208" y="22860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Coverage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928616" y="1188720"/>
            <a:ext cx="1920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28616" y="1188720"/>
            <a:ext cx="192024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28616" y="135331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78.4%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4928616" y="20116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Hepatitis B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28616" y="22860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Coverage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050024" y="1188720"/>
            <a:ext cx="1920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050024" y="1188720"/>
            <a:ext cx="1920240" cy="64008"/>
          </a:xfrm>
          <a:prstGeom prst="rect">
            <a:avLst/>
          </a:prstGeom>
          <a:solidFill>
            <a:srgbClr val="2EAD6C"/>
          </a:solidFill>
          <a:ln w="12700">
            <a:solidFill>
              <a:srgbClr val="2EAD6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50024" y="135331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AD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77.9%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7050024" y="20116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Syphilis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50024" y="22860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Coverage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85800" y="2999232"/>
            <a:ext cx="8229600" cy="2743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2999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TREATMENT GAP ANALYSIS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5800" y="333756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34015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40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~22%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685800" y="38221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untreated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77240" y="4041648"/>
            <a:ext cx="1737360" cy="18288"/>
          </a:xfrm>
          <a:prstGeom prst="rect">
            <a:avLst/>
          </a:prstGeom>
          <a:solidFill>
            <a:srgbClr val="E2EAF0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407822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≈22.6M people not receiving treatment globally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807208" y="333756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07208" y="34015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40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~22%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2807208" y="38221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untreated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898648" y="4041648"/>
            <a:ext cx="1737360" cy="18288"/>
          </a:xfrm>
          <a:prstGeom prst="rect">
            <a:avLst/>
          </a:prstGeom>
          <a:solidFill>
            <a:srgbClr val="E2EAF0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852928" y="407822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 access is limited in low-income regions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928616" y="333756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28616" y="34015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40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~22%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4928616" y="38221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untreated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20056" y="4041648"/>
            <a:ext cx="1737360" cy="18288"/>
          </a:xfrm>
          <a:prstGeom prst="rect">
            <a:avLst/>
          </a:prstGeom>
          <a:solidFill>
            <a:srgbClr val="E2EAF0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74336" y="407822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effective antivirals, coverage gaps persist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7050024" y="333756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50024" y="34015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40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~22%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7050024" y="38221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untreated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141464" y="4041648"/>
            <a:ext cx="1737360" cy="18288"/>
          </a:xfrm>
          <a:prstGeom prst="rect">
            <a:avLst/>
          </a:prstGeom>
          <a:solidFill>
            <a:srgbClr val="E2EAF0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95744" y="407822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Penicillin-based treatment is cheap yet underutilised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Sexually Transmitted Diseases – Global Analysis Report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90118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0"/>
          </a:solidFill>
          <a:ln w="12700">
            <a:solidFill>
              <a:srgbClr val="0A23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2C5D3"/>
          </a:solidFill>
          <a:ln w="12700">
            <a:solidFill>
              <a:srgbClr val="02C5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Insights from the Data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4206240" cy="1188720"/>
          </a:xfrm>
          <a:prstGeom prst="rect">
            <a:avLst/>
          </a:prstGeom>
          <a:solidFill>
            <a:srgbClr val="0B28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932688"/>
            <a:ext cx="384048" cy="384048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932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914400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40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HIV/AIDs Remains the Primary Threat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84048" y="1316736"/>
            <a:ext cx="3977640" cy="9144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371600"/>
            <a:ext cx="3950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over 102.9M total cases and 4.99M deaths, HIV/AIDs accounts for the largest share of the global STD burden. Africa and Asia together represent the core epicentres of this epidemic.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2176272"/>
            <a:ext cx="4206240" cy="1188720"/>
          </a:xfrm>
          <a:prstGeom prst="rect">
            <a:avLst/>
          </a:prstGeom>
          <a:solidFill>
            <a:srgbClr val="0B2845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2286000"/>
            <a:ext cx="384048" cy="384048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2267712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Consistent Downward Trend in New Cases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4048" y="2670048"/>
            <a:ext cx="3977640" cy="914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724912"/>
            <a:ext cx="3950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new infections fluctuated between 2.9M and 4.5M across the decade, with 2016 and 2024 being peak years. This signals that current prevention strategies have not achieved sustained reduction.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3529584"/>
            <a:ext cx="4206240" cy="1188720"/>
          </a:xfrm>
          <a:prstGeom prst="rect">
            <a:avLst/>
          </a:prstGeom>
          <a:solidFill>
            <a:srgbClr val="0B2845"/>
          </a:solidFill>
          <a:ln w="12700">
            <a:solidFill>
              <a:srgbClr val="02C5D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3639312"/>
            <a:ext cx="384048" cy="384048"/>
          </a:xfrm>
          <a:prstGeom prst="ellipse">
            <a:avLst/>
          </a:prstGeom>
          <a:solidFill>
            <a:srgbClr val="02C5D3"/>
          </a:solidFill>
          <a:ln w="12700">
            <a:solidFill>
              <a:srgbClr val="02C5D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639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3621024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5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Asia Carries the Highest Regional Burden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84048" y="4023360"/>
            <a:ext cx="3977640" cy="9144"/>
          </a:xfrm>
          <a:prstGeom prst="rect">
            <a:avLst/>
          </a:prstGeom>
          <a:solidFill>
            <a:srgbClr val="02C5D3"/>
          </a:solidFill>
          <a:ln w="12700">
            <a:solidFill>
              <a:srgbClr val="02C5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078224"/>
            <a:ext cx="3950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 recorded 108.5M total cases — nearly 32% of the global total — driven by densely populated countries like India and China where healthcare access and STD awareness remain uneven.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54880" y="822960"/>
            <a:ext cx="4206240" cy="1188720"/>
          </a:xfrm>
          <a:prstGeom prst="rect">
            <a:avLst/>
          </a:prstGeom>
          <a:solidFill>
            <a:srgbClr val="0B2845"/>
          </a:solidFill>
          <a:ln w="12700">
            <a:solidFill>
              <a:srgbClr val="2EAD6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64608" y="932688"/>
            <a:ext cx="384048" cy="384048"/>
          </a:xfrm>
          <a:prstGeom prst="ellipse">
            <a:avLst/>
          </a:prstGeom>
          <a:solidFill>
            <a:srgbClr val="2EAD6C"/>
          </a:solidFill>
          <a:ln w="12700">
            <a:solidFill>
              <a:srgbClr val="2EAD6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932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49240" y="914400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AD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Treatment Coverage Plateaus at ~78%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64608" y="1316736"/>
            <a:ext cx="3977640" cy="9144"/>
          </a:xfrm>
          <a:prstGeom prst="rect">
            <a:avLst/>
          </a:prstGeom>
          <a:solidFill>
            <a:srgbClr val="2EAD6C"/>
          </a:solidFill>
          <a:ln w="12700">
            <a:solidFill>
              <a:srgbClr val="2EAD6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1371600"/>
            <a:ext cx="3950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diseases show treatment coverage hovering around 78%, suggesting a structural ceiling. The remaining 22% gap represents millions of untreated individuals who continue to drive transmission.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54880" y="2176272"/>
            <a:ext cx="4206240" cy="1188720"/>
          </a:xfrm>
          <a:prstGeom prst="rect">
            <a:avLst/>
          </a:prstGeom>
          <a:solidFill>
            <a:srgbClr val="0B2845"/>
          </a:solidFill>
          <a:ln w="12700">
            <a:solidFill>
              <a:srgbClr val="1AACD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64608" y="2286000"/>
            <a:ext cx="384048" cy="384048"/>
          </a:xfrm>
          <a:prstGeom prst="ellipse">
            <a:avLst/>
          </a:prstGeom>
          <a:solidFill>
            <a:srgbClr val="1AACDB"/>
          </a:solidFill>
          <a:ln w="12700">
            <a:solidFill>
              <a:srgbClr val="1AAC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49240" y="2267712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AC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2020 COVID Effect on Reported Deaths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64608" y="2670048"/>
            <a:ext cx="3977640" cy="9144"/>
          </a:xfrm>
          <a:prstGeom prst="rect">
            <a:avLst/>
          </a:prstGeom>
          <a:solidFill>
            <a:srgbClr val="1AACDB"/>
          </a:solidFill>
          <a:ln w="12700">
            <a:solidFill>
              <a:srgbClr val="1AAC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2724912"/>
            <a:ext cx="3950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in 2020 dropped to their lowest point (1.17M), likely reflecting disrupted healthcare reporting during the COVID-19 pandemic rather than a genuine reduction in STD mortality.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54880" y="3529584"/>
            <a:ext cx="4206240" cy="1188720"/>
          </a:xfrm>
          <a:prstGeom prst="rect">
            <a:avLst/>
          </a:prstGeom>
          <a:solidFill>
            <a:srgbClr val="0B2845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64608" y="3639312"/>
            <a:ext cx="384048" cy="384048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64608" y="3639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49240" y="3621024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HPV Disproportionately Impacts Young Females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864608" y="4023360"/>
            <a:ext cx="3977640" cy="914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4078224"/>
            <a:ext cx="3950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HPV cases are concentrated in the 15–24 female age group globally. Vaccine availability is unequal, with high-income nations achieving far greater coverage than low-income regions.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0"/>
            <a:ext cx="201168" cy="51435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" y="0"/>
            <a:ext cx="73152" cy="5143500"/>
          </a:xfrm>
          <a:prstGeom prst="rect">
            <a:avLst/>
          </a:prstGeom>
          <a:solidFill>
            <a:srgbClr val="02C5D3"/>
          </a:solidFill>
          <a:ln w="12700">
            <a:solidFill>
              <a:srgbClr val="02C5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7315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Sexually Transmitted Diseases – Global Analysis Report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503920" y="490118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8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Strategic Actions for Stakeholders &amp; Policymakers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1207008"/>
            <a:ext cx="40690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1207008"/>
            <a:ext cx="91440" cy="111556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1325880"/>
            <a:ext cx="347472" cy="347472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25880" y="129844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 Up Testing Infrastructure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8680" y="1645920"/>
            <a:ext cx="3776472" cy="13716"/>
          </a:xfrm>
          <a:prstGeom prst="rect">
            <a:avLst/>
          </a:prstGeom>
          <a:solidFill>
            <a:srgbClr val="E2EAF0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1682496"/>
            <a:ext cx="3776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Governments must invest in free, accessible STD testing in high-burden regions especially Africa and Asia. Mobile testing units and community clinics can reach underserved populations.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85800" y="2468880"/>
            <a:ext cx="40690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" y="2468880"/>
            <a:ext cx="91440" cy="1115568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2587752"/>
            <a:ext cx="347472" cy="347472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2587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25880" y="256032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Close the Treatment Coverage Gap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68680" y="2907792"/>
            <a:ext cx="3776472" cy="13716"/>
          </a:xfrm>
          <a:prstGeom prst="rect">
            <a:avLst/>
          </a:prstGeom>
          <a:solidFill>
            <a:srgbClr val="E2EAF0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2944368"/>
            <a:ext cx="3776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22% treatment gap across all diseases must be urgently addressed. Subsidised antiretroviral therapy, Hepatitis B antivirals and Syphilis treatments must reach last-mile communities.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85800" y="3730752"/>
            <a:ext cx="40690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5800" y="3730752"/>
            <a:ext cx="91440" cy="111556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680" y="3849624"/>
            <a:ext cx="347472" cy="347472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3849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325880" y="382219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Expand HPV Vaccination in Youth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4169664"/>
            <a:ext cx="3776472" cy="13716"/>
          </a:xfrm>
          <a:prstGeom prst="rect">
            <a:avLst/>
          </a:prstGeom>
          <a:solidFill>
            <a:srgbClr val="E2EAF0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4206240"/>
            <a:ext cx="3776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vaccination programmes must prioritise adolescent girls aged 9–14. School-based vaccination initiatives in low-income countries can dramatically reduce future HPV burden.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956048" y="1207008"/>
            <a:ext cx="40690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956048" y="1207008"/>
            <a:ext cx="91440" cy="1115568"/>
          </a:xfrm>
          <a:prstGeom prst="rect">
            <a:avLst/>
          </a:prstGeom>
          <a:solidFill>
            <a:srgbClr val="2EAD6C"/>
          </a:solidFill>
          <a:ln w="12700">
            <a:solidFill>
              <a:srgbClr val="2EAD6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38928" y="1325880"/>
            <a:ext cx="347472" cy="347472"/>
          </a:xfrm>
          <a:prstGeom prst="ellipse">
            <a:avLst/>
          </a:prstGeom>
          <a:solidFill>
            <a:srgbClr val="2EAD6C"/>
          </a:solidFill>
          <a:ln w="12700">
            <a:solidFill>
              <a:srgbClr val="2EAD6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38928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596128" y="129844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Launch Targeted Awareness Campaigns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138928" y="1645920"/>
            <a:ext cx="3776472" cy="13716"/>
          </a:xfrm>
          <a:prstGeom prst="rect">
            <a:avLst/>
          </a:prstGeom>
          <a:solidFill>
            <a:srgbClr val="E2EAF0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38928" y="1682496"/>
            <a:ext cx="3776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 stigma around STD testing through culturally sensitive education. Digital platforms, community leaders and health workers are key delivery channels for awareness messages.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956048" y="2468880"/>
            <a:ext cx="40690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956048" y="2468880"/>
            <a:ext cx="91440" cy="1115568"/>
          </a:xfrm>
          <a:prstGeom prst="rect">
            <a:avLst/>
          </a:prstGeom>
          <a:solidFill>
            <a:srgbClr val="1AACDB"/>
          </a:solidFill>
          <a:ln w="12700">
            <a:solidFill>
              <a:srgbClr val="1AACD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138928" y="2587752"/>
            <a:ext cx="347472" cy="347472"/>
          </a:xfrm>
          <a:prstGeom prst="ellipse">
            <a:avLst/>
          </a:prstGeom>
          <a:solidFill>
            <a:srgbClr val="1AACDB"/>
          </a:solidFill>
          <a:ln w="12700">
            <a:solidFill>
              <a:srgbClr val="1AAC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38928" y="2587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596128" y="256032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Improve Cross-Border Data Reporting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138928" y="2907792"/>
            <a:ext cx="3776472" cy="13716"/>
          </a:xfrm>
          <a:prstGeom prst="rect">
            <a:avLst/>
          </a:prstGeom>
          <a:solidFill>
            <a:srgbClr val="E2EAF0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38928" y="2944368"/>
            <a:ext cx="3776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reporting, especially during global disruptions like COVID-19, masks the true burden. A standardised WHO-aligned reporting system should be adopted across all regions.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956048" y="3730752"/>
            <a:ext cx="40690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956048" y="3730752"/>
            <a:ext cx="91440" cy="11155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138928" y="3849624"/>
            <a:ext cx="347472" cy="347472"/>
          </a:xfrm>
          <a:prstGeom prst="ellipse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38928" y="3849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596128" y="382219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F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 STD Research &amp; Innovation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138928" y="4169664"/>
            <a:ext cx="3776472" cy="13716"/>
          </a:xfrm>
          <a:prstGeom prst="rect">
            <a:avLst/>
          </a:prstGeom>
          <a:solidFill>
            <a:srgbClr val="E2EAF0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38928" y="4206240"/>
            <a:ext cx="3776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investment in next-generation vaccines, rapid diagnostics and drug resistance research is critical to getting ahead of STD transmission curves over the next decade.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60" cy="51435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0"/>
            <a:ext cx="91440" cy="5143500"/>
          </a:xfrm>
          <a:prstGeom prst="rect">
            <a:avLst/>
          </a:prstGeom>
          <a:solidFill>
            <a:srgbClr val="02C5D3"/>
          </a:solidFill>
          <a:ln w="12700">
            <a:solidFill>
              <a:srgbClr val="02C5D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A2340"/>
          </a:solidFill>
          <a:ln w="12700">
            <a:solidFill>
              <a:srgbClr val="0A23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32520" y="0"/>
            <a:ext cx="411480" cy="51435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86000"/>
            <a:ext cx="5577840" cy="36576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1887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190195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C5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We Can Reduce the STD Burden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Global Health Dataset  |  Period: 2015 – 2025  |  Diseases: HIV/AIDs, HPV, Hepatitis B, Syphilis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22960" y="2926080"/>
            <a:ext cx="1691640" cy="822960"/>
          </a:xfrm>
          <a:prstGeom prst="rect">
            <a:avLst/>
          </a:prstGeom>
          <a:solidFill>
            <a:srgbClr val="0B2845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97180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5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336.9M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2960" y="34198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Cases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697480" y="2926080"/>
            <a:ext cx="1691640" cy="822960"/>
          </a:xfrm>
          <a:prstGeom prst="rect">
            <a:avLst/>
          </a:prstGeom>
          <a:solidFill>
            <a:srgbClr val="0B2845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297180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5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15.7M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697480" y="34198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Deaths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0" y="2926080"/>
            <a:ext cx="1691640" cy="822960"/>
          </a:xfrm>
          <a:prstGeom prst="rect">
            <a:avLst/>
          </a:prstGeom>
          <a:solidFill>
            <a:srgbClr val="0B2845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297180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5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~78%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0" y="34198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Treatment Coverage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22960" y="46634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 Awareness, Prevention and Control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Sexually Transmitted Diseases – Global Analysis Report</dc:title>
  <dc:subject>PptxGenJS Presentation</dc:subject>
  <dc:creator>PptxGenJS</dc:creator>
  <cp:lastModifiedBy>PptxGenJS</cp:lastModifiedBy>
  <cp:revision>1</cp:revision>
  <dcterms:created xsi:type="dcterms:W3CDTF">2026-04-03T08:53:06Z</dcterms:created>
  <dcterms:modified xsi:type="dcterms:W3CDTF">2026-04-03T08:53:06Z</dcterms:modified>
</cp:coreProperties>
</file>