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Dominance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D700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00C896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3344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BTC</c:v>
                </c:pt>
                <c:pt idx="1">
                  <c:v>ETH</c:v>
                </c:pt>
                <c:pt idx="2">
                  <c:v>XRP</c:v>
                </c:pt>
                <c:pt idx="3">
                  <c:v>USDT</c:v>
                </c:pt>
                <c:pt idx="4">
                  <c:v>BNB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58.6</c:v>
                </c:pt>
                <c:pt idx="1">
                  <c:v>13.44</c:v>
                </c:pt>
                <c:pt idx="2">
                  <c:v>4.47</c:v>
                </c:pt>
                <c:pt idx="3">
                  <c:v>4.32</c:v>
                </c:pt>
                <c:pt idx="4">
                  <c:v>3.12</c:v>
                </c:pt>
                <c:pt idx="5">
                  <c:v>16.05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C4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50A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7d Return %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LINK</c:v>
                  </c:pt>
                  <c:pt idx="1">
                    <c:v>BNB</c:v>
                  </c:pt>
                  <c:pt idx="2">
                    <c:v>USDT</c:v>
                  </c:pt>
                  <c:pt idx="3">
                    <c:v>USDC</c:v>
                  </c:pt>
                  <c:pt idx="4">
                    <c:v>TRX</c:v>
                  </c:pt>
                  <c:pt idx="5">
                    <c:v>BTC</c:v>
                  </c:pt>
                  <c:pt idx="6">
                    <c:v>SOL</c:v>
                  </c:pt>
                  <c:pt idx="7">
                    <c:v>ETH</c:v>
                  </c:pt>
                  <c:pt idx="8">
                    <c:v>DOGE</c:v>
                  </c:pt>
                  <c:pt idx="9">
                    <c:v>XRP</c:v>
                  </c:pt>
                  <c:pt idx="10">
                    <c:v>XLM</c:v>
                  </c:pt>
                  <c:pt idx="11">
                    <c:v>SUI</c:v>
                  </c:pt>
                  <c:pt idx="12">
                    <c:v>ADA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7.03</c:v>
                </c:pt>
                <c:pt idx="1">
                  <c:v>0.18</c:v>
                </c:pt>
                <c:pt idx="2">
                  <c:v>-0.05</c:v>
                </c:pt>
                <c:pt idx="3">
                  <c:v>-0.01</c:v>
                </c:pt>
                <c:pt idx="4">
                  <c:v>-3.01</c:v>
                </c:pt>
                <c:pt idx="5">
                  <c:v>-6.63</c:v>
                </c:pt>
                <c:pt idx="6">
                  <c:v>-9.7</c:v>
                </c:pt>
                <c:pt idx="7">
                  <c:v>-9.77</c:v>
                </c:pt>
                <c:pt idx="8">
                  <c:v>-10.34</c:v>
                </c:pt>
                <c:pt idx="9">
                  <c:v>-10.97</c:v>
                </c:pt>
                <c:pt idx="10">
                  <c:v>-11.95</c:v>
                </c:pt>
                <c:pt idx="11">
                  <c:v>-12.84</c:v>
                </c:pt>
                <c:pt idx="12">
                  <c:v>-12.49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42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Ecosystem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34455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00D4FF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FFD700"/>
              </a:solidFill>
              <a:effectLst/>
            </c:spPr>
          </c:dPt>
          <c:dPt>
            <c:idx val="5"/>
            <c:bubble3D val="0"/>
            <c:spPr>
              <a:solidFill>
                <a:srgbClr val="00C896"/>
              </a:solidFill>
              <a:effectLst/>
            </c:spPr>
          </c:dPt>
          <c:dPt>
            <c:idx val="6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Other</c:v>
                </c:pt>
                <c:pt idx="1">
                  <c:v>Meme</c:v>
                </c:pt>
                <c:pt idx="2">
                  <c:v>DeFi</c:v>
                </c:pt>
                <c:pt idx="3">
                  <c:v>NFT</c:v>
                </c:pt>
                <c:pt idx="4">
                  <c:v>Layer 1</c:v>
                </c:pt>
                <c:pt idx="5">
                  <c:v>Stablecoin</c:v>
                </c:pt>
                <c:pt idx="6">
                  <c:v>Layer 2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2697</c:v>
                </c:pt>
                <c:pt idx="1">
                  <c:v>973</c:v>
                </c:pt>
                <c:pt idx="2">
                  <c:v>888</c:v>
                </c:pt>
                <c:pt idx="3">
                  <c:v>217</c:v>
                </c:pt>
                <c:pt idx="4">
                  <c:v>123</c:v>
                </c:pt>
                <c:pt idx="5">
                  <c:v>74</c:v>
                </c:pt>
                <c:pt idx="6">
                  <c:v>51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C4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50A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8912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96528" y="0"/>
            <a:ext cx="34747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" y="749808"/>
            <a:ext cx="292608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749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MARKET INTELLIGENCE REPORT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13232" y="10972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</a:t>
            </a:r>
            <a:endParaRPr lang="en-US" sz="5200" dirty="0"/>
          </a:p>
        </p:txBody>
      </p:sp>
      <p:sp>
        <p:nvSpPr>
          <p:cNvPr id="63" name="Text 61"/>
          <p:cNvSpPr/>
          <p:nvPr/>
        </p:nvSpPr>
        <p:spPr>
          <a:xfrm>
            <a:off x="713232" y="18288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64" name="Shape 62"/>
          <p:cNvSpPr/>
          <p:nvPr/>
        </p:nvSpPr>
        <p:spPr>
          <a:xfrm>
            <a:off x="713232" y="2651760"/>
            <a:ext cx="58521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" y="2706624"/>
            <a:ext cx="5852160" cy="137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" y="277977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Overview, Performance &amp; Insights  |  August 2025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13232" y="3273552"/>
            <a:ext cx="1353312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" y="33101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$3.90T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713232" y="3639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Mkt Cap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176272" y="3273552"/>
            <a:ext cx="1353312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76272" y="33101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5,023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2176272" y="3639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Tracked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639312" y="3273552"/>
            <a:ext cx="1353312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639312" y="33101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$351.97B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3639312" y="3639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24h Volume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102352" y="3273552"/>
            <a:ext cx="1353312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02352" y="331012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6.64%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5102352" y="3639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Volatility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876288" y="320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5 BY MARKET CAP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03720" y="594360"/>
            <a:ext cx="18288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76288" y="713232"/>
            <a:ext cx="1920240" cy="713232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31152" y="758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296912" y="758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931152" y="1060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$113,743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876288" y="1517904"/>
            <a:ext cx="1920240" cy="713232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31152" y="1563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296912" y="1563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6931152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$4,302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876288" y="2322576"/>
            <a:ext cx="1920240" cy="713232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31152" y="23682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7296912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6931152" y="2670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$2.91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876288" y="3127248"/>
            <a:ext cx="1920240" cy="713232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931152" y="31729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296912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BNB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6931152" y="3474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$865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876288" y="3931920"/>
            <a:ext cx="1920240" cy="713232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31152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296912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6931152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$187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713232" y="4645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Source: CoinMarketCap  |  Aug 21,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CONTENTS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8503920" cy="420624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777240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850392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50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813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Overview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1014984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market cap, volume, symbols and key metrics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239012"/>
            <a:ext cx="8503920" cy="420624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239012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312164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312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12755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Cryptocurrencies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147675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10 coins by market cap with price &amp; change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700784"/>
            <a:ext cx="8503920" cy="420624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1700784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773936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1737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Dominance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1938528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vs ETH vs altcoins — who controls the market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162556"/>
            <a:ext cx="8503920" cy="420624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162556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235708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357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" y="21991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24h Gainers &amp; Losers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" y="2400300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and worst performing coins in the last 24 hours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624328"/>
            <a:ext cx="8503920" cy="420624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2624328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697480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2960" y="2660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Analysis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286207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traded coins and 24h volume leaders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086100"/>
            <a:ext cx="8503920" cy="420624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086100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159252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1592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" y="31226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7-Day Performance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22960" y="3323844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return comparison across major coins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547872"/>
            <a:ext cx="8503920" cy="420624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3547872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621024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Ecosystem Breakdown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22960" y="3785616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DeFi, Layer 1, Meme, Stablecoin, NFT distribution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4009644"/>
            <a:ext cx="8503920" cy="420624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4009644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082796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0827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" y="40462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22960" y="4247388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Data-driven findings from the market snapshot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471416"/>
            <a:ext cx="8503920" cy="420624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" y="4471416"/>
            <a:ext cx="64008" cy="42062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544568"/>
            <a:ext cx="274320" cy="2743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22960" y="4507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22960" y="4709160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actions for investors and analysts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MARKET OVERVIEW  |  August 21, 2025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Crypto Market at a Glance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51560"/>
            <a:ext cx="201168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51560"/>
            <a:ext cx="20116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161288"/>
            <a:ext cx="186537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$3.90T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" y="1677375"/>
            <a:ext cx="186537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Market Cap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914754"/>
            <a:ext cx="182880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36333"/>
            <a:ext cx="186537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+2.3%  24h change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87168" y="1051560"/>
            <a:ext cx="201168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105156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161288"/>
            <a:ext cx="186537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$351.97B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60320" y="1677375"/>
            <a:ext cx="186537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24h Volume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78608" y="1914754"/>
            <a:ext cx="182880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936333"/>
            <a:ext cx="186537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  top volume coin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00016" y="1051560"/>
            <a:ext cx="201168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1051560"/>
            <a:ext cx="20116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161288"/>
            <a:ext cx="186537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5,023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73168" y="1677375"/>
            <a:ext cx="186537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Tracked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91456" y="1914754"/>
            <a:ext cx="182880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936333"/>
            <a:ext cx="186537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4,552  unique symbols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12864" y="1051560"/>
            <a:ext cx="196596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12864" y="1051560"/>
            <a:ext cx="1965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1161288"/>
            <a:ext cx="181965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6.64%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86016" y="1677375"/>
            <a:ext cx="181965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Volatility (24h)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04304" y="1914754"/>
            <a:ext cx="178308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1936333"/>
            <a:ext cx="181965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  avg abs change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267712"/>
            <a:ext cx="201168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267712"/>
            <a:ext cx="201168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377440"/>
            <a:ext cx="186537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$113,743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347472" y="2893527"/>
            <a:ext cx="186537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Bitcoin Price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130906"/>
            <a:ext cx="182880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152485"/>
            <a:ext cx="186537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+0.05%  24h change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2267712"/>
            <a:ext cx="201168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87168" y="2267712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2377440"/>
            <a:ext cx="186537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$4,302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2560320" y="2893527"/>
            <a:ext cx="186537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Ethereum Price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78608" y="3130906"/>
            <a:ext cx="182880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3152485"/>
            <a:ext cx="186537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+2.72%  24h change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00016" y="2267712"/>
            <a:ext cx="201168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0016" y="2267712"/>
            <a:ext cx="20116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2377440"/>
            <a:ext cx="186537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58.60%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4773168" y="2893527"/>
            <a:ext cx="186537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Dominance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91456" y="3130906"/>
            <a:ext cx="182880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3152485"/>
            <a:ext cx="186537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 cmc rank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912864" y="2267712"/>
            <a:ext cx="1965960" cy="1078992"/>
          </a:xfrm>
          <a:prstGeom prst="rect">
            <a:avLst/>
          </a:prstGeom>
          <a:solidFill>
            <a:srgbClr val="0B142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12864" y="2267712"/>
            <a:ext cx="1965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86016" y="2377440"/>
            <a:ext cx="1819656" cy="517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13.44%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6986016" y="2893527"/>
            <a:ext cx="1819656" cy="237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 Dominance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004304" y="3130906"/>
            <a:ext cx="1783080" cy="914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86016" y="3152485"/>
            <a:ext cx="1819656" cy="172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 cmc rank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4320" y="3474720"/>
            <a:ext cx="8595360" cy="117043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3474720"/>
            <a:ext cx="859536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538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SNAPSHOT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3813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Gainer 24h: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737360" y="3813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377440" y="38130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+3,085%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291840" y="3813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Loser 24h: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0" y="3813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212080" y="38130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-95.62%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26480" y="3813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Volume Coin: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06640" y="3813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046720" y="38130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$124.05B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57200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 MC Coin: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737360" y="41970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377440" y="41970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$2.26T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291840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Stable: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572000" y="41970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USDC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12080" y="41970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$1.00 ±0.01%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26480" y="4197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7d Return: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406640" y="41970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046720" y="41970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+124.3%*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57200" y="455371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Avg 7d return skewed by high-volatility micro-cap tokens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TOP CRYPTOCURRENCIES  |  By Market Capitalisation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10 Coins — Price, Market Cap &amp; 24h Performance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51560"/>
            <a:ext cx="8595360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81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088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0881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(USD)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10881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 Cap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1088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24h Chg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088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7d Chg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0881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24h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371600"/>
            <a:ext cx="8595360" cy="31089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4173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14173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$113,742.95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1417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$2,264.5B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-6.63%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14173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$65.47B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1717243"/>
            <a:ext cx="8595360" cy="310896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762963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176296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0" y="176296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$4,301.67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63240" y="176296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$519.2B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34840" y="176296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+2.72%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176296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-9.77%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1762963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$47.83B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062886"/>
            <a:ext cx="8595360" cy="31089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10860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210860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45920" y="210860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$2.91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63240" y="210860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$172.8B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34840" y="210860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+0.53%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210860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-10.97%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210860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$6.53B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408530"/>
            <a:ext cx="8595360" cy="310896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45425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" y="245425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45920" y="245425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063240" y="245425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$167.0B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34840" y="245425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-0.02%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49240" y="245425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-0.05%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245425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$124.05B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2754173"/>
            <a:ext cx="8595360" cy="31089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2799893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279989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45920" y="2799893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$865.49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063240" y="279989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$120.6B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434840" y="279989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+3.48%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49240" y="2799893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+0.18%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2799893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$3.44B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099816"/>
            <a:ext cx="8595360" cy="310896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31455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77240" y="3145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645920" y="31455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$187.16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063240" y="31455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$101.1B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434840" y="3145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+3.33%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349240" y="31455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-9.70%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0080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$6.65B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3445459"/>
            <a:ext cx="8595360" cy="31089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491179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7240" y="349117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USDC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645920" y="3491179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$1.00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063240" y="3491179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$67.5B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34840" y="349117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-0.01%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49240" y="349117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-0.01%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00800" y="349117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$17.89B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791102"/>
            <a:ext cx="8595360" cy="310896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383682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77240" y="383682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TRX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645920" y="383682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$0.36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063240" y="383682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$33.7B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434840" y="383682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+1.81%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349240" y="383682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-3.01%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400800" y="383682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$1.16B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4136746"/>
            <a:ext cx="8595360" cy="31089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18246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7240" y="418246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645920" y="418246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$0.22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063240" y="418246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$33.5B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434840" y="418246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+4.23%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349240" y="418246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-10.34%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400800" y="418246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$2.89B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4320" y="4482389"/>
            <a:ext cx="8595360" cy="310896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4528109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77240" y="452810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1645920" y="4528109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$0.88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3063240" y="4528109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$31.3B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4434840" y="452810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+2.85%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5349240" y="4528109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-12.49%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400800" y="4528109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$2.08B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MARKET DOMINANCE  |  BTC vs ETH vs Altcoins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Controls the Crypto Market?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1024128"/>
          <a:ext cx="45720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074920" y="1024128"/>
            <a:ext cx="374904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74920" y="1024128"/>
            <a:ext cx="64008" cy="6583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0368" y="10789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70448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58.60%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30368" y="1371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MC: $2,264.5B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98080" y="1152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+0.05%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1773936"/>
            <a:ext cx="374904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74920" y="1773936"/>
            <a:ext cx="64008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30368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870448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13.44%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230368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MC: $519.2B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49808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+2.72%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2523744"/>
            <a:ext cx="374904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74920" y="2523744"/>
            <a:ext cx="6400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30368" y="25786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870448" y="2578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4.47%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230368" y="28712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MC: $172.8B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9808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+0.53%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74920" y="3273552"/>
            <a:ext cx="374904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074920" y="3273552"/>
            <a:ext cx="64008" cy="6583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30368" y="33284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870448" y="3328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4.32%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230368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MC: $167.0B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498080" y="3401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-0.02%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074920" y="4023360"/>
            <a:ext cx="3749040" cy="658368"/>
          </a:xfrm>
          <a:prstGeom prst="rect">
            <a:avLst/>
          </a:prstGeom>
          <a:solidFill>
            <a:srgbClr val="0B14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74920" y="402336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30368" y="4078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BNB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870448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3.12%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230368" y="4370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MC: $120.6B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498080" y="41513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+3.48%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074920" y="4663440"/>
            <a:ext cx="3749040" cy="320040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66360" y="47000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Others (16.05%) = all remaining altcoins combined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24H GAINERS &amp; LOSERS  |  Best and Worst Performers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24-Hour Price Change Leaders — Top Movers in the Market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60704"/>
            <a:ext cx="406908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0607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 TOP GAINERS  (24H)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60704"/>
            <a:ext cx="4069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607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TOP LOSERS  (24H)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444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1463040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1463040"/>
            <a:ext cx="3200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44475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+3,085.64%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792224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847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1865376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1865376"/>
            <a:ext cx="728589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63240" y="18470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+683.03%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194560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2494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417320" y="2267712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2267712"/>
            <a:ext cx="525297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24942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+492.45%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596896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17320" y="2670048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2670048"/>
            <a:ext cx="478373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63240" y="2651760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+448.46%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999232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0540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GENZAI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17320" y="3072384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17320" y="3072384"/>
            <a:ext cx="432238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3240" y="3054096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+405.21%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401568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456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CRCL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417320" y="3474720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17320" y="3474720"/>
            <a:ext cx="347745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63240" y="345643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+326.00%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03904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858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SQUID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17320" y="3877056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17320" y="3877056"/>
            <a:ext cx="332459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8587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+311.67%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206240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2611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IBIT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417320" y="4279392"/>
            <a:ext cx="2743200" cy="18288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17320" y="4279392"/>
            <a:ext cx="313557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63240" y="426110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+293.95%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00600" y="1389888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10328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1463040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26480" y="1463040"/>
            <a:ext cx="2732342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44768" y="14447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-95.62%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1792224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0328" y="18470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FELIS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1865376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1865376"/>
            <a:ext cx="2664619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68" y="184708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-93.25%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00600" y="2194560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0328" y="22494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CHAMPAGNE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126480" y="2267712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26480" y="2267712"/>
            <a:ext cx="2585752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44768" y="224942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-90.49%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800600" y="2596896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10328" y="2651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DFI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26480" y="2670048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26480" y="2670048"/>
            <a:ext cx="2509457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44768" y="26517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-87.82%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800600" y="2999232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10328" y="30540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TOKABU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126480" y="3072384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26480" y="3072384"/>
            <a:ext cx="2441734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44768" y="305409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-85.45%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800600" y="3401568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10328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50501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126480" y="3474720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26480" y="3474720"/>
            <a:ext cx="2351437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44768" y="345643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-82.29%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800600" y="3803904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10328" y="38587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EDEN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126480" y="3877056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26480" y="3877056"/>
            <a:ext cx="2220278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44768" y="38587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-77.70%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800600" y="4206240"/>
            <a:ext cx="406908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10328" y="42611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CIRUS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126480" y="4279392"/>
            <a:ext cx="2560320" cy="182880"/>
          </a:xfrm>
          <a:prstGeom prst="rect">
            <a:avLst/>
          </a:prstGeom>
          <a:solidFill>
            <a:srgbClr val="200A0A"/>
          </a:solidFill>
          <a:ln w="12700">
            <a:solidFill>
              <a:srgbClr val="200A0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4279392"/>
            <a:ext cx="2217134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144768" y="426110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-77.59%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Note: </a:t>
            </a:r>
            <a:pPr indent="0" marL="0">
              <a:buNone/>
            </a:pPr>
            <a:r>
              <a:rPr lang="en-US" sz="8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moves (&gt;100%) are typically micro-cap tokens with very low liquidity. Exercise caution — these are not suitable for most investors.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VOLUME ANALYSIS  |  24h Trading Volume Leaders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is the Money Moving? — Top Volume Coins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60704"/>
            <a:ext cx="8595360" cy="384048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33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11521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152144"/>
            <a:ext cx="658368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1338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$124.05B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17904"/>
            <a:ext cx="8595360" cy="38404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591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16093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1609344"/>
            <a:ext cx="3474676" cy="20116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591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$65.47B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975104"/>
            <a:ext cx="8595360" cy="384048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20665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2066544"/>
            <a:ext cx="2538472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0482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$47.83B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32304"/>
            <a:ext cx="8595360" cy="38404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505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25237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0" y="2523744"/>
            <a:ext cx="1143719" cy="201168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25054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$21.55B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89504"/>
            <a:ext cx="8595360" cy="384048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962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71600" y="29809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0" y="2980944"/>
            <a:ext cx="94947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9626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$17.89B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346704"/>
            <a:ext cx="8595360" cy="38404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4198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FDUSD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71600" y="34381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3438144"/>
            <a:ext cx="46067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34198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$8.68B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03904"/>
            <a:ext cx="8595360" cy="384048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3877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371600" y="38953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3895344"/>
            <a:ext cx="352934" cy="2011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8770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$6.65B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261104"/>
            <a:ext cx="8595360" cy="38404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334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371600" y="4352544"/>
            <a:ext cx="6583680" cy="20116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0" y="4352544"/>
            <a:ext cx="34656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433425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$6.53B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24h Volume (Top 8): </a:t>
            </a:r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$298.65B  — Stablecoins (USDT+USDC+DAI+FDUSD) account for </a:t>
            </a:r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$172.17B (57.7%)</a:t>
            </a:r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of all volume, reflecting heavy use as trading pairs.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7-DAY PERFORMANCE  |  Weekly Return Comparison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Price Change — Major Cryptocurrencies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1051560"/>
          <a:ext cx="8595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407408"/>
            <a:ext cx="8595360" cy="640080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453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 MARKET CONTEXT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LINK (+7.03%) and BNB (+0.18%) posted positive 7-day returns among major coins. Most large-cap assets declined 6–13% over the week, suggesting a </a:t>
            </a:r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bearish short-term trend</a:t>
            </a:r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Stablecoins (USDT/USDC) held their peg as expected.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ECOSYSTEM BREAKDOWN  |  Coins by Category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5,023 Coins Categorised by Ecosystem Type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105156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074920" y="1051560"/>
            <a:ext cx="3749040" cy="530352"/>
          </a:xfrm>
          <a:prstGeom prst="rect">
            <a:avLst/>
          </a:prstGeom>
          <a:solidFill>
            <a:srgbClr val="0B1426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74920" y="1051560"/>
            <a:ext cx="64008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0368" y="1088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Meme Coins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95160" y="108813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973 coins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230368" y="132588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19.4% of total  |  Driven by social media trends &amp; hype cycles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074920" y="1655064"/>
            <a:ext cx="3749040" cy="530352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74920" y="1655064"/>
            <a:ext cx="64008" cy="5303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16916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95160" y="169164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888 coins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30368" y="1929384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17.7% of total  |  Decentralised exchanges, lending, yield farming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74920" y="2258568"/>
            <a:ext cx="3749040" cy="530352"/>
          </a:xfrm>
          <a:prstGeom prst="rect">
            <a:avLst/>
          </a:prstGeom>
          <a:solidFill>
            <a:srgbClr val="0B142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74920" y="2258568"/>
            <a:ext cx="640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30368" y="2295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NFT &amp; Gaming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95160" y="229514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217 coins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230368" y="2532888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4.3% of total  |  Digital art, collectibles, play-to-earn tokens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074920" y="2862072"/>
            <a:ext cx="3749040" cy="530352"/>
          </a:xfrm>
          <a:prstGeom prst="rect">
            <a:avLst/>
          </a:prstGeom>
          <a:solidFill>
            <a:srgbClr val="0B1426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74920" y="2862072"/>
            <a:ext cx="64008" cy="5303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30368" y="28986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95160" y="28986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 coins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30368" y="3136392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2.4% of total  |  Base blockchains: BTC, ETH, SOL, ADA and peers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074920" y="3465576"/>
            <a:ext cx="3749040" cy="530352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074920" y="3465576"/>
            <a:ext cx="64008" cy="5303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30368" y="35021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Stablecoins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995160" y="350215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 coins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230368" y="373989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1.5% of total  |  Pegged to USD or other fiat currencies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074920" y="4069080"/>
            <a:ext cx="3749040" cy="530352"/>
          </a:xfrm>
          <a:prstGeom prst="rect">
            <a:avLst/>
          </a:prstGeom>
          <a:solidFill>
            <a:srgbClr val="0B14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074920" y="406908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30368" y="41056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995160" y="410565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 coins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230368" y="434340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1.0% of total  |  Scaling solutions built on top of L1 chains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KEY INSIGHTS  |  What the Data Tells 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Data-Driven Findings from the Market Snapshot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60704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1188720"/>
            <a:ext cx="347472" cy="34747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11521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Holds Commanding Market Control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" y="1499616"/>
            <a:ext cx="3950208" cy="1828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554480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Bitcoin's 58.60% market dominance means it controls more than half of the entire crypto market. At $113,743 per coin and $2.26T market cap, BTC remains the single most important asset in the ecosystem by a massive margin.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" y="241401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23774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Major Coins Down Over 7 Days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" y="2724912"/>
            <a:ext cx="3950208" cy="18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779776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large-cap coins except LINK (+7%) and BNB (+0.2%) posted negative 7-day returns, with many falling 10–13%. This broad-based decline signals a short-term bearish correction despite individual daily gains in the session.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74320" y="3511296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2336" y="3639312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36027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Meme Coins Dominate Token Count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" y="3950208"/>
            <a:ext cx="3950208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400507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Meme coins represent 19.4% of all tracked coins (973 tokens) — second only to uncategorized "Other" tokens. This reflects speculative retail activity. However, their market cap share remains negligible vs. Layer 1 assets.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709160" y="1060704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37176" y="118872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94376" y="115214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Stablecoins Drive Trading Volume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37176" y="1499616"/>
            <a:ext cx="3950208" cy="182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1554480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USDT alone accounts for $124B of the $352B total 24h volume — 35.2% of all trades. Combined with USDC, DAI and FDUSD, stablecoins represent 57.7% of all trading volume, confirming their role as the backbone of crypto liquidity.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709160" y="2286000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37176" y="241401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94376" y="237744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Volatility in Micro-Cap Tokens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37176" y="2724912"/>
            <a:ext cx="3950208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37176" y="2779776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 tokens moved over 3,000% in 24 hours (BRM) while others lost 95%+ (PORT). This extreme volatility is characteristic of micro-cap tokens with tiny liquidity pools — not reflective of the broader market's actual health.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09160" y="3511296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37176" y="36393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7176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94376" y="360273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Ethereum Gaining Ground vs. Bitcoin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37176" y="3950208"/>
            <a:ext cx="3950208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400507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 posted the strongest 24h gain among top coins (+2.72%), while BTC was nearly flat (+0.05%). With ETH's 13.44% dominance and a $4,302 price, institutional interest in Ethereum's DeFi ecosystem appears to be strengthening.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RECOMMENDATIONS  |  Strategic Actions for Investors &amp; Analysts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A14"/>
          </a:solidFill>
          <a:ln w="12700">
            <a:solidFill>
              <a:srgbClr val="05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 DASHBOARD  |  Market Overview &amp; Analysis  |  Data: Aug 2025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686800" y="49103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Data-Backed Actions Based on the Market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060704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60704"/>
            <a:ext cx="64008" cy="113385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188720"/>
            <a:ext cx="329184" cy="32918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6112" y="11521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Prioritise BTC &amp; ETH as Core Holdings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1499616"/>
            <a:ext cx="39319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55448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BTC at 58.6% market dominance and ETH showing strong 24h momentum (+2.72%), blue-chip exposure should form the foundation of any portfolio. These assets offer better liquidity, transparency and long-term track record than altcoins.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86000"/>
            <a:ext cx="64008" cy="11338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414016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 Chasing Extreme 24h Gains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2724912"/>
            <a:ext cx="39319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77977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 like BRM (+3,085%) or SNAKES (+683%) are micro-cap assets with negligible liquidity. Such moves are unsustainable and often precede sharp reversals. Investors should avoid FOMO-driven entries into low-cap tokens.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11296"/>
            <a:ext cx="64008" cy="11338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639312"/>
            <a:ext cx="329184" cy="32918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36027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 the 7-Day Correction for Entry Signals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3950208"/>
            <a:ext cx="39319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0050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broad 7-day decline across ADA (-12.5%), XRP (-11%), SOL (-9.7%) and ETH (-9.8%) may represent accumulation opportunities for long-term investors. Watch for stabilisation before building positions.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709160" y="1060704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060704"/>
            <a:ext cx="64008" cy="11338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1188720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30952" y="11521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Stablecoins Strategically During Volatility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73752" y="1499616"/>
            <a:ext cx="39319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155448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avg daily volatility at 6.64% and most coins declining weekly, holding a portion of capital in USDT or USDC allows investors to capitalise on dips without full exposure to market swings.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709160" y="2286000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286000"/>
            <a:ext cx="64008" cy="11338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73752" y="2414016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30952" y="2377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LINK as a Potential Sector Leader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73752" y="2724912"/>
            <a:ext cx="39319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277977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Chainlink (+7.03% weekly) was the only major coin to post meaningful positive 7-day performance. This outperformance in a declining market may signal underlying institutional demand worth monitoring.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709160" y="3511296"/>
            <a:ext cx="4206240" cy="1133856"/>
          </a:xfrm>
          <a:prstGeom prst="rect">
            <a:avLst/>
          </a:prstGeom>
          <a:solidFill>
            <a:srgbClr val="0B1426"/>
          </a:solidFill>
          <a:ln w="12700">
            <a:solidFill>
              <a:srgbClr val="1A30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511296"/>
            <a:ext cx="64008" cy="11338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3752" y="363931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30952" y="360273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Risk Tiers to Portfolio Construction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73752" y="3950208"/>
            <a:ext cx="39319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73752" y="400507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 portfolios across three tiers: Tier 1 (BTC/ETH – stability), Tier 2 (BNB/SOL/XRP – growth), and Tier 3 (DeFi/L1 altcoins – speculative). Avoid meme coins exceeding 5% of total allocation.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5528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0D1F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8912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96528" y="0"/>
            <a:ext cx="34747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1097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1" name="Text 59"/>
          <p:cNvSpPr/>
          <p:nvPr/>
        </p:nvSpPr>
        <p:spPr>
          <a:xfrm>
            <a:off x="713232" y="19385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Intelligence, Powered by Data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" y="2395728"/>
            <a:ext cx="585216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" y="250545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CoinMarketCap  |  Snapshot: August 21, 2025  |  5,023 Coins Tracked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13232" y="2926080"/>
            <a:ext cx="1353312" cy="74980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" y="2962656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$3.90T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3232" y="33649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Mkt Cap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176272" y="2926080"/>
            <a:ext cx="1353312" cy="74980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76272" y="2962656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58.60%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2176272" y="33649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Dom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639312" y="2926080"/>
            <a:ext cx="1353312" cy="74980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39312" y="2962656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$351.97B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639312" y="33649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24h Vol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102352" y="2926080"/>
            <a:ext cx="1353312" cy="749808"/>
          </a:xfrm>
          <a:prstGeom prst="rect">
            <a:avLst/>
          </a:prstGeom>
          <a:solidFill>
            <a:srgbClr val="0B142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2352" y="2962656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6.64%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5102352" y="33649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Volatility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13232" y="45537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0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Disclaimer: This report is for informational purposes only and does not constitute financial advice.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876288" y="384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76288" y="713232"/>
            <a:ext cx="192024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49440" y="786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949440" y="1042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$113,743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876288" y="1554480"/>
            <a:ext cx="192024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4944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694944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$4,302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876288" y="2395728"/>
            <a:ext cx="192024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4944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BNB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949440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$865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876288" y="3236976"/>
            <a:ext cx="192024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4944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694944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$187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876288" y="4078224"/>
            <a:ext cx="1920240" cy="749808"/>
          </a:xfrm>
          <a:prstGeom prst="rect">
            <a:avLst/>
          </a:prstGeom>
          <a:solidFill>
            <a:srgbClr val="0F1E35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49440" y="4151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XRP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694944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$2.91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Dashboard – Market Overview</dc:title>
  <dc:subject>PptxGenJS Presentation</dc:subject>
  <dc:creator>PptxGenJS</dc:creator>
  <cp:lastModifiedBy>PptxGenJS</cp:lastModifiedBy>
  <cp:revision>1</cp:revision>
  <dcterms:created xsi:type="dcterms:W3CDTF">2026-04-03T13:33:22Z</dcterms:created>
  <dcterms:modified xsi:type="dcterms:W3CDTF">2026-04-03T13:33:22Z</dcterms:modified>
</cp:coreProperties>
</file>