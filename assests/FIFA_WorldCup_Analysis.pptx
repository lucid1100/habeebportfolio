
<file path=[Content_Types].xml><?xml version="1.0" encoding="utf-8"?>
<Types xmlns="http://schemas.openxmlformats.org/package/2006/content-types">
  <Default Extension="jfif"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8" r:id="rId7"/>
    <p:sldId id="261" r:id="rId8"/>
    <p:sldId id="262" r:id="rId9"/>
    <p:sldId id="263"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32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Goals Scored</c:v>
                </c:pt>
              </c:strCache>
            </c:strRef>
          </c:tx>
          <c:spPr>
            <a:solidFill>
              <a:srgbClr val="E8620A"/>
            </a:solidFill>
            <a:effectLst/>
          </c:spPr>
          <c:invertIfNegative val="0"/>
          <c:cat>
            <c:strRef>
              <c:f>Sheet1!$A$2:$A$23</c:f>
              <c:strCache>
                <c:ptCount val="22"/>
                <c:pt idx="0">
                  <c:v>1930</c:v>
                </c:pt>
                <c:pt idx="1">
                  <c:v>1934</c:v>
                </c:pt>
                <c:pt idx="2">
                  <c:v>1938</c:v>
                </c:pt>
                <c:pt idx="3">
                  <c:v>1950</c:v>
                </c:pt>
                <c:pt idx="4">
                  <c:v>1954</c:v>
                </c:pt>
                <c:pt idx="5">
                  <c:v>1958</c:v>
                </c:pt>
                <c:pt idx="6">
                  <c:v>1962</c:v>
                </c:pt>
                <c:pt idx="7">
                  <c:v>1966</c:v>
                </c:pt>
                <c:pt idx="8">
                  <c:v>1970</c:v>
                </c:pt>
                <c:pt idx="9">
                  <c:v>1974</c:v>
                </c:pt>
                <c:pt idx="10">
                  <c:v>1978</c:v>
                </c:pt>
                <c:pt idx="11">
                  <c:v>1982</c:v>
                </c:pt>
                <c:pt idx="12">
                  <c:v>1986</c:v>
                </c:pt>
                <c:pt idx="13">
                  <c:v>1990</c:v>
                </c:pt>
                <c:pt idx="14">
                  <c:v>1994</c:v>
                </c:pt>
                <c:pt idx="15">
                  <c:v>1998</c:v>
                </c:pt>
                <c:pt idx="16">
                  <c:v>2002</c:v>
                </c:pt>
                <c:pt idx="17">
                  <c:v>2006</c:v>
                </c:pt>
                <c:pt idx="18">
                  <c:v>2010</c:v>
                </c:pt>
                <c:pt idx="19">
                  <c:v>2014</c:v>
                </c:pt>
                <c:pt idx="20">
                  <c:v>2018</c:v>
                </c:pt>
                <c:pt idx="21">
                  <c:v>2022</c:v>
                </c:pt>
              </c:strCache>
            </c:strRef>
          </c:cat>
          <c:val>
            <c:numRef>
              <c:f>Sheet1!$B$2:$B$23</c:f>
              <c:numCache>
                <c:formatCode>General</c:formatCode>
                <c:ptCount val="22"/>
                <c:pt idx="0">
                  <c:v>70</c:v>
                </c:pt>
                <c:pt idx="1">
                  <c:v>70</c:v>
                </c:pt>
                <c:pt idx="2">
                  <c:v>84</c:v>
                </c:pt>
                <c:pt idx="3">
                  <c:v>88</c:v>
                </c:pt>
                <c:pt idx="4">
                  <c:v>140</c:v>
                </c:pt>
                <c:pt idx="5">
                  <c:v>126</c:v>
                </c:pt>
                <c:pt idx="6">
                  <c:v>89</c:v>
                </c:pt>
                <c:pt idx="7">
                  <c:v>89</c:v>
                </c:pt>
                <c:pt idx="8">
                  <c:v>95</c:v>
                </c:pt>
                <c:pt idx="9">
                  <c:v>97</c:v>
                </c:pt>
                <c:pt idx="10">
                  <c:v>102</c:v>
                </c:pt>
                <c:pt idx="11">
                  <c:v>146</c:v>
                </c:pt>
                <c:pt idx="12">
                  <c:v>132</c:v>
                </c:pt>
                <c:pt idx="13">
                  <c:v>115</c:v>
                </c:pt>
                <c:pt idx="14">
                  <c:v>141</c:v>
                </c:pt>
                <c:pt idx="15">
                  <c:v>171</c:v>
                </c:pt>
                <c:pt idx="16">
                  <c:v>161</c:v>
                </c:pt>
                <c:pt idx="17">
                  <c:v>147</c:v>
                </c:pt>
                <c:pt idx="18">
                  <c:v>145</c:v>
                </c:pt>
                <c:pt idx="19">
                  <c:v>171</c:v>
                </c:pt>
                <c:pt idx="20">
                  <c:v>169</c:v>
                </c:pt>
                <c:pt idx="21">
                  <c:v>172</c:v>
                </c:pt>
              </c:numCache>
            </c:numRef>
          </c:val>
          <c:extLst>
            <c:ext xmlns:c16="http://schemas.microsoft.com/office/drawing/2014/chart" uri="{C3380CC4-5D6E-409C-BE32-E72D297353CC}">
              <c16:uniqueId val="{00000000-5F86-4085-831A-843CA5B4B71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82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Matches Played</c:v>
                </c:pt>
              </c:strCache>
            </c:strRef>
          </c:tx>
          <c:spPr>
            <a:ln w="25400" cap="flat">
              <a:solidFill>
                <a:srgbClr val="F5A623"/>
              </a:solidFill>
              <a:prstDash val="solid"/>
              <a:round/>
            </a:ln>
            <a:effectLst/>
          </c:spPr>
          <c:marker>
            <c:symbol val="circle"/>
            <c:size val="6"/>
            <c:spPr>
              <a:solidFill>
                <a:srgbClr val="F5A623"/>
              </a:solidFill>
              <a:ln w="9525" cap="flat">
                <a:solidFill>
                  <a:srgbClr val="F5A623"/>
                </a:solidFill>
                <a:prstDash val="solid"/>
                <a:round/>
              </a:ln>
              <a:effectLst/>
            </c:spPr>
          </c:marker>
          <c:cat>
            <c:strRef>
              <c:f>Sheet1!$A$2:$A$23</c:f>
              <c:strCache>
                <c:ptCount val="22"/>
                <c:pt idx="0">
                  <c:v>1930</c:v>
                </c:pt>
                <c:pt idx="1">
                  <c:v>1934</c:v>
                </c:pt>
                <c:pt idx="2">
                  <c:v>1938</c:v>
                </c:pt>
                <c:pt idx="3">
                  <c:v>1950</c:v>
                </c:pt>
                <c:pt idx="4">
                  <c:v>1954</c:v>
                </c:pt>
                <c:pt idx="5">
                  <c:v>1958</c:v>
                </c:pt>
                <c:pt idx="6">
                  <c:v>1962</c:v>
                </c:pt>
                <c:pt idx="7">
                  <c:v>1966</c:v>
                </c:pt>
                <c:pt idx="8">
                  <c:v>1970</c:v>
                </c:pt>
                <c:pt idx="9">
                  <c:v>1974</c:v>
                </c:pt>
                <c:pt idx="10">
                  <c:v>1978</c:v>
                </c:pt>
                <c:pt idx="11">
                  <c:v>1982</c:v>
                </c:pt>
                <c:pt idx="12">
                  <c:v>1986</c:v>
                </c:pt>
                <c:pt idx="13">
                  <c:v>1990</c:v>
                </c:pt>
                <c:pt idx="14">
                  <c:v>1994</c:v>
                </c:pt>
                <c:pt idx="15">
                  <c:v>1998</c:v>
                </c:pt>
                <c:pt idx="16">
                  <c:v>2002</c:v>
                </c:pt>
                <c:pt idx="17">
                  <c:v>2006</c:v>
                </c:pt>
                <c:pt idx="18">
                  <c:v>2010</c:v>
                </c:pt>
                <c:pt idx="19">
                  <c:v>2014</c:v>
                </c:pt>
                <c:pt idx="20">
                  <c:v>2018</c:v>
                </c:pt>
                <c:pt idx="21">
                  <c:v>2022</c:v>
                </c:pt>
              </c:strCache>
            </c:strRef>
          </c:cat>
          <c:val>
            <c:numRef>
              <c:f>Sheet1!$B$2:$B$23</c:f>
              <c:numCache>
                <c:formatCode>General</c:formatCode>
                <c:ptCount val="22"/>
                <c:pt idx="0">
                  <c:v>18</c:v>
                </c:pt>
                <c:pt idx="1">
                  <c:v>17</c:v>
                </c:pt>
                <c:pt idx="2">
                  <c:v>18</c:v>
                </c:pt>
                <c:pt idx="3">
                  <c:v>22</c:v>
                </c:pt>
                <c:pt idx="4">
                  <c:v>26</c:v>
                </c:pt>
                <c:pt idx="5">
                  <c:v>35</c:v>
                </c:pt>
                <c:pt idx="6">
                  <c:v>32</c:v>
                </c:pt>
                <c:pt idx="7">
                  <c:v>32</c:v>
                </c:pt>
                <c:pt idx="8">
                  <c:v>32</c:v>
                </c:pt>
                <c:pt idx="9">
                  <c:v>38</c:v>
                </c:pt>
                <c:pt idx="10">
                  <c:v>38</c:v>
                </c:pt>
                <c:pt idx="11">
                  <c:v>52</c:v>
                </c:pt>
                <c:pt idx="12">
                  <c:v>52</c:v>
                </c:pt>
                <c:pt idx="13">
                  <c:v>52</c:v>
                </c:pt>
                <c:pt idx="14">
                  <c:v>52</c:v>
                </c:pt>
                <c:pt idx="15">
                  <c:v>64</c:v>
                </c:pt>
                <c:pt idx="16">
                  <c:v>64</c:v>
                </c:pt>
                <c:pt idx="17">
                  <c:v>64</c:v>
                </c:pt>
                <c:pt idx="18">
                  <c:v>64</c:v>
                </c:pt>
                <c:pt idx="19">
                  <c:v>64</c:v>
                </c:pt>
                <c:pt idx="20">
                  <c:v>64</c:v>
                </c:pt>
                <c:pt idx="21">
                  <c:v>64</c:v>
                </c:pt>
              </c:numCache>
            </c:numRef>
          </c:val>
          <c:smooth val="1"/>
          <c:extLst>
            <c:ext xmlns:c16="http://schemas.microsoft.com/office/drawing/2014/chart" uri="{C3380CC4-5D6E-409C-BE32-E72D297353CC}">
              <c16:uniqueId val="{00000000-CA15-470F-AB53-557325ACB7B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3810" cap="flat">
              <a:solidFill>
                <a:srgbClr val="2A2A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82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c:v>
                </c:pt>
              </c:strCache>
            </c:strRef>
          </c:tx>
          <c:spPr>
            <a:solidFill>
              <a:schemeClr val="accent1"/>
            </a:solidFill>
            <a:ln w="9525" cap="flat">
              <a:solidFill>
                <a:srgbClr val="F9F9F9"/>
              </a:solidFill>
              <a:prstDash val="solid"/>
              <a:round/>
            </a:ln>
            <a:effectLst/>
          </c:spPr>
          <c:dPt>
            <c:idx val="0"/>
            <c:bubble3D val="0"/>
            <c:spPr>
              <a:solidFill>
                <a:srgbClr val="E8620A"/>
              </a:solidFill>
              <a:effectLst/>
            </c:spPr>
            <c:extLst>
              <c:ext xmlns:c16="http://schemas.microsoft.com/office/drawing/2014/chart" uri="{C3380CC4-5D6E-409C-BE32-E72D297353CC}">
                <c16:uniqueId val="{00000001-4004-47B6-9AFC-DEE09E8DEF7C}"/>
              </c:ext>
            </c:extLst>
          </c:dPt>
          <c:dPt>
            <c:idx val="1"/>
            <c:bubble3D val="0"/>
            <c:spPr>
              <a:solidFill>
                <a:srgbClr val="333355"/>
              </a:solidFill>
              <a:effectLst/>
            </c:spPr>
            <c:extLst>
              <c:ext xmlns:c16="http://schemas.microsoft.com/office/drawing/2014/chart" uri="{C3380CC4-5D6E-409C-BE32-E72D297353CC}">
                <c16:uniqueId val="{00000003-4004-47B6-9AFC-DEE09E8DEF7C}"/>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004-47B6-9AFC-DEE09E8DEF7C}"/>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004-47B6-9AFC-DEE09E8DEF7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Host Won</c:v>
                </c:pt>
                <c:pt idx="1">
                  <c:v>Host Lost</c:v>
                </c:pt>
              </c:strCache>
            </c:strRef>
          </c:cat>
          <c:val>
            <c:numRef>
              <c:f>Sheet1!$B$2:$B$3</c:f>
              <c:numCache>
                <c:formatCode>General</c:formatCode>
                <c:ptCount val="2"/>
                <c:pt idx="0">
                  <c:v>5</c:v>
                </c:pt>
                <c:pt idx="1">
                  <c:v>17</c:v>
                </c:pt>
              </c:numCache>
            </c:numRef>
          </c:val>
          <c:extLst>
            <c:ext xmlns:c16="http://schemas.microsoft.com/office/drawing/2014/chart" uri="{C3380CC4-5D6E-409C-BE32-E72D297353CC}">
              <c16:uniqueId val="{00000004-4004-47B6-9AFC-DEE09E8DEF7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D0D0D0"/>
              </a:solidFill>
            </a:defRPr>
          </a:pPr>
          <a:endParaRPr lang="en-US"/>
        </a:p>
      </c:txPr>
    </c:legend>
    <c:plotVisOnly val="1"/>
    <c:dispBlanksAs val="span"/>
    <c:showDLblsOverMax val="1"/>
  </c:chart>
  <c:spPr>
    <a:solidFill>
      <a:srgbClr val="1A1A2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Attendance (millions)</c:v>
                </c:pt>
              </c:strCache>
            </c:strRef>
          </c:tx>
          <c:spPr>
            <a:ln w="38100" cap="flat">
              <a:solidFill>
                <a:srgbClr val="E8620A"/>
              </a:solidFill>
              <a:prstDash val="solid"/>
              <a:round/>
            </a:ln>
            <a:effectLst/>
          </c:spPr>
          <c:marker>
            <c:symbol val="circle"/>
            <c:size val="6"/>
            <c:spPr>
              <a:solidFill>
                <a:srgbClr val="E8620A"/>
              </a:solidFill>
              <a:ln w="9525" cap="flat">
                <a:solidFill>
                  <a:srgbClr val="E8620A"/>
                </a:solidFill>
                <a:prstDash val="solid"/>
                <a:round/>
              </a:ln>
              <a:effectLst/>
            </c:spPr>
          </c:marker>
          <c:cat>
            <c:strRef>
              <c:f>Sheet1!$A$2:$A$23</c:f>
              <c:strCache>
                <c:ptCount val="22"/>
                <c:pt idx="0">
                  <c:v>1930</c:v>
                </c:pt>
                <c:pt idx="1">
                  <c:v>1934</c:v>
                </c:pt>
                <c:pt idx="2">
                  <c:v>1938</c:v>
                </c:pt>
                <c:pt idx="3">
                  <c:v>1950</c:v>
                </c:pt>
                <c:pt idx="4">
                  <c:v>1954</c:v>
                </c:pt>
                <c:pt idx="5">
                  <c:v>1958</c:v>
                </c:pt>
                <c:pt idx="6">
                  <c:v>1962</c:v>
                </c:pt>
                <c:pt idx="7">
                  <c:v>1966</c:v>
                </c:pt>
                <c:pt idx="8">
                  <c:v>1970</c:v>
                </c:pt>
                <c:pt idx="9">
                  <c:v>1974</c:v>
                </c:pt>
                <c:pt idx="10">
                  <c:v>1978</c:v>
                </c:pt>
                <c:pt idx="11">
                  <c:v>1982</c:v>
                </c:pt>
                <c:pt idx="12">
                  <c:v>1986</c:v>
                </c:pt>
                <c:pt idx="13">
                  <c:v>1990</c:v>
                </c:pt>
                <c:pt idx="14">
                  <c:v>1994</c:v>
                </c:pt>
                <c:pt idx="15">
                  <c:v>1998</c:v>
                </c:pt>
                <c:pt idx="16">
                  <c:v>2002</c:v>
                </c:pt>
                <c:pt idx="17">
                  <c:v>2006</c:v>
                </c:pt>
                <c:pt idx="18">
                  <c:v>2010</c:v>
                </c:pt>
                <c:pt idx="19">
                  <c:v>2014</c:v>
                </c:pt>
                <c:pt idx="20">
                  <c:v>2018</c:v>
                </c:pt>
                <c:pt idx="21">
                  <c:v>2022</c:v>
                </c:pt>
              </c:strCache>
            </c:strRef>
          </c:cat>
          <c:val>
            <c:numRef>
              <c:f>Sheet1!$B$2:$B$23</c:f>
              <c:numCache>
                <c:formatCode>General</c:formatCode>
                <c:ptCount val="22"/>
                <c:pt idx="0">
                  <c:v>0.59</c:v>
                </c:pt>
                <c:pt idx="1">
                  <c:v>0.36</c:v>
                </c:pt>
                <c:pt idx="2">
                  <c:v>0.38</c:v>
                </c:pt>
                <c:pt idx="3">
                  <c:v>1.05</c:v>
                </c:pt>
                <c:pt idx="4">
                  <c:v>0.77</c:v>
                </c:pt>
                <c:pt idx="5">
                  <c:v>0.82</c:v>
                </c:pt>
                <c:pt idx="6">
                  <c:v>0.89</c:v>
                </c:pt>
                <c:pt idx="7">
                  <c:v>1.56</c:v>
                </c:pt>
                <c:pt idx="8">
                  <c:v>1.6</c:v>
                </c:pt>
                <c:pt idx="9">
                  <c:v>1.87</c:v>
                </c:pt>
                <c:pt idx="10">
                  <c:v>1.55</c:v>
                </c:pt>
                <c:pt idx="11">
                  <c:v>2.11</c:v>
                </c:pt>
                <c:pt idx="12">
                  <c:v>2.39</c:v>
                </c:pt>
                <c:pt idx="13">
                  <c:v>2.52</c:v>
                </c:pt>
                <c:pt idx="14">
                  <c:v>3.59</c:v>
                </c:pt>
                <c:pt idx="15">
                  <c:v>2.9</c:v>
                </c:pt>
                <c:pt idx="16">
                  <c:v>2.71</c:v>
                </c:pt>
                <c:pt idx="17">
                  <c:v>3.35</c:v>
                </c:pt>
                <c:pt idx="18">
                  <c:v>3.18</c:v>
                </c:pt>
                <c:pt idx="19">
                  <c:v>3.43</c:v>
                </c:pt>
                <c:pt idx="20">
                  <c:v>3.03</c:v>
                </c:pt>
                <c:pt idx="21">
                  <c:v>3.4</c:v>
                </c:pt>
              </c:numCache>
            </c:numRef>
          </c:val>
          <c:smooth val="1"/>
          <c:extLst>
            <c:ext xmlns:c16="http://schemas.microsoft.com/office/drawing/2014/chart" uri="{C3380CC4-5D6E-409C-BE32-E72D297353CC}">
              <c16:uniqueId val="{00000000-EC52-44F1-BE36-B8282EDEEDB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8888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11827"/>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85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E8620A"/>
          </a:solidFill>
          <a:ln w="12700">
            <a:solidFill>
              <a:srgbClr val="E8620A"/>
            </a:solidFill>
            <a:prstDash val="solid"/>
          </a:ln>
        </p:spPr>
        <p:txBody>
          <a:bodyPr/>
          <a:lstStyle/>
          <a:p>
            <a:endParaRPr lang="en-US"/>
          </a:p>
        </p:txBody>
      </p:sp>
      <p:sp>
        <p:nvSpPr>
          <p:cNvPr id="3" name="Shape 1"/>
          <p:cNvSpPr/>
          <p:nvPr/>
        </p:nvSpPr>
        <p:spPr>
          <a:xfrm>
            <a:off x="475488" y="0"/>
            <a:ext cx="82296" cy="5143500"/>
          </a:xfrm>
          <a:prstGeom prst="rect">
            <a:avLst/>
          </a:prstGeom>
          <a:solidFill>
            <a:srgbClr val="F5A623"/>
          </a:solidFill>
          <a:ln w="12700">
            <a:solidFill>
              <a:srgbClr val="F5A623"/>
            </a:solidFill>
            <a:prstDash val="solid"/>
          </a:ln>
        </p:spPr>
        <p:txBody>
          <a:bodyPr/>
          <a:lstStyle/>
          <a:p>
            <a:endParaRPr lang="en-US"/>
          </a:p>
        </p:txBody>
      </p:sp>
      <p:sp>
        <p:nvSpPr>
          <p:cNvPr id="4" name="Shape 2"/>
          <p:cNvSpPr/>
          <p:nvPr/>
        </p:nvSpPr>
        <p:spPr>
          <a:xfrm>
            <a:off x="6675120" y="0"/>
            <a:ext cx="2468880" cy="5143500"/>
          </a:xfrm>
          <a:prstGeom prst="rect">
            <a:avLst/>
          </a:prstGeom>
          <a:solidFill>
            <a:srgbClr val="16213E"/>
          </a:solidFill>
          <a:ln w="12700">
            <a:solidFill>
              <a:srgbClr val="16213E"/>
            </a:solidFill>
            <a:prstDash val="solid"/>
          </a:ln>
        </p:spPr>
        <p:txBody>
          <a:bodyPr/>
          <a:lstStyle/>
          <a:p>
            <a:endParaRPr lang="en-US"/>
          </a:p>
        </p:txBody>
      </p:sp>
      <p:sp>
        <p:nvSpPr>
          <p:cNvPr id="5" name="Shape 3"/>
          <p:cNvSpPr/>
          <p:nvPr/>
        </p:nvSpPr>
        <p:spPr>
          <a:xfrm>
            <a:off x="8778240" y="0"/>
            <a:ext cx="365760" cy="5143500"/>
          </a:xfrm>
          <a:prstGeom prst="rect">
            <a:avLst/>
          </a:prstGeom>
          <a:solidFill>
            <a:srgbClr val="E8620A"/>
          </a:solidFill>
          <a:ln w="12700">
            <a:solidFill>
              <a:srgbClr val="E8620A"/>
            </a:solidFill>
            <a:prstDash val="solid"/>
          </a:ln>
        </p:spPr>
        <p:txBody>
          <a:bodyPr/>
          <a:lstStyle/>
          <a:p>
            <a:endParaRPr lang="en-US"/>
          </a:p>
        </p:txBody>
      </p:sp>
      <p:sp>
        <p:nvSpPr>
          <p:cNvPr id="6" name="Shape 4"/>
          <p:cNvSpPr/>
          <p:nvPr/>
        </p:nvSpPr>
        <p:spPr>
          <a:xfrm>
            <a:off x="777240" y="777240"/>
            <a:ext cx="2743200" cy="292608"/>
          </a:xfrm>
          <a:prstGeom prst="rect">
            <a:avLst/>
          </a:prstGeom>
          <a:solidFill>
            <a:srgbClr val="E8620A"/>
          </a:solidFill>
          <a:ln w="12700">
            <a:solidFill>
              <a:srgbClr val="E8620A"/>
            </a:solidFill>
            <a:prstDash val="solid"/>
          </a:ln>
        </p:spPr>
        <p:txBody>
          <a:bodyPr/>
          <a:lstStyle/>
          <a:p>
            <a:endParaRPr lang="en-US"/>
          </a:p>
        </p:txBody>
      </p:sp>
      <p:sp>
        <p:nvSpPr>
          <p:cNvPr id="7" name="Text 5"/>
          <p:cNvSpPr/>
          <p:nvPr/>
        </p:nvSpPr>
        <p:spPr>
          <a:xfrm>
            <a:off x="777240" y="777240"/>
            <a:ext cx="2743200"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FIFA WORLD CUP  |  1930 – 2022</a:t>
            </a:r>
            <a:endParaRPr lang="en-US" sz="850" dirty="0"/>
          </a:p>
        </p:txBody>
      </p:sp>
      <p:sp>
        <p:nvSpPr>
          <p:cNvPr id="8" name="Text 6"/>
          <p:cNvSpPr/>
          <p:nvPr/>
        </p:nvSpPr>
        <p:spPr>
          <a:xfrm>
            <a:off x="777240" y="1143000"/>
            <a:ext cx="5669280" cy="685800"/>
          </a:xfrm>
          <a:prstGeom prst="rect">
            <a:avLst/>
          </a:prstGeom>
          <a:noFill/>
          <a:ln/>
        </p:spPr>
        <p:txBody>
          <a:bodyPr wrap="square" lIns="0" tIns="0" rIns="0" bIns="0" rtlCol="0" anchor="ctr"/>
          <a:lstStyle/>
          <a:p>
            <a:pPr marL="0" indent="0">
              <a:buNone/>
            </a:pPr>
            <a:r>
              <a:rPr lang="en-US" sz="4800" b="1" dirty="0">
                <a:solidFill>
                  <a:srgbClr val="FFFFFF"/>
                </a:solidFill>
                <a:latin typeface="Arial Black" pitchFamily="34" charset="0"/>
                <a:ea typeface="Arial Black" pitchFamily="34" charset="-122"/>
                <a:cs typeface="Arial Black" pitchFamily="34" charset="-120"/>
              </a:rPr>
              <a:t>WORLD CUP</a:t>
            </a:r>
            <a:endParaRPr lang="en-US" sz="4800" dirty="0"/>
          </a:p>
        </p:txBody>
      </p:sp>
      <p:sp>
        <p:nvSpPr>
          <p:cNvPr id="9" name="Text 7"/>
          <p:cNvSpPr/>
          <p:nvPr/>
        </p:nvSpPr>
        <p:spPr>
          <a:xfrm>
            <a:off x="777240" y="1783080"/>
            <a:ext cx="5669280" cy="685800"/>
          </a:xfrm>
          <a:prstGeom prst="rect">
            <a:avLst/>
          </a:prstGeom>
          <a:noFill/>
          <a:ln/>
        </p:spPr>
        <p:txBody>
          <a:bodyPr wrap="square" lIns="0" tIns="0" rIns="0" bIns="0" rtlCol="0" anchor="ctr"/>
          <a:lstStyle/>
          <a:p>
            <a:pPr marL="0" indent="0">
              <a:buNone/>
            </a:pPr>
            <a:r>
              <a:rPr lang="en-US" sz="4800" b="1" dirty="0">
                <a:solidFill>
                  <a:srgbClr val="E8620A"/>
                </a:solidFill>
                <a:latin typeface="Arial Black" pitchFamily="34" charset="0"/>
                <a:ea typeface="Arial Black" pitchFamily="34" charset="-122"/>
                <a:cs typeface="Arial Black" pitchFamily="34" charset="-120"/>
              </a:rPr>
              <a:t>ANALYSIS</a:t>
            </a:r>
            <a:endParaRPr lang="en-US" sz="4800" dirty="0"/>
          </a:p>
        </p:txBody>
      </p:sp>
      <p:sp>
        <p:nvSpPr>
          <p:cNvPr id="10" name="Shape 8"/>
          <p:cNvSpPr/>
          <p:nvPr/>
        </p:nvSpPr>
        <p:spPr>
          <a:xfrm>
            <a:off x="777240" y="2514600"/>
            <a:ext cx="5669280" cy="45720"/>
          </a:xfrm>
          <a:prstGeom prst="rect">
            <a:avLst/>
          </a:prstGeom>
          <a:solidFill>
            <a:srgbClr val="E8620A"/>
          </a:solidFill>
          <a:ln w="12700">
            <a:solidFill>
              <a:srgbClr val="E8620A"/>
            </a:solidFill>
            <a:prstDash val="solid"/>
          </a:ln>
        </p:spPr>
        <p:txBody>
          <a:bodyPr/>
          <a:lstStyle/>
          <a:p>
            <a:endParaRPr lang="en-US"/>
          </a:p>
        </p:txBody>
      </p:sp>
      <p:sp>
        <p:nvSpPr>
          <p:cNvPr id="11" name="Shape 9"/>
          <p:cNvSpPr/>
          <p:nvPr/>
        </p:nvSpPr>
        <p:spPr>
          <a:xfrm>
            <a:off x="777240" y="2578608"/>
            <a:ext cx="5669280" cy="18288"/>
          </a:xfrm>
          <a:prstGeom prst="rect">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777240" y="2651760"/>
            <a:ext cx="5669280" cy="347472"/>
          </a:xfrm>
          <a:prstGeom prst="rect">
            <a:avLst/>
          </a:prstGeom>
          <a:noFill/>
          <a:ln/>
        </p:spPr>
        <p:txBody>
          <a:bodyPr wrap="square" lIns="0" tIns="0" rIns="0" bIns="0" rtlCol="0" anchor="ctr"/>
          <a:lstStyle/>
          <a:p>
            <a:pPr marL="0" indent="0">
              <a:buNone/>
            </a:pPr>
            <a:r>
              <a:rPr lang="en-US" sz="1400" i="1" dirty="0">
                <a:solidFill>
                  <a:srgbClr val="D0D0D0"/>
                </a:solidFill>
                <a:latin typeface="Arial" pitchFamily="34" charset="0"/>
                <a:ea typeface="Arial" pitchFamily="34" charset="-122"/>
                <a:cs typeface="Arial" pitchFamily="34" charset="-120"/>
              </a:rPr>
              <a:t>Performance, Goals &amp; Hosting Effects</a:t>
            </a:r>
            <a:endParaRPr lang="en-US" sz="1400" dirty="0"/>
          </a:p>
        </p:txBody>
      </p:sp>
      <p:sp>
        <p:nvSpPr>
          <p:cNvPr id="13" name="Shape 11"/>
          <p:cNvSpPr/>
          <p:nvPr/>
        </p:nvSpPr>
        <p:spPr>
          <a:xfrm>
            <a:off x="777240" y="3182112"/>
            <a:ext cx="1298448" cy="658368"/>
          </a:xfrm>
          <a:prstGeom prst="rect">
            <a:avLst/>
          </a:prstGeom>
          <a:solidFill>
            <a:srgbClr val="0A0A0A"/>
          </a:solidFill>
          <a:ln w="12700">
            <a:solidFill>
              <a:srgbClr val="E8620A"/>
            </a:solidFill>
            <a:prstDash val="solid"/>
          </a:ln>
        </p:spPr>
        <p:txBody>
          <a:bodyPr/>
          <a:lstStyle/>
          <a:p>
            <a:endParaRPr lang="en-US"/>
          </a:p>
        </p:txBody>
      </p:sp>
      <p:sp>
        <p:nvSpPr>
          <p:cNvPr id="14" name="Text 12"/>
          <p:cNvSpPr/>
          <p:nvPr/>
        </p:nvSpPr>
        <p:spPr>
          <a:xfrm>
            <a:off x="777240" y="3218688"/>
            <a:ext cx="1298448" cy="329184"/>
          </a:xfrm>
          <a:prstGeom prst="rect">
            <a:avLst/>
          </a:prstGeom>
          <a:noFill/>
          <a:ln/>
        </p:spPr>
        <p:txBody>
          <a:bodyPr wrap="square" lIns="0" tIns="0" rIns="0" bIns="0" rtlCol="0" anchor="ctr"/>
          <a:lstStyle/>
          <a:p>
            <a:pPr marL="0" indent="0" algn="ctr">
              <a:buNone/>
            </a:pPr>
            <a:r>
              <a:rPr lang="en-US" sz="1600" b="1" dirty="0">
                <a:solidFill>
                  <a:srgbClr val="E8620A"/>
                </a:solidFill>
                <a:latin typeface="Arial Black" pitchFamily="34" charset="0"/>
                <a:ea typeface="Arial Black" pitchFamily="34" charset="-122"/>
                <a:cs typeface="Arial Black" pitchFamily="34" charset="-120"/>
              </a:rPr>
              <a:t>22</a:t>
            </a:r>
            <a:endParaRPr lang="en-US" sz="1600" dirty="0"/>
          </a:p>
        </p:txBody>
      </p:sp>
      <p:sp>
        <p:nvSpPr>
          <p:cNvPr id="15" name="Text 13"/>
          <p:cNvSpPr/>
          <p:nvPr/>
        </p:nvSpPr>
        <p:spPr>
          <a:xfrm>
            <a:off x="777240" y="3547872"/>
            <a:ext cx="1298448" cy="201168"/>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Tournaments</a:t>
            </a:r>
            <a:endParaRPr lang="en-US" sz="800" dirty="0"/>
          </a:p>
        </p:txBody>
      </p:sp>
      <p:sp>
        <p:nvSpPr>
          <p:cNvPr id="16" name="Shape 14"/>
          <p:cNvSpPr/>
          <p:nvPr/>
        </p:nvSpPr>
        <p:spPr>
          <a:xfrm>
            <a:off x="2194560" y="3182112"/>
            <a:ext cx="1298448" cy="658368"/>
          </a:xfrm>
          <a:prstGeom prst="rect">
            <a:avLst/>
          </a:prstGeom>
          <a:solidFill>
            <a:srgbClr val="0A0A0A"/>
          </a:solidFill>
          <a:ln w="12700">
            <a:solidFill>
              <a:srgbClr val="E8620A"/>
            </a:solidFill>
            <a:prstDash val="solid"/>
          </a:ln>
        </p:spPr>
        <p:txBody>
          <a:bodyPr/>
          <a:lstStyle/>
          <a:p>
            <a:endParaRPr lang="en-US"/>
          </a:p>
        </p:txBody>
      </p:sp>
      <p:sp>
        <p:nvSpPr>
          <p:cNvPr id="17" name="Text 15"/>
          <p:cNvSpPr/>
          <p:nvPr/>
        </p:nvSpPr>
        <p:spPr>
          <a:xfrm>
            <a:off x="2194560" y="3218688"/>
            <a:ext cx="1298448" cy="329184"/>
          </a:xfrm>
          <a:prstGeom prst="rect">
            <a:avLst/>
          </a:prstGeom>
          <a:noFill/>
          <a:ln/>
        </p:spPr>
        <p:txBody>
          <a:bodyPr wrap="square" lIns="0" tIns="0" rIns="0" bIns="0" rtlCol="0" anchor="ctr"/>
          <a:lstStyle/>
          <a:p>
            <a:pPr marL="0" indent="0" algn="ctr">
              <a:buNone/>
            </a:pPr>
            <a:r>
              <a:rPr lang="en-US" sz="1600" b="1" dirty="0">
                <a:solidFill>
                  <a:srgbClr val="E8620A"/>
                </a:solidFill>
                <a:latin typeface="Arial Black" pitchFamily="34" charset="0"/>
                <a:ea typeface="Arial Black" pitchFamily="34" charset="-122"/>
                <a:cs typeface="Arial Black" pitchFamily="34" charset="-120"/>
              </a:rPr>
              <a:t>2,720</a:t>
            </a:r>
            <a:endParaRPr lang="en-US" sz="1600" dirty="0"/>
          </a:p>
        </p:txBody>
      </p:sp>
      <p:sp>
        <p:nvSpPr>
          <p:cNvPr id="18" name="Text 16"/>
          <p:cNvSpPr/>
          <p:nvPr/>
        </p:nvSpPr>
        <p:spPr>
          <a:xfrm>
            <a:off x="2194560" y="3547872"/>
            <a:ext cx="1298448" cy="201168"/>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Total Goals</a:t>
            </a:r>
            <a:endParaRPr lang="en-US" sz="800" dirty="0"/>
          </a:p>
        </p:txBody>
      </p:sp>
      <p:sp>
        <p:nvSpPr>
          <p:cNvPr id="19" name="Shape 17"/>
          <p:cNvSpPr/>
          <p:nvPr/>
        </p:nvSpPr>
        <p:spPr>
          <a:xfrm>
            <a:off x="3611880" y="3182112"/>
            <a:ext cx="1298448" cy="658368"/>
          </a:xfrm>
          <a:prstGeom prst="rect">
            <a:avLst/>
          </a:prstGeom>
          <a:solidFill>
            <a:srgbClr val="0A0A0A"/>
          </a:solidFill>
          <a:ln w="12700">
            <a:solidFill>
              <a:srgbClr val="E8620A"/>
            </a:solidFill>
            <a:prstDash val="solid"/>
          </a:ln>
        </p:spPr>
        <p:txBody>
          <a:bodyPr/>
          <a:lstStyle/>
          <a:p>
            <a:endParaRPr lang="en-US"/>
          </a:p>
        </p:txBody>
      </p:sp>
      <p:sp>
        <p:nvSpPr>
          <p:cNvPr id="20" name="Text 18"/>
          <p:cNvSpPr/>
          <p:nvPr/>
        </p:nvSpPr>
        <p:spPr>
          <a:xfrm>
            <a:off x="3611880" y="3218688"/>
            <a:ext cx="1298448" cy="329184"/>
          </a:xfrm>
          <a:prstGeom prst="rect">
            <a:avLst/>
          </a:prstGeom>
          <a:noFill/>
          <a:ln/>
        </p:spPr>
        <p:txBody>
          <a:bodyPr wrap="square" lIns="0" tIns="0" rIns="0" bIns="0" rtlCol="0" anchor="ctr"/>
          <a:lstStyle/>
          <a:p>
            <a:pPr marL="0" indent="0" algn="ctr">
              <a:buNone/>
            </a:pPr>
            <a:r>
              <a:rPr lang="en-US" sz="1600" b="1" dirty="0">
                <a:solidFill>
                  <a:srgbClr val="E8620A"/>
                </a:solidFill>
                <a:latin typeface="Arial Black" pitchFamily="34" charset="0"/>
                <a:ea typeface="Arial Black" pitchFamily="34" charset="-122"/>
                <a:cs typeface="Arial Black" pitchFamily="34" charset="-120"/>
              </a:rPr>
              <a:t>964</a:t>
            </a:r>
            <a:endParaRPr lang="en-US" sz="1600" dirty="0"/>
          </a:p>
        </p:txBody>
      </p:sp>
      <p:sp>
        <p:nvSpPr>
          <p:cNvPr id="21" name="Text 19"/>
          <p:cNvSpPr/>
          <p:nvPr/>
        </p:nvSpPr>
        <p:spPr>
          <a:xfrm>
            <a:off x="3611880" y="3547872"/>
            <a:ext cx="1298448" cy="201168"/>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Matches</a:t>
            </a:r>
            <a:endParaRPr lang="en-US" sz="800" dirty="0"/>
          </a:p>
        </p:txBody>
      </p:sp>
      <p:sp>
        <p:nvSpPr>
          <p:cNvPr id="22" name="Shape 20"/>
          <p:cNvSpPr/>
          <p:nvPr/>
        </p:nvSpPr>
        <p:spPr>
          <a:xfrm>
            <a:off x="5029200" y="3182112"/>
            <a:ext cx="1298448" cy="658368"/>
          </a:xfrm>
          <a:prstGeom prst="rect">
            <a:avLst/>
          </a:prstGeom>
          <a:solidFill>
            <a:srgbClr val="0A0A0A"/>
          </a:solidFill>
          <a:ln w="12700">
            <a:solidFill>
              <a:srgbClr val="E8620A"/>
            </a:solidFill>
            <a:prstDash val="solid"/>
          </a:ln>
        </p:spPr>
        <p:txBody>
          <a:bodyPr/>
          <a:lstStyle/>
          <a:p>
            <a:endParaRPr lang="en-US"/>
          </a:p>
        </p:txBody>
      </p:sp>
      <p:sp>
        <p:nvSpPr>
          <p:cNvPr id="23" name="Text 21"/>
          <p:cNvSpPr/>
          <p:nvPr/>
        </p:nvSpPr>
        <p:spPr>
          <a:xfrm>
            <a:off x="5029200" y="3218688"/>
            <a:ext cx="1298448" cy="329184"/>
          </a:xfrm>
          <a:prstGeom prst="rect">
            <a:avLst/>
          </a:prstGeom>
          <a:noFill/>
          <a:ln/>
        </p:spPr>
        <p:txBody>
          <a:bodyPr wrap="square" lIns="0" tIns="0" rIns="0" bIns="0" rtlCol="0" anchor="ctr"/>
          <a:lstStyle/>
          <a:p>
            <a:pPr marL="0" indent="0" algn="ctr">
              <a:buNone/>
            </a:pPr>
            <a:r>
              <a:rPr lang="en-US" sz="1600" b="1" dirty="0">
                <a:solidFill>
                  <a:srgbClr val="E8620A"/>
                </a:solidFill>
                <a:latin typeface="Arial Black" pitchFamily="34" charset="0"/>
                <a:ea typeface="Arial Black" pitchFamily="34" charset="-122"/>
                <a:cs typeface="Arial Black" pitchFamily="34" charset="-120"/>
              </a:rPr>
              <a:t>Brazil</a:t>
            </a:r>
            <a:endParaRPr lang="en-US" sz="1600" dirty="0"/>
          </a:p>
        </p:txBody>
      </p:sp>
      <p:sp>
        <p:nvSpPr>
          <p:cNvPr id="24" name="Text 22"/>
          <p:cNvSpPr/>
          <p:nvPr/>
        </p:nvSpPr>
        <p:spPr>
          <a:xfrm>
            <a:off x="5029200" y="3547872"/>
            <a:ext cx="1298448" cy="201168"/>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Most Wins (5x)</a:t>
            </a:r>
            <a:endParaRPr lang="en-US" sz="800" dirty="0"/>
          </a:p>
        </p:txBody>
      </p:sp>
      <p:sp>
        <p:nvSpPr>
          <p:cNvPr id="25" name="Text 23"/>
          <p:cNvSpPr/>
          <p:nvPr/>
        </p:nvSpPr>
        <p:spPr>
          <a:xfrm>
            <a:off x="777240" y="4498848"/>
            <a:ext cx="5669280" cy="256032"/>
          </a:xfrm>
          <a:prstGeom prst="rect">
            <a:avLst/>
          </a:prstGeom>
          <a:noFill/>
          <a:ln/>
        </p:spPr>
        <p:txBody>
          <a:bodyPr wrap="square" lIns="0" tIns="0" rIns="0" bIns="0" rtlCol="0" anchor="ctr"/>
          <a:lstStyle/>
          <a:p>
            <a:pPr marL="0" indent="0">
              <a:buNone/>
            </a:pPr>
            <a:r>
              <a:rPr lang="en-US" sz="1000" i="1" dirty="0">
                <a:solidFill>
                  <a:srgbClr val="888888"/>
                </a:solidFill>
                <a:latin typeface="Arial" pitchFamily="34" charset="0"/>
                <a:ea typeface="Arial" pitchFamily="34" charset="-122"/>
                <a:cs typeface="Arial" pitchFamily="34" charset="-120"/>
              </a:rPr>
              <a:t>The Beautiful Game — A Data Story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Contents</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2</a:t>
            </a:r>
            <a:endParaRPr lang="en-US" sz="750" dirty="0"/>
          </a:p>
        </p:txBody>
      </p:sp>
      <p:sp>
        <p:nvSpPr>
          <p:cNvPr id="8" name="Shape 6"/>
          <p:cNvSpPr/>
          <p:nvPr/>
        </p:nvSpPr>
        <p:spPr>
          <a:xfrm>
            <a:off x="365760" y="777240"/>
            <a:ext cx="8412480" cy="420624"/>
          </a:xfrm>
          <a:prstGeom prst="rect">
            <a:avLst/>
          </a:prstGeom>
          <a:solidFill>
            <a:srgbClr val="111827"/>
          </a:solidFill>
          <a:ln w="12700">
            <a:solidFill>
              <a:srgbClr val="2A2A3E"/>
            </a:solidFill>
            <a:prstDash val="solid"/>
          </a:ln>
        </p:spPr>
        <p:txBody>
          <a:bodyPr/>
          <a:lstStyle/>
          <a:p>
            <a:endParaRPr lang="en-US"/>
          </a:p>
        </p:txBody>
      </p:sp>
      <p:sp>
        <p:nvSpPr>
          <p:cNvPr id="9" name="Shape 7"/>
          <p:cNvSpPr/>
          <p:nvPr/>
        </p:nvSpPr>
        <p:spPr>
          <a:xfrm>
            <a:off x="438912" y="832104"/>
            <a:ext cx="310896" cy="310896"/>
          </a:xfrm>
          <a:prstGeom prst="ellipse">
            <a:avLst/>
          </a:prstGeom>
          <a:solidFill>
            <a:srgbClr val="E8620A"/>
          </a:solidFill>
          <a:ln w="12700">
            <a:solidFill>
              <a:srgbClr val="E8620A"/>
            </a:solidFill>
            <a:prstDash val="solid"/>
          </a:ln>
        </p:spPr>
        <p:txBody>
          <a:bodyPr/>
          <a:lstStyle/>
          <a:p>
            <a:endParaRPr lang="en-US"/>
          </a:p>
        </p:txBody>
      </p:sp>
      <p:sp>
        <p:nvSpPr>
          <p:cNvPr id="10" name="Text 8"/>
          <p:cNvSpPr/>
          <p:nvPr/>
        </p:nvSpPr>
        <p:spPr>
          <a:xfrm>
            <a:off x="438912" y="83210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11" name="Text 9"/>
          <p:cNvSpPr/>
          <p:nvPr/>
        </p:nvSpPr>
        <p:spPr>
          <a:xfrm>
            <a:off x="841248" y="813816"/>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Objectives</a:t>
            </a:r>
            <a:endParaRPr lang="en-US" sz="1200" dirty="0"/>
          </a:p>
        </p:txBody>
      </p:sp>
      <p:sp>
        <p:nvSpPr>
          <p:cNvPr id="12" name="Text 10"/>
          <p:cNvSpPr/>
          <p:nvPr/>
        </p:nvSpPr>
        <p:spPr>
          <a:xfrm>
            <a:off x="841248" y="1014984"/>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What this analysis aims to uncover</a:t>
            </a:r>
            <a:endParaRPr lang="en-US" sz="850" dirty="0"/>
          </a:p>
        </p:txBody>
      </p:sp>
      <p:sp>
        <p:nvSpPr>
          <p:cNvPr id="13" name="Shape 11"/>
          <p:cNvSpPr/>
          <p:nvPr/>
        </p:nvSpPr>
        <p:spPr>
          <a:xfrm>
            <a:off x="365760" y="1239012"/>
            <a:ext cx="8412480" cy="420624"/>
          </a:xfrm>
          <a:prstGeom prst="rect">
            <a:avLst/>
          </a:prstGeom>
          <a:solidFill>
            <a:srgbClr val="131320"/>
          </a:solidFill>
          <a:ln w="12700">
            <a:solidFill>
              <a:srgbClr val="2A2A3E"/>
            </a:solidFill>
            <a:prstDash val="solid"/>
          </a:ln>
        </p:spPr>
        <p:txBody>
          <a:bodyPr/>
          <a:lstStyle/>
          <a:p>
            <a:endParaRPr lang="en-US"/>
          </a:p>
        </p:txBody>
      </p:sp>
      <p:sp>
        <p:nvSpPr>
          <p:cNvPr id="14" name="Shape 12"/>
          <p:cNvSpPr/>
          <p:nvPr/>
        </p:nvSpPr>
        <p:spPr>
          <a:xfrm>
            <a:off x="438912" y="1293876"/>
            <a:ext cx="310896" cy="310896"/>
          </a:xfrm>
          <a:prstGeom prst="ellipse">
            <a:avLst/>
          </a:prstGeom>
          <a:solidFill>
            <a:srgbClr val="E8620A"/>
          </a:solidFill>
          <a:ln w="12700">
            <a:solidFill>
              <a:srgbClr val="E8620A"/>
            </a:solidFill>
            <a:prstDash val="solid"/>
          </a:ln>
        </p:spPr>
        <p:txBody>
          <a:bodyPr/>
          <a:lstStyle/>
          <a:p>
            <a:endParaRPr lang="en-US"/>
          </a:p>
        </p:txBody>
      </p:sp>
      <p:sp>
        <p:nvSpPr>
          <p:cNvPr id="15" name="Text 13"/>
          <p:cNvSpPr/>
          <p:nvPr/>
        </p:nvSpPr>
        <p:spPr>
          <a:xfrm>
            <a:off x="438912" y="1293876"/>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6" name="Text 14"/>
          <p:cNvSpPr/>
          <p:nvPr/>
        </p:nvSpPr>
        <p:spPr>
          <a:xfrm>
            <a:off x="841248" y="1275588"/>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Tournament Overview</a:t>
            </a:r>
            <a:endParaRPr lang="en-US" sz="1200" dirty="0"/>
          </a:p>
        </p:txBody>
      </p:sp>
      <p:sp>
        <p:nvSpPr>
          <p:cNvPr id="17" name="Text 15"/>
          <p:cNvSpPr/>
          <p:nvPr/>
        </p:nvSpPr>
        <p:spPr>
          <a:xfrm>
            <a:off x="841248" y="1476756"/>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Key stats — matches, goals, teams, attendance</a:t>
            </a:r>
            <a:endParaRPr lang="en-US" sz="850" dirty="0"/>
          </a:p>
        </p:txBody>
      </p:sp>
      <p:sp>
        <p:nvSpPr>
          <p:cNvPr id="18" name="Shape 16"/>
          <p:cNvSpPr/>
          <p:nvPr/>
        </p:nvSpPr>
        <p:spPr>
          <a:xfrm>
            <a:off x="365760" y="1700784"/>
            <a:ext cx="8412480" cy="420624"/>
          </a:xfrm>
          <a:prstGeom prst="rect">
            <a:avLst/>
          </a:prstGeom>
          <a:solidFill>
            <a:srgbClr val="111827"/>
          </a:solidFill>
          <a:ln w="12700">
            <a:solidFill>
              <a:srgbClr val="2A2A3E"/>
            </a:solidFill>
            <a:prstDash val="solid"/>
          </a:ln>
        </p:spPr>
        <p:txBody>
          <a:bodyPr/>
          <a:lstStyle/>
          <a:p>
            <a:endParaRPr lang="en-US"/>
          </a:p>
        </p:txBody>
      </p:sp>
      <p:sp>
        <p:nvSpPr>
          <p:cNvPr id="19" name="Shape 17"/>
          <p:cNvSpPr/>
          <p:nvPr/>
        </p:nvSpPr>
        <p:spPr>
          <a:xfrm>
            <a:off x="438912" y="1755648"/>
            <a:ext cx="310896" cy="310896"/>
          </a:xfrm>
          <a:prstGeom prst="ellipse">
            <a:avLst/>
          </a:prstGeom>
          <a:solidFill>
            <a:srgbClr val="E8620A"/>
          </a:solidFill>
          <a:ln w="12700">
            <a:solidFill>
              <a:srgbClr val="E8620A"/>
            </a:solidFill>
            <a:prstDash val="solid"/>
          </a:ln>
        </p:spPr>
        <p:txBody>
          <a:bodyPr/>
          <a:lstStyle/>
          <a:p>
            <a:endParaRPr lang="en-US"/>
          </a:p>
        </p:txBody>
      </p:sp>
      <p:sp>
        <p:nvSpPr>
          <p:cNvPr id="20" name="Text 18"/>
          <p:cNvSpPr/>
          <p:nvPr/>
        </p:nvSpPr>
        <p:spPr>
          <a:xfrm>
            <a:off x="438912" y="1755648"/>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21" name="Text 19"/>
          <p:cNvSpPr/>
          <p:nvPr/>
        </p:nvSpPr>
        <p:spPr>
          <a:xfrm>
            <a:off x="841248" y="1737360"/>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Champions History</a:t>
            </a:r>
            <a:endParaRPr lang="en-US" sz="1200" dirty="0"/>
          </a:p>
        </p:txBody>
      </p:sp>
      <p:sp>
        <p:nvSpPr>
          <p:cNvPr id="22" name="Text 20"/>
          <p:cNvSpPr/>
          <p:nvPr/>
        </p:nvSpPr>
        <p:spPr>
          <a:xfrm>
            <a:off x="841248" y="1938528"/>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Who won, how many times, and when</a:t>
            </a:r>
            <a:endParaRPr lang="en-US" sz="850" dirty="0"/>
          </a:p>
        </p:txBody>
      </p:sp>
      <p:sp>
        <p:nvSpPr>
          <p:cNvPr id="23" name="Shape 21"/>
          <p:cNvSpPr/>
          <p:nvPr/>
        </p:nvSpPr>
        <p:spPr>
          <a:xfrm>
            <a:off x="365760" y="2162556"/>
            <a:ext cx="8412480" cy="420624"/>
          </a:xfrm>
          <a:prstGeom prst="rect">
            <a:avLst/>
          </a:prstGeom>
          <a:solidFill>
            <a:srgbClr val="131320"/>
          </a:solidFill>
          <a:ln w="12700">
            <a:solidFill>
              <a:srgbClr val="2A2A3E"/>
            </a:solidFill>
            <a:prstDash val="solid"/>
          </a:ln>
        </p:spPr>
        <p:txBody>
          <a:bodyPr/>
          <a:lstStyle/>
          <a:p>
            <a:endParaRPr lang="en-US"/>
          </a:p>
        </p:txBody>
      </p:sp>
      <p:sp>
        <p:nvSpPr>
          <p:cNvPr id="24" name="Shape 22"/>
          <p:cNvSpPr/>
          <p:nvPr/>
        </p:nvSpPr>
        <p:spPr>
          <a:xfrm>
            <a:off x="438912" y="2217420"/>
            <a:ext cx="310896" cy="310896"/>
          </a:xfrm>
          <a:prstGeom prst="ellipse">
            <a:avLst/>
          </a:prstGeom>
          <a:solidFill>
            <a:srgbClr val="E8620A"/>
          </a:solidFill>
          <a:ln w="12700">
            <a:solidFill>
              <a:srgbClr val="E8620A"/>
            </a:solidFill>
            <a:prstDash val="solid"/>
          </a:ln>
        </p:spPr>
        <p:txBody>
          <a:bodyPr/>
          <a:lstStyle/>
          <a:p>
            <a:endParaRPr lang="en-US"/>
          </a:p>
        </p:txBody>
      </p:sp>
      <p:sp>
        <p:nvSpPr>
          <p:cNvPr id="25" name="Text 23"/>
          <p:cNvSpPr/>
          <p:nvPr/>
        </p:nvSpPr>
        <p:spPr>
          <a:xfrm>
            <a:off x="438912" y="2217420"/>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04</a:t>
            </a:r>
            <a:endParaRPr lang="en-US" sz="900" dirty="0"/>
          </a:p>
        </p:txBody>
      </p:sp>
      <p:sp>
        <p:nvSpPr>
          <p:cNvPr id="26" name="Text 24"/>
          <p:cNvSpPr/>
          <p:nvPr/>
        </p:nvSpPr>
        <p:spPr>
          <a:xfrm>
            <a:off x="841248" y="2199132"/>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Goals Analysis</a:t>
            </a:r>
            <a:endParaRPr lang="en-US" sz="1200" dirty="0"/>
          </a:p>
        </p:txBody>
      </p:sp>
      <p:sp>
        <p:nvSpPr>
          <p:cNvPr id="27" name="Text 25"/>
          <p:cNvSpPr/>
          <p:nvPr/>
        </p:nvSpPr>
        <p:spPr>
          <a:xfrm>
            <a:off x="841248" y="2400300"/>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Goal trends from 1930 to 2022</a:t>
            </a:r>
            <a:endParaRPr lang="en-US" sz="850" dirty="0"/>
          </a:p>
        </p:txBody>
      </p:sp>
      <p:sp>
        <p:nvSpPr>
          <p:cNvPr id="28" name="Shape 26"/>
          <p:cNvSpPr/>
          <p:nvPr/>
        </p:nvSpPr>
        <p:spPr>
          <a:xfrm>
            <a:off x="365760" y="2624328"/>
            <a:ext cx="8412480" cy="420624"/>
          </a:xfrm>
          <a:prstGeom prst="rect">
            <a:avLst/>
          </a:prstGeom>
          <a:solidFill>
            <a:srgbClr val="111827"/>
          </a:solidFill>
          <a:ln w="12700">
            <a:solidFill>
              <a:srgbClr val="2A2A3E"/>
            </a:solidFill>
            <a:prstDash val="solid"/>
          </a:ln>
        </p:spPr>
        <p:txBody>
          <a:bodyPr/>
          <a:lstStyle/>
          <a:p>
            <a:endParaRPr lang="en-US"/>
          </a:p>
        </p:txBody>
      </p:sp>
      <p:sp>
        <p:nvSpPr>
          <p:cNvPr id="29" name="Shape 27"/>
          <p:cNvSpPr/>
          <p:nvPr/>
        </p:nvSpPr>
        <p:spPr>
          <a:xfrm>
            <a:off x="438912" y="2679192"/>
            <a:ext cx="310896" cy="310896"/>
          </a:xfrm>
          <a:prstGeom prst="ellipse">
            <a:avLst/>
          </a:prstGeom>
          <a:solidFill>
            <a:srgbClr val="E8620A"/>
          </a:solidFill>
          <a:ln w="12700">
            <a:solidFill>
              <a:srgbClr val="E8620A"/>
            </a:solidFill>
            <a:prstDash val="solid"/>
          </a:ln>
        </p:spPr>
        <p:txBody>
          <a:bodyPr/>
          <a:lstStyle/>
          <a:p>
            <a:endParaRPr lang="en-US"/>
          </a:p>
        </p:txBody>
      </p:sp>
      <p:sp>
        <p:nvSpPr>
          <p:cNvPr id="30" name="Text 28"/>
          <p:cNvSpPr/>
          <p:nvPr/>
        </p:nvSpPr>
        <p:spPr>
          <a:xfrm>
            <a:off x="438912" y="2679192"/>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05</a:t>
            </a:r>
            <a:endParaRPr lang="en-US" sz="900" dirty="0"/>
          </a:p>
        </p:txBody>
      </p:sp>
      <p:sp>
        <p:nvSpPr>
          <p:cNvPr id="31" name="Text 29"/>
          <p:cNvSpPr/>
          <p:nvPr/>
        </p:nvSpPr>
        <p:spPr>
          <a:xfrm>
            <a:off x="841248" y="2660904"/>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Hosting Advantage</a:t>
            </a:r>
            <a:endParaRPr lang="en-US" sz="1200" dirty="0"/>
          </a:p>
        </p:txBody>
      </p:sp>
      <p:sp>
        <p:nvSpPr>
          <p:cNvPr id="32" name="Text 30"/>
          <p:cNvSpPr/>
          <p:nvPr/>
        </p:nvSpPr>
        <p:spPr>
          <a:xfrm>
            <a:off x="841248" y="2862072"/>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Does playing at home actually help?</a:t>
            </a:r>
            <a:endParaRPr lang="en-US" sz="850" dirty="0"/>
          </a:p>
        </p:txBody>
      </p:sp>
      <p:sp>
        <p:nvSpPr>
          <p:cNvPr id="33" name="Shape 31"/>
          <p:cNvSpPr/>
          <p:nvPr/>
        </p:nvSpPr>
        <p:spPr>
          <a:xfrm>
            <a:off x="365760" y="3086100"/>
            <a:ext cx="8412480" cy="420624"/>
          </a:xfrm>
          <a:prstGeom prst="rect">
            <a:avLst/>
          </a:prstGeom>
          <a:solidFill>
            <a:srgbClr val="131320"/>
          </a:solidFill>
          <a:ln w="12700">
            <a:solidFill>
              <a:srgbClr val="2A2A3E"/>
            </a:solidFill>
            <a:prstDash val="solid"/>
          </a:ln>
        </p:spPr>
        <p:txBody>
          <a:bodyPr/>
          <a:lstStyle/>
          <a:p>
            <a:endParaRPr lang="en-US"/>
          </a:p>
        </p:txBody>
      </p:sp>
      <p:sp>
        <p:nvSpPr>
          <p:cNvPr id="34" name="Shape 32"/>
          <p:cNvSpPr/>
          <p:nvPr/>
        </p:nvSpPr>
        <p:spPr>
          <a:xfrm>
            <a:off x="438912" y="3140964"/>
            <a:ext cx="310896" cy="310896"/>
          </a:xfrm>
          <a:prstGeom prst="ellipse">
            <a:avLst/>
          </a:prstGeom>
          <a:solidFill>
            <a:srgbClr val="E8620A"/>
          </a:solidFill>
          <a:ln w="12700">
            <a:solidFill>
              <a:srgbClr val="E8620A"/>
            </a:solidFill>
            <a:prstDash val="solid"/>
          </a:ln>
        </p:spPr>
        <p:txBody>
          <a:bodyPr/>
          <a:lstStyle/>
          <a:p>
            <a:endParaRPr lang="en-US"/>
          </a:p>
        </p:txBody>
      </p:sp>
      <p:sp>
        <p:nvSpPr>
          <p:cNvPr id="35" name="Text 33"/>
          <p:cNvSpPr/>
          <p:nvPr/>
        </p:nvSpPr>
        <p:spPr>
          <a:xfrm>
            <a:off x="438912" y="314096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06</a:t>
            </a:r>
            <a:endParaRPr lang="en-US" sz="900" dirty="0"/>
          </a:p>
        </p:txBody>
      </p:sp>
      <p:sp>
        <p:nvSpPr>
          <p:cNvPr id="36" name="Text 34"/>
          <p:cNvSpPr/>
          <p:nvPr/>
        </p:nvSpPr>
        <p:spPr>
          <a:xfrm>
            <a:off x="841248" y="3122676"/>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Attendance Trends</a:t>
            </a:r>
            <a:endParaRPr lang="en-US" sz="1200" dirty="0"/>
          </a:p>
        </p:txBody>
      </p:sp>
      <p:sp>
        <p:nvSpPr>
          <p:cNvPr id="37" name="Text 35"/>
          <p:cNvSpPr/>
          <p:nvPr/>
        </p:nvSpPr>
        <p:spPr>
          <a:xfrm>
            <a:off x="841248" y="3323844"/>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How fan turnout has evolved across 9 decades</a:t>
            </a:r>
            <a:endParaRPr lang="en-US" sz="850" dirty="0"/>
          </a:p>
        </p:txBody>
      </p:sp>
      <p:sp>
        <p:nvSpPr>
          <p:cNvPr id="38" name="Shape 36"/>
          <p:cNvSpPr/>
          <p:nvPr/>
        </p:nvSpPr>
        <p:spPr>
          <a:xfrm>
            <a:off x="365760" y="3547872"/>
            <a:ext cx="8412480" cy="420624"/>
          </a:xfrm>
          <a:prstGeom prst="rect">
            <a:avLst/>
          </a:prstGeom>
          <a:solidFill>
            <a:srgbClr val="111827"/>
          </a:solidFill>
          <a:ln w="12700">
            <a:solidFill>
              <a:srgbClr val="2A2A3E"/>
            </a:solidFill>
            <a:prstDash val="solid"/>
          </a:ln>
        </p:spPr>
        <p:txBody>
          <a:bodyPr/>
          <a:lstStyle/>
          <a:p>
            <a:endParaRPr lang="en-US"/>
          </a:p>
        </p:txBody>
      </p:sp>
      <p:sp>
        <p:nvSpPr>
          <p:cNvPr id="39" name="Shape 37"/>
          <p:cNvSpPr/>
          <p:nvPr/>
        </p:nvSpPr>
        <p:spPr>
          <a:xfrm>
            <a:off x="438912" y="3602736"/>
            <a:ext cx="310896" cy="310896"/>
          </a:xfrm>
          <a:prstGeom prst="ellipse">
            <a:avLst/>
          </a:prstGeom>
          <a:solidFill>
            <a:srgbClr val="E8620A"/>
          </a:solidFill>
          <a:ln w="12700">
            <a:solidFill>
              <a:srgbClr val="E8620A"/>
            </a:solidFill>
            <a:prstDash val="solid"/>
          </a:ln>
        </p:spPr>
        <p:txBody>
          <a:bodyPr/>
          <a:lstStyle/>
          <a:p>
            <a:endParaRPr lang="en-US"/>
          </a:p>
        </p:txBody>
      </p:sp>
      <p:sp>
        <p:nvSpPr>
          <p:cNvPr id="40" name="Text 38"/>
          <p:cNvSpPr/>
          <p:nvPr/>
        </p:nvSpPr>
        <p:spPr>
          <a:xfrm>
            <a:off x="438912" y="3602736"/>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07</a:t>
            </a:r>
            <a:endParaRPr lang="en-US" sz="900" dirty="0"/>
          </a:p>
        </p:txBody>
      </p:sp>
      <p:sp>
        <p:nvSpPr>
          <p:cNvPr id="41" name="Text 39"/>
          <p:cNvSpPr/>
          <p:nvPr/>
        </p:nvSpPr>
        <p:spPr>
          <a:xfrm>
            <a:off x="841248" y="3584448"/>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Top Scorers</a:t>
            </a:r>
            <a:endParaRPr lang="en-US" sz="1200" dirty="0"/>
          </a:p>
        </p:txBody>
      </p:sp>
      <p:sp>
        <p:nvSpPr>
          <p:cNvPr id="42" name="Text 40"/>
          <p:cNvSpPr/>
          <p:nvPr/>
        </p:nvSpPr>
        <p:spPr>
          <a:xfrm>
            <a:off x="841248" y="3785616"/>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Golden Boot winners across all tournaments</a:t>
            </a:r>
            <a:endParaRPr lang="en-US" sz="850" dirty="0"/>
          </a:p>
        </p:txBody>
      </p:sp>
      <p:sp>
        <p:nvSpPr>
          <p:cNvPr id="43" name="Shape 41"/>
          <p:cNvSpPr/>
          <p:nvPr/>
        </p:nvSpPr>
        <p:spPr>
          <a:xfrm>
            <a:off x="365760" y="4009644"/>
            <a:ext cx="8412480" cy="420624"/>
          </a:xfrm>
          <a:prstGeom prst="rect">
            <a:avLst/>
          </a:prstGeom>
          <a:solidFill>
            <a:srgbClr val="131320"/>
          </a:solidFill>
          <a:ln w="12700">
            <a:solidFill>
              <a:srgbClr val="2A2A3E"/>
            </a:solidFill>
            <a:prstDash val="solid"/>
          </a:ln>
        </p:spPr>
        <p:txBody>
          <a:bodyPr/>
          <a:lstStyle/>
          <a:p>
            <a:endParaRPr lang="en-US"/>
          </a:p>
        </p:txBody>
      </p:sp>
      <p:sp>
        <p:nvSpPr>
          <p:cNvPr id="44" name="Shape 42"/>
          <p:cNvSpPr/>
          <p:nvPr/>
        </p:nvSpPr>
        <p:spPr>
          <a:xfrm>
            <a:off x="438912" y="4064508"/>
            <a:ext cx="310896" cy="310896"/>
          </a:xfrm>
          <a:prstGeom prst="ellipse">
            <a:avLst/>
          </a:prstGeom>
          <a:solidFill>
            <a:srgbClr val="E8620A"/>
          </a:solidFill>
          <a:ln w="12700">
            <a:solidFill>
              <a:srgbClr val="E8620A"/>
            </a:solidFill>
            <a:prstDash val="solid"/>
          </a:ln>
        </p:spPr>
        <p:txBody>
          <a:bodyPr/>
          <a:lstStyle/>
          <a:p>
            <a:endParaRPr lang="en-US"/>
          </a:p>
        </p:txBody>
      </p:sp>
      <p:sp>
        <p:nvSpPr>
          <p:cNvPr id="45" name="Text 43"/>
          <p:cNvSpPr/>
          <p:nvPr/>
        </p:nvSpPr>
        <p:spPr>
          <a:xfrm>
            <a:off x="438912" y="4064508"/>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08</a:t>
            </a:r>
            <a:endParaRPr lang="en-US" sz="900" dirty="0"/>
          </a:p>
        </p:txBody>
      </p:sp>
      <p:sp>
        <p:nvSpPr>
          <p:cNvPr id="46" name="Text 44"/>
          <p:cNvSpPr/>
          <p:nvPr/>
        </p:nvSpPr>
        <p:spPr>
          <a:xfrm>
            <a:off x="841248" y="4046220"/>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Key Insights</a:t>
            </a:r>
            <a:endParaRPr lang="en-US" sz="1200" dirty="0"/>
          </a:p>
        </p:txBody>
      </p:sp>
      <p:sp>
        <p:nvSpPr>
          <p:cNvPr id="47" name="Text 45"/>
          <p:cNvSpPr/>
          <p:nvPr/>
        </p:nvSpPr>
        <p:spPr>
          <a:xfrm>
            <a:off x="841248" y="4247388"/>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Data-driven findings from the analysis</a:t>
            </a:r>
            <a:endParaRPr lang="en-US" sz="850" dirty="0"/>
          </a:p>
        </p:txBody>
      </p:sp>
      <p:sp>
        <p:nvSpPr>
          <p:cNvPr id="48" name="Shape 46"/>
          <p:cNvSpPr/>
          <p:nvPr/>
        </p:nvSpPr>
        <p:spPr>
          <a:xfrm>
            <a:off x="365760" y="4471416"/>
            <a:ext cx="8412480" cy="420624"/>
          </a:xfrm>
          <a:prstGeom prst="rect">
            <a:avLst/>
          </a:prstGeom>
          <a:solidFill>
            <a:srgbClr val="111827"/>
          </a:solidFill>
          <a:ln w="12700">
            <a:solidFill>
              <a:srgbClr val="2A2A3E"/>
            </a:solidFill>
            <a:prstDash val="solid"/>
          </a:ln>
        </p:spPr>
        <p:txBody>
          <a:bodyPr/>
          <a:lstStyle/>
          <a:p>
            <a:endParaRPr lang="en-US"/>
          </a:p>
        </p:txBody>
      </p:sp>
      <p:sp>
        <p:nvSpPr>
          <p:cNvPr id="49" name="Shape 47"/>
          <p:cNvSpPr/>
          <p:nvPr/>
        </p:nvSpPr>
        <p:spPr>
          <a:xfrm>
            <a:off x="438912" y="4526280"/>
            <a:ext cx="310896" cy="310896"/>
          </a:xfrm>
          <a:prstGeom prst="ellipse">
            <a:avLst/>
          </a:prstGeom>
          <a:solidFill>
            <a:srgbClr val="E8620A"/>
          </a:solidFill>
          <a:ln w="12700">
            <a:solidFill>
              <a:srgbClr val="E8620A"/>
            </a:solidFill>
            <a:prstDash val="solid"/>
          </a:ln>
        </p:spPr>
        <p:txBody>
          <a:bodyPr/>
          <a:lstStyle/>
          <a:p>
            <a:endParaRPr lang="en-US"/>
          </a:p>
        </p:txBody>
      </p:sp>
      <p:sp>
        <p:nvSpPr>
          <p:cNvPr id="50" name="Text 48"/>
          <p:cNvSpPr/>
          <p:nvPr/>
        </p:nvSpPr>
        <p:spPr>
          <a:xfrm>
            <a:off x="438912" y="4526280"/>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09</a:t>
            </a:r>
            <a:endParaRPr lang="en-US" sz="900" dirty="0"/>
          </a:p>
        </p:txBody>
      </p:sp>
      <p:sp>
        <p:nvSpPr>
          <p:cNvPr id="51" name="Text 49"/>
          <p:cNvSpPr/>
          <p:nvPr/>
        </p:nvSpPr>
        <p:spPr>
          <a:xfrm>
            <a:off x="841248" y="4507992"/>
            <a:ext cx="2560320" cy="20116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Recommendations</a:t>
            </a:r>
            <a:endParaRPr lang="en-US" sz="1200" dirty="0"/>
          </a:p>
        </p:txBody>
      </p:sp>
      <p:sp>
        <p:nvSpPr>
          <p:cNvPr id="52" name="Text 50"/>
          <p:cNvSpPr/>
          <p:nvPr/>
        </p:nvSpPr>
        <p:spPr>
          <a:xfrm>
            <a:off x="841248" y="4709160"/>
            <a:ext cx="7680960" cy="146304"/>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Lessons for teams, hosts &amp; governing bodies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Objectives</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3</a:t>
            </a:r>
            <a:endParaRPr lang="en-US" sz="750" dirty="0"/>
          </a:p>
        </p:txBody>
      </p:sp>
      <p:sp>
        <p:nvSpPr>
          <p:cNvPr id="8" name="Text 6"/>
          <p:cNvSpPr/>
          <p:nvPr/>
        </p:nvSpPr>
        <p:spPr>
          <a:xfrm>
            <a:off x="365760" y="749808"/>
            <a:ext cx="8412480" cy="310896"/>
          </a:xfrm>
          <a:prstGeom prst="rect">
            <a:avLst/>
          </a:prstGeom>
          <a:noFill/>
          <a:ln/>
        </p:spPr>
        <p:txBody>
          <a:bodyPr wrap="square" lIns="0" tIns="0" rIns="0" bIns="0" rtlCol="0" anchor="ctr"/>
          <a:lstStyle/>
          <a:p>
            <a:pPr marL="0" indent="0">
              <a:buNone/>
            </a:pPr>
            <a:r>
              <a:rPr lang="en-US" sz="1400" b="1" dirty="0">
                <a:solidFill>
                  <a:srgbClr val="E8620A"/>
                </a:solidFill>
                <a:latin typeface="Arial Black" pitchFamily="34" charset="0"/>
                <a:ea typeface="Arial Black" pitchFamily="34" charset="-122"/>
                <a:cs typeface="Arial Black" pitchFamily="34" charset="-120"/>
              </a:rPr>
              <a:t>What This Analysis Sets Out to Uncover</a:t>
            </a:r>
            <a:endParaRPr lang="en-US" sz="1400" dirty="0"/>
          </a:p>
        </p:txBody>
      </p:sp>
      <p:sp>
        <p:nvSpPr>
          <p:cNvPr id="9" name="Shape 7"/>
          <p:cNvSpPr/>
          <p:nvPr/>
        </p:nvSpPr>
        <p:spPr>
          <a:xfrm>
            <a:off x="365760" y="1170432"/>
            <a:ext cx="8412480" cy="640080"/>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365760" y="1170432"/>
            <a:ext cx="82296" cy="640080"/>
          </a:xfrm>
          <a:prstGeom prst="rect">
            <a:avLst/>
          </a:prstGeom>
          <a:solidFill>
            <a:srgbClr val="E8620A"/>
          </a:solidFill>
          <a:ln w="12700">
            <a:solidFill>
              <a:srgbClr val="E8620A"/>
            </a:solidFill>
            <a:prstDash val="solid"/>
          </a:ln>
        </p:spPr>
        <p:txBody>
          <a:bodyPr/>
          <a:lstStyle/>
          <a:p>
            <a:endParaRPr lang="en-US"/>
          </a:p>
        </p:txBody>
      </p:sp>
      <p:sp>
        <p:nvSpPr>
          <p:cNvPr id="11" name="Shape 9"/>
          <p:cNvSpPr/>
          <p:nvPr/>
        </p:nvSpPr>
        <p:spPr>
          <a:xfrm>
            <a:off x="548640" y="1325880"/>
            <a:ext cx="329184" cy="329184"/>
          </a:xfrm>
          <a:prstGeom prst="ellipse">
            <a:avLst/>
          </a:prstGeom>
          <a:solidFill>
            <a:srgbClr val="E8620A"/>
          </a:solidFill>
          <a:ln w="12700">
            <a:solidFill>
              <a:srgbClr val="E8620A"/>
            </a:solidFill>
            <a:prstDash val="solid"/>
          </a:ln>
        </p:spPr>
        <p:txBody>
          <a:bodyPr/>
          <a:lstStyle/>
          <a:p>
            <a:endParaRPr lang="en-US"/>
          </a:p>
        </p:txBody>
      </p:sp>
      <p:sp>
        <p:nvSpPr>
          <p:cNvPr id="12" name="Text 10"/>
          <p:cNvSpPr/>
          <p:nvPr/>
        </p:nvSpPr>
        <p:spPr>
          <a:xfrm>
            <a:off x="548640" y="13258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13" name="Text 11"/>
          <p:cNvSpPr/>
          <p:nvPr/>
        </p:nvSpPr>
        <p:spPr>
          <a:xfrm>
            <a:off x="1005840" y="1243584"/>
            <a:ext cx="749808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Track Goal Trends</a:t>
            </a:r>
            <a:endParaRPr lang="en-US" sz="1200" dirty="0"/>
          </a:p>
        </p:txBody>
      </p:sp>
      <p:sp>
        <p:nvSpPr>
          <p:cNvPr id="14" name="Text 12"/>
          <p:cNvSpPr/>
          <p:nvPr/>
        </p:nvSpPr>
        <p:spPr>
          <a:xfrm>
            <a:off x="1005840" y="1490472"/>
            <a:ext cx="7498080" cy="256032"/>
          </a:xfrm>
          <a:prstGeom prst="rect">
            <a:avLst/>
          </a:prstGeom>
          <a:noFill/>
          <a:ln/>
        </p:spPr>
        <p:txBody>
          <a:bodyPr wrap="square" lIns="0" tIns="0" rIns="0" bIns="0" rtlCol="0" anchor="ctr"/>
          <a:lstStyle/>
          <a:p>
            <a:pPr marL="0" indent="0">
              <a:buNone/>
            </a:pPr>
            <a:r>
              <a:rPr lang="en-US" sz="900" dirty="0">
                <a:solidFill>
                  <a:srgbClr val="D0D0D0"/>
                </a:solidFill>
                <a:latin typeface="Arial" pitchFamily="34" charset="0"/>
                <a:ea typeface="Arial" pitchFamily="34" charset="-122"/>
                <a:cs typeface="Arial" pitchFamily="34" charset="-120"/>
              </a:rPr>
              <a:t>Analyse how total goals scored per tournament have changed across 92 years of World Cup football from 1930 to 2022.</a:t>
            </a:r>
            <a:endParaRPr lang="en-US" sz="900" dirty="0"/>
          </a:p>
        </p:txBody>
      </p:sp>
      <p:sp>
        <p:nvSpPr>
          <p:cNvPr id="15" name="Shape 13"/>
          <p:cNvSpPr/>
          <p:nvPr/>
        </p:nvSpPr>
        <p:spPr>
          <a:xfrm>
            <a:off x="365760" y="1892808"/>
            <a:ext cx="8412480" cy="640080"/>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16" name="Shape 14"/>
          <p:cNvSpPr/>
          <p:nvPr/>
        </p:nvSpPr>
        <p:spPr>
          <a:xfrm>
            <a:off x="365760" y="1892808"/>
            <a:ext cx="82296" cy="640080"/>
          </a:xfrm>
          <a:prstGeom prst="rect">
            <a:avLst/>
          </a:prstGeom>
          <a:solidFill>
            <a:srgbClr val="F5A623"/>
          </a:solidFill>
          <a:ln w="12700">
            <a:solidFill>
              <a:srgbClr val="F5A623"/>
            </a:solidFill>
            <a:prstDash val="solid"/>
          </a:ln>
        </p:spPr>
        <p:txBody>
          <a:bodyPr/>
          <a:lstStyle/>
          <a:p>
            <a:endParaRPr lang="en-US"/>
          </a:p>
        </p:txBody>
      </p:sp>
      <p:sp>
        <p:nvSpPr>
          <p:cNvPr id="17" name="Shape 15"/>
          <p:cNvSpPr/>
          <p:nvPr/>
        </p:nvSpPr>
        <p:spPr>
          <a:xfrm>
            <a:off x="548640" y="2048256"/>
            <a:ext cx="329184" cy="329184"/>
          </a:xfrm>
          <a:prstGeom prst="ellipse">
            <a:avLst/>
          </a:prstGeom>
          <a:solidFill>
            <a:srgbClr val="F5A623"/>
          </a:solidFill>
          <a:ln w="12700">
            <a:solidFill>
              <a:srgbClr val="F5A623"/>
            </a:solidFill>
            <a:prstDash val="solid"/>
          </a:ln>
        </p:spPr>
        <p:txBody>
          <a:bodyPr/>
          <a:lstStyle/>
          <a:p>
            <a:endParaRPr lang="en-US"/>
          </a:p>
        </p:txBody>
      </p:sp>
      <p:sp>
        <p:nvSpPr>
          <p:cNvPr id="18" name="Text 16"/>
          <p:cNvSpPr/>
          <p:nvPr/>
        </p:nvSpPr>
        <p:spPr>
          <a:xfrm>
            <a:off x="548640" y="2048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19" name="Text 17"/>
          <p:cNvSpPr/>
          <p:nvPr/>
        </p:nvSpPr>
        <p:spPr>
          <a:xfrm>
            <a:off x="1005840" y="1965960"/>
            <a:ext cx="749808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Identify Dominant Teams</a:t>
            </a:r>
            <a:endParaRPr lang="en-US" sz="1200" dirty="0"/>
          </a:p>
        </p:txBody>
      </p:sp>
      <p:sp>
        <p:nvSpPr>
          <p:cNvPr id="20" name="Text 18"/>
          <p:cNvSpPr/>
          <p:nvPr/>
        </p:nvSpPr>
        <p:spPr>
          <a:xfrm>
            <a:off x="1005840" y="2212848"/>
            <a:ext cx="7498080" cy="256032"/>
          </a:xfrm>
          <a:prstGeom prst="rect">
            <a:avLst/>
          </a:prstGeom>
          <a:noFill/>
          <a:ln/>
        </p:spPr>
        <p:txBody>
          <a:bodyPr wrap="square" lIns="0" tIns="0" rIns="0" bIns="0" rtlCol="0" anchor="ctr"/>
          <a:lstStyle/>
          <a:p>
            <a:pPr marL="0" indent="0">
              <a:buNone/>
            </a:pPr>
            <a:r>
              <a:rPr lang="en-US" sz="900" dirty="0">
                <a:solidFill>
                  <a:srgbClr val="D0D0D0"/>
                </a:solidFill>
                <a:latin typeface="Arial" pitchFamily="34" charset="0"/>
                <a:ea typeface="Arial" pitchFamily="34" charset="-122"/>
                <a:cs typeface="Arial" pitchFamily="34" charset="-120"/>
              </a:rPr>
              <a:t>Determine which nations have dominated the tournament, with a focus on Champions, Runner-Ups and consistent performers.</a:t>
            </a:r>
            <a:endParaRPr lang="en-US" sz="900" dirty="0"/>
          </a:p>
        </p:txBody>
      </p:sp>
      <p:sp>
        <p:nvSpPr>
          <p:cNvPr id="21" name="Shape 19"/>
          <p:cNvSpPr/>
          <p:nvPr/>
        </p:nvSpPr>
        <p:spPr>
          <a:xfrm>
            <a:off x="365760" y="2615184"/>
            <a:ext cx="8412480" cy="640080"/>
          </a:xfrm>
          <a:prstGeom prst="rect">
            <a:avLst/>
          </a:prstGeom>
          <a:solidFill>
            <a:srgbClr val="111827"/>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22" name="Shape 20"/>
          <p:cNvSpPr/>
          <p:nvPr/>
        </p:nvSpPr>
        <p:spPr>
          <a:xfrm>
            <a:off x="365760" y="2615184"/>
            <a:ext cx="82296" cy="640080"/>
          </a:xfrm>
          <a:prstGeom prst="rect">
            <a:avLst/>
          </a:prstGeom>
          <a:solidFill>
            <a:srgbClr val="27AE60"/>
          </a:solidFill>
          <a:ln w="12700">
            <a:solidFill>
              <a:srgbClr val="27AE60"/>
            </a:solidFill>
            <a:prstDash val="solid"/>
          </a:ln>
        </p:spPr>
        <p:txBody>
          <a:bodyPr/>
          <a:lstStyle/>
          <a:p>
            <a:endParaRPr lang="en-US"/>
          </a:p>
        </p:txBody>
      </p:sp>
      <p:sp>
        <p:nvSpPr>
          <p:cNvPr id="23" name="Shape 21"/>
          <p:cNvSpPr/>
          <p:nvPr/>
        </p:nvSpPr>
        <p:spPr>
          <a:xfrm>
            <a:off x="548640" y="2770632"/>
            <a:ext cx="329184" cy="329184"/>
          </a:xfrm>
          <a:prstGeom prst="ellipse">
            <a:avLst/>
          </a:prstGeom>
          <a:solidFill>
            <a:srgbClr val="27AE60"/>
          </a:solidFill>
          <a:ln w="12700">
            <a:solidFill>
              <a:srgbClr val="27AE60"/>
            </a:solidFill>
            <a:prstDash val="solid"/>
          </a:ln>
        </p:spPr>
        <p:txBody>
          <a:bodyPr/>
          <a:lstStyle/>
          <a:p>
            <a:endParaRPr lang="en-US"/>
          </a:p>
        </p:txBody>
      </p:sp>
      <p:sp>
        <p:nvSpPr>
          <p:cNvPr id="24" name="Text 22"/>
          <p:cNvSpPr/>
          <p:nvPr/>
        </p:nvSpPr>
        <p:spPr>
          <a:xfrm>
            <a:off x="548640" y="27706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25" name="Text 23"/>
          <p:cNvSpPr/>
          <p:nvPr/>
        </p:nvSpPr>
        <p:spPr>
          <a:xfrm>
            <a:off x="1005840" y="2688336"/>
            <a:ext cx="749808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Measure Hosting Impact</a:t>
            </a:r>
            <a:endParaRPr lang="en-US" sz="1200" dirty="0"/>
          </a:p>
        </p:txBody>
      </p:sp>
      <p:sp>
        <p:nvSpPr>
          <p:cNvPr id="26" name="Text 24"/>
          <p:cNvSpPr/>
          <p:nvPr/>
        </p:nvSpPr>
        <p:spPr>
          <a:xfrm>
            <a:off x="1005840" y="2935224"/>
            <a:ext cx="7498080" cy="256032"/>
          </a:xfrm>
          <a:prstGeom prst="rect">
            <a:avLst/>
          </a:prstGeom>
          <a:noFill/>
          <a:ln/>
        </p:spPr>
        <p:txBody>
          <a:bodyPr wrap="square" lIns="0" tIns="0" rIns="0" bIns="0" rtlCol="0" anchor="ctr"/>
          <a:lstStyle/>
          <a:p>
            <a:pPr marL="0" indent="0">
              <a:buNone/>
            </a:pPr>
            <a:r>
              <a:rPr lang="en-US" sz="900" dirty="0">
                <a:solidFill>
                  <a:srgbClr val="D0D0D0"/>
                </a:solidFill>
                <a:latin typeface="Arial" pitchFamily="34" charset="0"/>
                <a:ea typeface="Arial" pitchFamily="34" charset="-122"/>
                <a:cs typeface="Arial" pitchFamily="34" charset="-120"/>
              </a:rPr>
              <a:t>Evaluate whether hosting the World Cup provides a tangible competitive advantage to the host nation in matches and titles.</a:t>
            </a:r>
            <a:endParaRPr lang="en-US" sz="900" dirty="0"/>
          </a:p>
        </p:txBody>
      </p:sp>
      <p:sp>
        <p:nvSpPr>
          <p:cNvPr id="27" name="Shape 25"/>
          <p:cNvSpPr/>
          <p:nvPr/>
        </p:nvSpPr>
        <p:spPr>
          <a:xfrm>
            <a:off x="365760" y="3337560"/>
            <a:ext cx="8412480" cy="640080"/>
          </a:xfrm>
          <a:prstGeom prst="rect">
            <a:avLst/>
          </a:prstGeom>
          <a:solidFill>
            <a:srgbClr val="111827"/>
          </a:solidFill>
          <a:ln w="12700">
            <a:solidFill>
              <a:srgbClr val="F28C28"/>
            </a:solidFill>
            <a:prstDash val="solid"/>
          </a:ln>
          <a:effectLst>
            <a:outerShdw blurRad="127000" dist="38100" dir="8100000" algn="bl" rotWithShape="0">
              <a:srgbClr val="000000">
                <a:alpha val="35000"/>
              </a:srgbClr>
            </a:outerShdw>
          </a:effectLst>
        </p:spPr>
        <p:txBody>
          <a:bodyPr/>
          <a:lstStyle/>
          <a:p>
            <a:endParaRPr lang="en-US"/>
          </a:p>
        </p:txBody>
      </p:sp>
      <p:sp>
        <p:nvSpPr>
          <p:cNvPr id="28" name="Shape 26"/>
          <p:cNvSpPr/>
          <p:nvPr/>
        </p:nvSpPr>
        <p:spPr>
          <a:xfrm>
            <a:off x="365760" y="3337560"/>
            <a:ext cx="82296" cy="640080"/>
          </a:xfrm>
          <a:prstGeom prst="rect">
            <a:avLst/>
          </a:prstGeom>
          <a:solidFill>
            <a:srgbClr val="F28C28"/>
          </a:solidFill>
          <a:ln w="12700">
            <a:solidFill>
              <a:srgbClr val="F28C28"/>
            </a:solidFill>
            <a:prstDash val="solid"/>
          </a:ln>
        </p:spPr>
        <p:txBody>
          <a:bodyPr/>
          <a:lstStyle/>
          <a:p>
            <a:endParaRPr lang="en-US"/>
          </a:p>
        </p:txBody>
      </p:sp>
      <p:sp>
        <p:nvSpPr>
          <p:cNvPr id="29" name="Shape 27"/>
          <p:cNvSpPr/>
          <p:nvPr/>
        </p:nvSpPr>
        <p:spPr>
          <a:xfrm>
            <a:off x="548640" y="3493008"/>
            <a:ext cx="329184" cy="329184"/>
          </a:xfrm>
          <a:prstGeom prst="ellipse">
            <a:avLst/>
          </a:prstGeom>
          <a:solidFill>
            <a:srgbClr val="F28C28"/>
          </a:solidFill>
          <a:ln w="12700">
            <a:solidFill>
              <a:srgbClr val="F28C28"/>
            </a:solidFill>
            <a:prstDash val="solid"/>
          </a:ln>
        </p:spPr>
        <p:txBody>
          <a:bodyPr/>
          <a:lstStyle/>
          <a:p>
            <a:endParaRPr lang="en-US"/>
          </a:p>
        </p:txBody>
      </p:sp>
      <p:sp>
        <p:nvSpPr>
          <p:cNvPr id="30" name="Text 28"/>
          <p:cNvSpPr/>
          <p:nvPr/>
        </p:nvSpPr>
        <p:spPr>
          <a:xfrm>
            <a:off x="548640" y="34930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4</a:t>
            </a:r>
            <a:endParaRPr lang="en-US" sz="1200" dirty="0"/>
          </a:p>
        </p:txBody>
      </p:sp>
      <p:sp>
        <p:nvSpPr>
          <p:cNvPr id="31" name="Text 29"/>
          <p:cNvSpPr/>
          <p:nvPr/>
        </p:nvSpPr>
        <p:spPr>
          <a:xfrm>
            <a:off x="1005840" y="3410712"/>
            <a:ext cx="749808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Explore Attendance Growth</a:t>
            </a:r>
            <a:endParaRPr lang="en-US" sz="1200" dirty="0"/>
          </a:p>
        </p:txBody>
      </p:sp>
      <p:sp>
        <p:nvSpPr>
          <p:cNvPr id="32" name="Text 30"/>
          <p:cNvSpPr/>
          <p:nvPr/>
        </p:nvSpPr>
        <p:spPr>
          <a:xfrm>
            <a:off x="1005840" y="3657600"/>
            <a:ext cx="7498080" cy="256032"/>
          </a:xfrm>
          <a:prstGeom prst="rect">
            <a:avLst/>
          </a:prstGeom>
          <a:noFill/>
          <a:ln/>
        </p:spPr>
        <p:txBody>
          <a:bodyPr wrap="square" lIns="0" tIns="0" rIns="0" bIns="0" rtlCol="0" anchor="ctr"/>
          <a:lstStyle/>
          <a:p>
            <a:pPr marL="0" indent="0">
              <a:buNone/>
            </a:pPr>
            <a:r>
              <a:rPr lang="en-US" sz="900" dirty="0">
                <a:solidFill>
                  <a:srgbClr val="D0D0D0"/>
                </a:solidFill>
                <a:latin typeface="Arial" pitchFamily="34" charset="0"/>
                <a:ea typeface="Arial" pitchFamily="34" charset="-122"/>
                <a:cs typeface="Arial" pitchFamily="34" charset="-120"/>
              </a:rPr>
              <a:t>Understand how global interest in the World Cup has grown over the decades through attendance data across all 22 editions.</a:t>
            </a:r>
            <a:endParaRPr lang="en-US" sz="900" dirty="0"/>
          </a:p>
        </p:txBody>
      </p:sp>
      <p:sp>
        <p:nvSpPr>
          <p:cNvPr id="33" name="Shape 31"/>
          <p:cNvSpPr/>
          <p:nvPr/>
        </p:nvSpPr>
        <p:spPr>
          <a:xfrm>
            <a:off x="365760" y="4059936"/>
            <a:ext cx="8412480" cy="640080"/>
          </a:xfrm>
          <a:prstGeom prst="rect">
            <a:avLst/>
          </a:prstGeom>
          <a:solidFill>
            <a:srgbClr val="111827"/>
          </a:solidFill>
          <a:ln w="12700">
            <a:solidFill>
              <a:srgbClr val="E74C3C"/>
            </a:solidFill>
            <a:prstDash val="solid"/>
          </a:ln>
          <a:effectLst>
            <a:outerShdw blurRad="127000" dist="38100" dir="8100000" algn="bl" rotWithShape="0">
              <a:srgbClr val="000000">
                <a:alpha val="35000"/>
              </a:srgbClr>
            </a:outerShdw>
          </a:effectLst>
        </p:spPr>
        <p:txBody>
          <a:bodyPr/>
          <a:lstStyle/>
          <a:p>
            <a:endParaRPr lang="en-US"/>
          </a:p>
        </p:txBody>
      </p:sp>
      <p:sp>
        <p:nvSpPr>
          <p:cNvPr id="34" name="Shape 32"/>
          <p:cNvSpPr/>
          <p:nvPr/>
        </p:nvSpPr>
        <p:spPr>
          <a:xfrm>
            <a:off x="365760" y="4059936"/>
            <a:ext cx="82296" cy="640080"/>
          </a:xfrm>
          <a:prstGeom prst="rect">
            <a:avLst/>
          </a:prstGeom>
          <a:solidFill>
            <a:srgbClr val="E74C3C"/>
          </a:solidFill>
          <a:ln w="12700">
            <a:solidFill>
              <a:srgbClr val="E74C3C"/>
            </a:solidFill>
            <a:prstDash val="solid"/>
          </a:ln>
        </p:spPr>
        <p:txBody>
          <a:bodyPr/>
          <a:lstStyle/>
          <a:p>
            <a:endParaRPr lang="en-US"/>
          </a:p>
        </p:txBody>
      </p:sp>
      <p:sp>
        <p:nvSpPr>
          <p:cNvPr id="35" name="Shape 33"/>
          <p:cNvSpPr/>
          <p:nvPr/>
        </p:nvSpPr>
        <p:spPr>
          <a:xfrm>
            <a:off x="548640" y="4215384"/>
            <a:ext cx="329184" cy="329184"/>
          </a:xfrm>
          <a:prstGeom prst="ellipse">
            <a:avLst/>
          </a:prstGeom>
          <a:solidFill>
            <a:srgbClr val="E74C3C"/>
          </a:solidFill>
          <a:ln w="12700">
            <a:solidFill>
              <a:srgbClr val="E74C3C"/>
            </a:solidFill>
            <a:prstDash val="solid"/>
          </a:ln>
        </p:spPr>
        <p:txBody>
          <a:bodyPr/>
          <a:lstStyle/>
          <a:p>
            <a:endParaRPr lang="en-US"/>
          </a:p>
        </p:txBody>
      </p:sp>
      <p:sp>
        <p:nvSpPr>
          <p:cNvPr id="36" name="Text 34"/>
          <p:cNvSpPr/>
          <p:nvPr/>
        </p:nvSpPr>
        <p:spPr>
          <a:xfrm>
            <a:off x="548640" y="42153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5</a:t>
            </a:r>
            <a:endParaRPr lang="en-US" sz="1200" dirty="0"/>
          </a:p>
        </p:txBody>
      </p:sp>
      <p:sp>
        <p:nvSpPr>
          <p:cNvPr id="37" name="Text 35"/>
          <p:cNvSpPr/>
          <p:nvPr/>
        </p:nvSpPr>
        <p:spPr>
          <a:xfrm>
            <a:off x="1005840" y="4133088"/>
            <a:ext cx="749808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Surface Key Insights</a:t>
            </a:r>
            <a:endParaRPr lang="en-US" sz="1200" dirty="0"/>
          </a:p>
        </p:txBody>
      </p:sp>
      <p:sp>
        <p:nvSpPr>
          <p:cNvPr id="38" name="Text 36"/>
          <p:cNvSpPr/>
          <p:nvPr/>
        </p:nvSpPr>
        <p:spPr>
          <a:xfrm>
            <a:off x="1005840" y="4379976"/>
            <a:ext cx="7498080" cy="256032"/>
          </a:xfrm>
          <a:prstGeom prst="rect">
            <a:avLst/>
          </a:prstGeom>
          <a:noFill/>
          <a:ln/>
        </p:spPr>
        <p:txBody>
          <a:bodyPr wrap="square" lIns="0" tIns="0" rIns="0" bIns="0" rtlCol="0" anchor="ctr"/>
          <a:lstStyle/>
          <a:p>
            <a:pPr marL="0" indent="0">
              <a:buNone/>
            </a:pPr>
            <a:r>
              <a:rPr lang="en-US" sz="900" dirty="0">
                <a:solidFill>
                  <a:srgbClr val="D0D0D0"/>
                </a:solidFill>
                <a:latin typeface="Arial" pitchFamily="34" charset="0"/>
                <a:ea typeface="Arial" pitchFamily="34" charset="-122"/>
                <a:cs typeface="Arial" pitchFamily="34" charset="-120"/>
              </a:rPr>
              <a:t>Deliver clear, data-backed insights that teams, governing bodies and football analysts can learn from and act 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Tournament Overview  |  1930 – 2022</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4</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92 Years of the World's Biggest Football Event</a:t>
            </a:r>
            <a:endParaRPr lang="en-US" sz="1300" dirty="0"/>
          </a:p>
        </p:txBody>
      </p:sp>
      <p:sp>
        <p:nvSpPr>
          <p:cNvPr id="9" name="Shape 7"/>
          <p:cNvSpPr/>
          <p:nvPr/>
        </p:nvSpPr>
        <p:spPr>
          <a:xfrm>
            <a:off x="274320" y="1115568"/>
            <a:ext cx="1828800" cy="1097280"/>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274320" y="1115568"/>
            <a:ext cx="1828800" cy="54864"/>
          </a:xfrm>
          <a:prstGeom prst="rect">
            <a:avLst/>
          </a:prstGeom>
          <a:solidFill>
            <a:srgbClr val="E8620A"/>
          </a:solidFill>
          <a:ln w="12700">
            <a:solidFill>
              <a:srgbClr val="E8620A"/>
            </a:solidFill>
            <a:prstDash val="solid"/>
          </a:ln>
        </p:spPr>
        <p:txBody>
          <a:bodyPr/>
          <a:lstStyle/>
          <a:p>
            <a:endParaRPr lang="en-US"/>
          </a:p>
        </p:txBody>
      </p:sp>
      <p:sp>
        <p:nvSpPr>
          <p:cNvPr id="11" name="Text 9"/>
          <p:cNvSpPr/>
          <p:nvPr/>
        </p:nvSpPr>
        <p:spPr>
          <a:xfrm>
            <a:off x="274320" y="1207008"/>
            <a:ext cx="1828800" cy="603504"/>
          </a:xfrm>
          <a:prstGeom prst="rect">
            <a:avLst/>
          </a:prstGeom>
          <a:noFill/>
          <a:ln/>
        </p:spPr>
        <p:txBody>
          <a:bodyPr wrap="square" lIns="0" tIns="0" rIns="0" bIns="0" rtlCol="0" anchor="ctr"/>
          <a:lstStyle/>
          <a:p>
            <a:pPr marL="0" indent="0" algn="ctr">
              <a:buNone/>
            </a:pPr>
            <a:r>
              <a:rPr lang="en-US" sz="2800" b="1" dirty="0">
                <a:solidFill>
                  <a:srgbClr val="E8620A"/>
                </a:solidFill>
                <a:latin typeface="Arial Black" pitchFamily="34" charset="0"/>
                <a:ea typeface="Arial Black" pitchFamily="34" charset="-122"/>
                <a:cs typeface="Arial Black" pitchFamily="34" charset="-120"/>
              </a:rPr>
              <a:t>22</a:t>
            </a:r>
            <a:endParaRPr lang="en-US" sz="2800" dirty="0"/>
          </a:p>
        </p:txBody>
      </p:sp>
      <p:sp>
        <p:nvSpPr>
          <p:cNvPr id="12" name="Text 10"/>
          <p:cNvSpPr/>
          <p:nvPr/>
        </p:nvSpPr>
        <p:spPr>
          <a:xfrm>
            <a:off x="274320" y="1773936"/>
            <a:ext cx="182880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Tournaments Held</a:t>
            </a:r>
            <a:endParaRPr lang="en-US" sz="900" dirty="0"/>
          </a:p>
        </p:txBody>
      </p:sp>
      <p:sp>
        <p:nvSpPr>
          <p:cNvPr id="13" name="Shape 11"/>
          <p:cNvSpPr/>
          <p:nvPr/>
        </p:nvSpPr>
        <p:spPr>
          <a:xfrm>
            <a:off x="2331720" y="1115568"/>
            <a:ext cx="1828800" cy="1097280"/>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14" name="Shape 12"/>
          <p:cNvSpPr/>
          <p:nvPr/>
        </p:nvSpPr>
        <p:spPr>
          <a:xfrm>
            <a:off x="2331720" y="1115568"/>
            <a:ext cx="1828800" cy="54864"/>
          </a:xfrm>
          <a:prstGeom prst="rect">
            <a:avLst/>
          </a:prstGeom>
          <a:solidFill>
            <a:srgbClr val="F5A623"/>
          </a:solidFill>
          <a:ln w="12700">
            <a:solidFill>
              <a:srgbClr val="F5A623"/>
            </a:solidFill>
            <a:prstDash val="solid"/>
          </a:ln>
        </p:spPr>
        <p:txBody>
          <a:bodyPr/>
          <a:lstStyle/>
          <a:p>
            <a:endParaRPr lang="en-US"/>
          </a:p>
        </p:txBody>
      </p:sp>
      <p:sp>
        <p:nvSpPr>
          <p:cNvPr id="15" name="Text 13"/>
          <p:cNvSpPr/>
          <p:nvPr/>
        </p:nvSpPr>
        <p:spPr>
          <a:xfrm>
            <a:off x="2331720" y="1207008"/>
            <a:ext cx="1828800" cy="603504"/>
          </a:xfrm>
          <a:prstGeom prst="rect">
            <a:avLst/>
          </a:prstGeom>
          <a:noFill/>
          <a:ln/>
        </p:spPr>
        <p:txBody>
          <a:bodyPr wrap="square" lIns="0" tIns="0" rIns="0" bIns="0" rtlCol="0" anchor="ctr"/>
          <a:lstStyle/>
          <a:p>
            <a:pPr marL="0" indent="0" algn="ctr">
              <a:buNone/>
            </a:pPr>
            <a:r>
              <a:rPr lang="en-US" sz="2800" b="1" dirty="0">
                <a:solidFill>
                  <a:srgbClr val="F5A623"/>
                </a:solidFill>
                <a:latin typeface="Arial Black" pitchFamily="34" charset="0"/>
                <a:ea typeface="Arial Black" pitchFamily="34" charset="-122"/>
                <a:cs typeface="Arial Black" pitchFamily="34" charset="-120"/>
              </a:rPr>
              <a:t>2,720</a:t>
            </a:r>
            <a:endParaRPr lang="en-US" sz="2800" dirty="0"/>
          </a:p>
        </p:txBody>
      </p:sp>
      <p:sp>
        <p:nvSpPr>
          <p:cNvPr id="16" name="Text 14"/>
          <p:cNvSpPr/>
          <p:nvPr/>
        </p:nvSpPr>
        <p:spPr>
          <a:xfrm>
            <a:off x="2331720" y="1773936"/>
            <a:ext cx="182880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All-Time Goals</a:t>
            </a:r>
            <a:endParaRPr lang="en-US" sz="900" dirty="0"/>
          </a:p>
        </p:txBody>
      </p:sp>
      <p:sp>
        <p:nvSpPr>
          <p:cNvPr id="17" name="Shape 15"/>
          <p:cNvSpPr/>
          <p:nvPr/>
        </p:nvSpPr>
        <p:spPr>
          <a:xfrm>
            <a:off x="4389120" y="1115568"/>
            <a:ext cx="1828800" cy="1097280"/>
          </a:xfrm>
          <a:prstGeom prst="rect">
            <a:avLst/>
          </a:prstGeom>
          <a:solidFill>
            <a:srgbClr val="111827"/>
          </a:solidFill>
          <a:ln w="12700">
            <a:solidFill>
              <a:srgbClr val="F28C28"/>
            </a:solidFill>
            <a:prstDash val="solid"/>
          </a:ln>
          <a:effectLst>
            <a:outerShdw blurRad="127000" dist="38100" dir="8100000" algn="bl" rotWithShape="0">
              <a:srgbClr val="000000">
                <a:alpha val="35000"/>
              </a:srgbClr>
            </a:outerShdw>
          </a:effectLst>
        </p:spPr>
        <p:txBody>
          <a:bodyPr/>
          <a:lstStyle/>
          <a:p>
            <a:endParaRPr lang="en-US"/>
          </a:p>
        </p:txBody>
      </p:sp>
      <p:sp>
        <p:nvSpPr>
          <p:cNvPr id="18" name="Shape 16"/>
          <p:cNvSpPr/>
          <p:nvPr/>
        </p:nvSpPr>
        <p:spPr>
          <a:xfrm>
            <a:off x="4389120" y="1115568"/>
            <a:ext cx="1828800" cy="54864"/>
          </a:xfrm>
          <a:prstGeom prst="rect">
            <a:avLst/>
          </a:prstGeom>
          <a:solidFill>
            <a:srgbClr val="F28C28"/>
          </a:solidFill>
          <a:ln w="12700">
            <a:solidFill>
              <a:srgbClr val="F28C28"/>
            </a:solidFill>
            <a:prstDash val="solid"/>
          </a:ln>
        </p:spPr>
        <p:txBody>
          <a:bodyPr/>
          <a:lstStyle/>
          <a:p>
            <a:endParaRPr lang="en-US"/>
          </a:p>
        </p:txBody>
      </p:sp>
      <p:sp>
        <p:nvSpPr>
          <p:cNvPr id="19" name="Text 17"/>
          <p:cNvSpPr/>
          <p:nvPr/>
        </p:nvSpPr>
        <p:spPr>
          <a:xfrm>
            <a:off x="4389120" y="1207008"/>
            <a:ext cx="1828800" cy="603504"/>
          </a:xfrm>
          <a:prstGeom prst="rect">
            <a:avLst/>
          </a:prstGeom>
          <a:noFill/>
          <a:ln/>
        </p:spPr>
        <p:txBody>
          <a:bodyPr wrap="square" lIns="0" tIns="0" rIns="0" bIns="0" rtlCol="0" anchor="ctr"/>
          <a:lstStyle/>
          <a:p>
            <a:pPr marL="0" indent="0" algn="ctr">
              <a:buNone/>
            </a:pPr>
            <a:r>
              <a:rPr lang="en-US" sz="2800" b="1" dirty="0">
                <a:solidFill>
                  <a:srgbClr val="F28C28"/>
                </a:solidFill>
                <a:latin typeface="Arial Black" pitchFamily="34" charset="0"/>
                <a:ea typeface="Arial Black" pitchFamily="34" charset="-122"/>
                <a:cs typeface="Arial Black" pitchFamily="34" charset="-120"/>
              </a:rPr>
              <a:t>964</a:t>
            </a:r>
            <a:endParaRPr lang="en-US" sz="2800" dirty="0"/>
          </a:p>
        </p:txBody>
      </p:sp>
      <p:sp>
        <p:nvSpPr>
          <p:cNvPr id="20" name="Text 18"/>
          <p:cNvSpPr/>
          <p:nvPr/>
        </p:nvSpPr>
        <p:spPr>
          <a:xfrm>
            <a:off x="4389120" y="1773936"/>
            <a:ext cx="182880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Total Matches</a:t>
            </a:r>
            <a:endParaRPr lang="en-US" sz="900" dirty="0"/>
          </a:p>
        </p:txBody>
      </p:sp>
      <p:sp>
        <p:nvSpPr>
          <p:cNvPr id="21" name="Shape 19"/>
          <p:cNvSpPr/>
          <p:nvPr/>
        </p:nvSpPr>
        <p:spPr>
          <a:xfrm>
            <a:off x="6446520" y="1115568"/>
            <a:ext cx="2423160" cy="1097280"/>
          </a:xfrm>
          <a:prstGeom prst="rect">
            <a:avLst/>
          </a:prstGeom>
          <a:solidFill>
            <a:srgbClr val="111827"/>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22" name="Shape 20"/>
          <p:cNvSpPr/>
          <p:nvPr/>
        </p:nvSpPr>
        <p:spPr>
          <a:xfrm>
            <a:off x="6446520" y="1115568"/>
            <a:ext cx="2423160" cy="54864"/>
          </a:xfrm>
          <a:prstGeom prst="rect">
            <a:avLst/>
          </a:prstGeom>
          <a:solidFill>
            <a:srgbClr val="27AE60"/>
          </a:solidFill>
          <a:ln w="12700">
            <a:solidFill>
              <a:srgbClr val="27AE60"/>
            </a:solidFill>
            <a:prstDash val="solid"/>
          </a:ln>
        </p:spPr>
        <p:txBody>
          <a:bodyPr/>
          <a:lstStyle/>
          <a:p>
            <a:endParaRPr lang="en-US"/>
          </a:p>
        </p:txBody>
      </p:sp>
      <p:sp>
        <p:nvSpPr>
          <p:cNvPr id="23" name="Text 21"/>
          <p:cNvSpPr/>
          <p:nvPr/>
        </p:nvSpPr>
        <p:spPr>
          <a:xfrm>
            <a:off x="6446520" y="1207008"/>
            <a:ext cx="2423160" cy="603504"/>
          </a:xfrm>
          <a:prstGeom prst="rect">
            <a:avLst/>
          </a:prstGeom>
          <a:noFill/>
          <a:ln/>
        </p:spPr>
        <p:txBody>
          <a:bodyPr wrap="square" lIns="0" tIns="0" rIns="0" bIns="0" rtlCol="0" anchor="ctr"/>
          <a:lstStyle/>
          <a:p>
            <a:pPr marL="0" indent="0" algn="ctr">
              <a:buNone/>
            </a:pPr>
            <a:r>
              <a:rPr lang="en-US" sz="2800" b="1" dirty="0">
                <a:solidFill>
                  <a:srgbClr val="27AE60"/>
                </a:solidFill>
                <a:latin typeface="Arial Black" pitchFamily="34" charset="0"/>
                <a:ea typeface="Arial Black" pitchFamily="34" charset="-122"/>
                <a:cs typeface="Arial Black" pitchFamily="34" charset="-120"/>
              </a:rPr>
              <a:t>44M+</a:t>
            </a:r>
            <a:endParaRPr lang="en-US" sz="2800" dirty="0"/>
          </a:p>
        </p:txBody>
      </p:sp>
      <p:sp>
        <p:nvSpPr>
          <p:cNvPr id="24" name="Text 22"/>
          <p:cNvSpPr/>
          <p:nvPr/>
        </p:nvSpPr>
        <p:spPr>
          <a:xfrm>
            <a:off x="6446520" y="1773936"/>
            <a:ext cx="242316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Total Attendance</a:t>
            </a:r>
            <a:endParaRPr lang="en-US" sz="900" dirty="0"/>
          </a:p>
        </p:txBody>
      </p:sp>
      <p:sp>
        <p:nvSpPr>
          <p:cNvPr id="25" name="Shape 23"/>
          <p:cNvSpPr/>
          <p:nvPr/>
        </p:nvSpPr>
        <p:spPr>
          <a:xfrm>
            <a:off x="274320" y="2359152"/>
            <a:ext cx="2834640" cy="1097280"/>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26" name="Shape 24"/>
          <p:cNvSpPr/>
          <p:nvPr/>
        </p:nvSpPr>
        <p:spPr>
          <a:xfrm>
            <a:off x="274320" y="2359152"/>
            <a:ext cx="2834640" cy="54864"/>
          </a:xfrm>
          <a:prstGeom prst="rect">
            <a:avLst/>
          </a:prstGeom>
          <a:solidFill>
            <a:srgbClr val="E8620A"/>
          </a:solidFill>
          <a:ln w="12700">
            <a:solidFill>
              <a:srgbClr val="E8620A"/>
            </a:solidFill>
            <a:prstDash val="solid"/>
          </a:ln>
        </p:spPr>
        <p:txBody>
          <a:bodyPr/>
          <a:lstStyle/>
          <a:p>
            <a:endParaRPr lang="en-US"/>
          </a:p>
        </p:txBody>
      </p:sp>
      <p:sp>
        <p:nvSpPr>
          <p:cNvPr id="27" name="Text 25"/>
          <p:cNvSpPr/>
          <p:nvPr/>
        </p:nvSpPr>
        <p:spPr>
          <a:xfrm>
            <a:off x="274320" y="2450592"/>
            <a:ext cx="2834640" cy="603504"/>
          </a:xfrm>
          <a:prstGeom prst="rect">
            <a:avLst/>
          </a:prstGeom>
          <a:noFill/>
          <a:ln/>
        </p:spPr>
        <p:txBody>
          <a:bodyPr wrap="square" lIns="0" tIns="0" rIns="0" bIns="0" rtlCol="0" anchor="ctr"/>
          <a:lstStyle/>
          <a:p>
            <a:pPr marL="0" indent="0" algn="ctr">
              <a:buNone/>
            </a:pPr>
            <a:r>
              <a:rPr lang="en-US" sz="2800" b="1" dirty="0">
                <a:solidFill>
                  <a:srgbClr val="E8620A"/>
                </a:solidFill>
                <a:latin typeface="Arial Black" pitchFamily="34" charset="0"/>
                <a:ea typeface="Arial Black" pitchFamily="34" charset="-122"/>
                <a:cs typeface="Arial Black" pitchFamily="34" charset="-120"/>
              </a:rPr>
              <a:t>Brazil</a:t>
            </a:r>
            <a:endParaRPr lang="en-US" sz="2800" dirty="0"/>
          </a:p>
        </p:txBody>
      </p:sp>
      <p:sp>
        <p:nvSpPr>
          <p:cNvPr id="28" name="Text 26"/>
          <p:cNvSpPr/>
          <p:nvPr/>
        </p:nvSpPr>
        <p:spPr>
          <a:xfrm>
            <a:off x="274320" y="3017520"/>
            <a:ext cx="283464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Most Titles  (5×)</a:t>
            </a:r>
            <a:endParaRPr lang="en-US" sz="900" dirty="0"/>
          </a:p>
        </p:txBody>
      </p:sp>
      <p:sp>
        <p:nvSpPr>
          <p:cNvPr id="29" name="Shape 27"/>
          <p:cNvSpPr/>
          <p:nvPr/>
        </p:nvSpPr>
        <p:spPr>
          <a:xfrm>
            <a:off x="3291840" y="2359152"/>
            <a:ext cx="2834640" cy="1097280"/>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30" name="Shape 28"/>
          <p:cNvSpPr/>
          <p:nvPr/>
        </p:nvSpPr>
        <p:spPr>
          <a:xfrm>
            <a:off x="3291840" y="2359152"/>
            <a:ext cx="2834640" cy="54864"/>
          </a:xfrm>
          <a:prstGeom prst="rect">
            <a:avLst/>
          </a:prstGeom>
          <a:solidFill>
            <a:srgbClr val="F5A623"/>
          </a:solidFill>
          <a:ln w="12700">
            <a:solidFill>
              <a:srgbClr val="F5A623"/>
            </a:solidFill>
            <a:prstDash val="solid"/>
          </a:ln>
        </p:spPr>
        <p:txBody>
          <a:bodyPr/>
          <a:lstStyle/>
          <a:p>
            <a:endParaRPr lang="en-US"/>
          </a:p>
        </p:txBody>
      </p:sp>
      <p:sp>
        <p:nvSpPr>
          <p:cNvPr id="31" name="Text 29"/>
          <p:cNvSpPr/>
          <p:nvPr/>
        </p:nvSpPr>
        <p:spPr>
          <a:xfrm>
            <a:off x="3291840" y="2450592"/>
            <a:ext cx="2834640" cy="603504"/>
          </a:xfrm>
          <a:prstGeom prst="rect">
            <a:avLst/>
          </a:prstGeom>
          <a:noFill/>
          <a:ln/>
        </p:spPr>
        <p:txBody>
          <a:bodyPr wrap="square" lIns="0" tIns="0" rIns="0" bIns="0" rtlCol="0" anchor="ctr"/>
          <a:lstStyle/>
          <a:p>
            <a:pPr marL="0" indent="0" algn="ctr">
              <a:buNone/>
            </a:pPr>
            <a:r>
              <a:rPr lang="en-US" sz="2800" b="1" dirty="0">
                <a:solidFill>
                  <a:srgbClr val="F5A623"/>
                </a:solidFill>
                <a:latin typeface="Arial Black" pitchFamily="34" charset="0"/>
                <a:ea typeface="Arial Black" pitchFamily="34" charset="-122"/>
                <a:cs typeface="Arial Black" pitchFamily="34" charset="-120"/>
              </a:rPr>
              <a:t>13 Goals</a:t>
            </a:r>
            <a:endParaRPr lang="en-US" sz="2800" dirty="0"/>
          </a:p>
        </p:txBody>
      </p:sp>
      <p:sp>
        <p:nvSpPr>
          <p:cNvPr id="32" name="Text 30"/>
          <p:cNvSpPr/>
          <p:nvPr/>
        </p:nvSpPr>
        <p:spPr>
          <a:xfrm>
            <a:off x="3291840" y="3017520"/>
            <a:ext cx="283464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Just Fontaine 1958</a:t>
            </a:r>
            <a:endParaRPr lang="en-US" sz="900" dirty="0"/>
          </a:p>
        </p:txBody>
      </p:sp>
      <p:sp>
        <p:nvSpPr>
          <p:cNvPr id="33" name="Shape 31"/>
          <p:cNvSpPr/>
          <p:nvPr/>
        </p:nvSpPr>
        <p:spPr>
          <a:xfrm>
            <a:off x="6309360" y="2359152"/>
            <a:ext cx="2560320" cy="1097280"/>
          </a:xfrm>
          <a:prstGeom prst="rect">
            <a:avLst/>
          </a:prstGeom>
          <a:solidFill>
            <a:srgbClr val="111827"/>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34" name="Shape 32"/>
          <p:cNvSpPr/>
          <p:nvPr/>
        </p:nvSpPr>
        <p:spPr>
          <a:xfrm>
            <a:off x="6309360" y="2359152"/>
            <a:ext cx="2560320" cy="54864"/>
          </a:xfrm>
          <a:prstGeom prst="rect">
            <a:avLst/>
          </a:prstGeom>
          <a:solidFill>
            <a:srgbClr val="27AE60"/>
          </a:solidFill>
          <a:ln w="12700">
            <a:solidFill>
              <a:srgbClr val="27AE60"/>
            </a:solidFill>
            <a:prstDash val="solid"/>
          </a:ln>
        </p:spPr>
        <p:txBody>
          <a:bodyPr/>
          <a:lstStyle/>
          <a:p>
            <a:endParaRPr lang="en-US"/>
          </a:p>
        </p:txBody>
      </p:sp>
      <p:sp>
        <p:nvSpPr>
          <p:cNvPr id="35" name="Text 33"/>
          <p:cNvSpPr/>
          <p:nvPr/>
        </p:nvSpPr>
        <p:spPr>
          <a:xfrm>
            <a:off x="6309360" y="2450592"/>
            <a:ext cx="2560320" cy="603504"/>
          </a:xfrm>
          <a:prstGeom prst="rect">
            <a:avLst/>
          </a:prstGeom>
          <a:noFill/>
          <a:ln/>
        </p:spPr>
        <p:txBody>
          <a:bodyPr wrap="square" lIns="0" tIns="0" rIns="0" bIns="0" rtlCol="0" anchor="ctr"/>
          <a:lstStyle/>
          <a:p>
            <a:pPr marL="0" indent="0" algn="ctr">
              <a:buNone/>
            </a:pPr>
            <a:r>
              <a:rPr lang="en-US" sz="2800" b="1" dirty="0">
                <a:solidFill>
                  <a:srgbClr val="27AE60"/>
                </a:solidFill>
                <a:latin typeface="Arial Black" pitchFamily="34" charset="0"/>
                <a:ea typeface="Arial Black" pitchFamily="34" charset="-122"/>
                <a:cs typeface="Arial Black" pitchFamily="34" charset="-120"/>
              </a:rPr>
              <a:t>3.59M</a:t>
            </a:r>
            <a:endParaRPr lang="en-US" sz="2800" dirty="0"/>
          </a:p>
        </p:txBody>
      </p:sp>
      <p:sp>
        <p:nvSpPr>
          <p:cNvPr id="36" name="Text 34"/>
          <p:cNvSpPr/>
          <p:nvPr/>
        </p:nvSpPr>
        <p:spPr>
          <a:xfrm>
            <a:off x="6309360" y="3017520"/>
            <a:ext cx="2560320" cy="416966"/>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Highest Attendance '94</a:t>
            </a:r>
            <a:endParaRPr lang="en-US" sz="900" dirty="0"/>
          </a:p>
        </p:txBody>
      </p:sp>
      <p:sp>
        <p:nvSpPr>
          <p:cNvPr id="37" name="Shape 35"/>
          <p:cNvSpPr/>
          <p:nvPr/>
        </p:nvSpPr>
        <p:spPr>
          <a:xfrm>
            <a:off x="274320" y="3584448"/>
            <a:ext cx="8595360" cy="896112"/>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38" name="Text 36"/>
          <p:cNvSpPr/>
          <p:nvPr/>
        </p:nvSpPr>
        <p:spPr>
          <a:xfrm>
            <a:off x="457200" y="3630168"/>
            <a:ext cx="8229600" cy="228600"/>
          </a:xfrm>
          <a:prstGeom prst="rect">
            <a:avLst/>
          </a:prstGeom>
          <a:noFill/>
          <a:ln/>
        </p:spPr>
        <p:txBody>
          <a:bodyPr wrap="square" lIns="0" tIns="0" rIns="0" bIns="0" rtlCol="0" anchor="ctr"/>
          <a:lstStyle/>
          <a:p>
            <a:pPr marL="0" indent="0">
              <a:buNone/>
            </a:pPr>
            <a:r>
              <a:rPr lang="en-US" sz="1000" b="1" dirty="0">
                <a:solidFill>
                  <a:srgbClr val="E8620A"/>
                </a:solidFill>
                <a:latin typeface="Arial Black" pitchFamily="34" charset="0"/>
                <a:ea typeface="Arial Black" pitchFamily="34" charset="-122"/>
                <a:cs typeface="Arial Black" pitchFamily="34" charset="-120"/>
              </a:rPr>
              <a:t>Tournament Evolution at a Glance</a:t>
            </a:r>
            <a:endParaRPr lang="en-US" sz="1000" dirty="0"/>
          </a:p>
        </p:txBody>
      </p:sp>
      <p:sp>
        <p:nvSpPr>
          <p:cNvPr id="39" name="Shape 37"/>
          <p:cNvSpPr/>
          <p:nvPr/>
        </p:nvSpPr>
        <p:spPr>
          <a:xfrm>
            <a:off x="667512"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40" name="Text 38"/>
          <p:cNvSpPr/>
          <p:nvPr/>
        </p:nvSpPr>
        <p:spPr>
          <a:xfrm>
            <a:off x="411480"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1930</a:t>
            </a:r>
            <a:endParaRPr lang="en-US" sz="850" dirty="0"/>
          </a:p>
        </p:txBody>
      </p:sp>
      <p:sp>
        <p:nvSpPr>
          <p:cNvPr id="41" name="Text 39"/>
          <p:cNvSpPr/>
          <p:nvPr/>
        </p:nvSpPr>
        <p:spPr>
          <a:xfrm>
            <a:off x="411480"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First ever</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World Cup</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Uruguay</a:t>
            </a:r>
            <a:endParaRPr lang="en-US" sz="650" dirty="0"/>
          </a:p>
        </p:txBody>
      </p:sp>
      <p:sp>
        <p:nvSpPr>
          <p:cNvPr id="42" name="Shape 40"/>
          <p:cNvSpPr/>
          <p:nvPr/>
        </p:nvSpPr>
        <p:spPr>
          <a:xfrm>
            <a:off x="1883664"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43" name="Text 41"/>
          <p:cNvSpPr/>
          <p:nvPr/>
        </p:nvSpPr>
        <p:spPr>
          <a:xfrm>
            <a:off x="1627632"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1950</a:t>
            </a:r>
            <a:endParaRPr lang="en-US" sz="850" dirty="0"/>
          </a:p>
        </p:txBody>
      </p:sp>
      <p:sp>
        <p:nvSpPr>
          <p:cNvPr id="44" name="Text 42"/>
          <p:cNvSpPr/>
          <p:nvPr/>
        </p:nvSpPr>
        <p:spPr>
          <a:xfrm>
            <a:off x="1627632"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Record</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attendance</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173,850 fans</a:t>
            </a:r>
            <a:endParaRPr lang="en-US" sz="650" dirty="0"/>
          </a:p>
        </p:txBody>
      </p:sp>
      <p:sp>
        <p:nvSpPr>
          <p:cNvPr id="45" name="Shape 43"/>
          <p:cNvSpPr/>
          <p:nvPr/>
        </p:nvSpPr>
        <p:spPr>
          <a:xfrm>
            <a:off x="3099816"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46" name="Text 44"/>
          <p:cNvSpPr/>
          <p:nvPr/>
        </p:nvSpPr>
        <p:spPr>
          <a:xfrm>
            <a:off x="2843784"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1966</a:t>
            </a:r>
            <a:endParaRPr lang="en-US" sz="850" dirty="0"/>
          </a:p>
        </p:txBody>
      </p:sp>
      <p:sp>
        <p:nvSpPr>
          <p:cNvPr id="47" name="Text 45"/>
          <p:cNvSpPr/>
          <p:nvPr/>
        </p:nvSpPr>
        <p:spPr>
          <a:xfrm>
            <a:off x="2843784"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First live</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global TV</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broadcast</a:t>
            </a:r>
            <a:endParaRPr lang="en-US" sz="650" dirty="0"/>
          </a:p>
        </p:txBody>
      </p:sp>
      <p:sp>
        <p:nvSpPr>
          <p:cNvPr id="48" name="Shape 46"/>
          <p:cNvSpPr/>
          <p:nvPr/>
        </p:nvSpPr>
        <p:spPr>
          <a:xfrm>
            <a:off x="4315968"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49" name="Text 47"/>
          <p:cNvSpPr/>
          <p:nvPr/>
        </p:nvSpPr>
        <p:spPr>
          <a:xfrm>
            <a:off x="4059936"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1982</a:t>
            </a:r>
            <a:endParaRPr lang="en-US" sz="850" dirty="0"/>
          </a:p>
        </p:txBody>
      </p:sp>
      <p:sp>
        <p:nvSpPr>
          <p:cNvPr id="50" name="Text 48"/>
          <p:cNvSpPr/>
          <p:nvPr/>
        </p:nvSpPr>
        <p:spPr>
          <a:xfrm>
            <a:off x="4059936"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Expanded</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to 24 teams</a:t>
            </a:r>
            <a:endParaRPr lang="en-US" sz="650" dirty="0"/>
          </a:p>
        </p:txBody>
      </p:sp>
      <p:sp>
        <p:nvSpPr>
          <p:cNvPr id="51" name="Shape 49"/>
          <p:cNvSpPr/>
          <p:nvPr/>
        </p:nvSpPr>
        <p:spPr>
          <a:xfrm>
            <a:off x="5532120"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52" name="Text 50"/>
          <p:cNvSpPr/>
          <p:nvPr/>
        </p:nvSpPr>
        <p:spPr>
          <a:xfrm>
            <a:off x="5276088"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1994</a:t>
            </a:r>
            <a:endParaRPr lang="en-US" sz="850" dirty="0"/>
          </a:p>
        </p:txBody>
      </p:sp>
      <p:sp>
        <p:nvSpPr>
          <p:cNvPr id="53" name="Text 51"/>
          <p:cNvSpPr/>
          <p:nvPr/>
        </p:nvSpPr>
        <p:spPr>
          <a:xfrm>
            <a:off x="5276088"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Record total</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attendance</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3.59 million</a:t>
            </a:r>
            <a:endParaRPr lang="en-US" sz="650" dirty="0"/>
          </a:p>
        </p:txBody>
      </p:sp>
      <p:sp>
        <p:nvSpPr>
          <p:cNvPr id="54" name="Shape 52"/>
          <p:cNvSpPr/>
          <p:nvPr/>
        </p:nvSpPr>
        <p:spPr>
          <a:xfrm>
            <a:off x="6748272"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55" name="Text 53"/>
          <p:cNvSpPr/>
          <p:nvPr/>
        </p:nvSpPr>
        <p:spPr>
          <a:xfrm>
            <a:off x="6492240"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1998</a:t>
            </a:r>
            <a:endParaRPr lang="en-US" sz="850" dirty="0"/>
          </a:p>
        </p:txBody>
      </p:sp>
      <p:sp>
        <p:nvSpPr>
          <p:cNvPr id="56" name="Text 54"/>
          <p:cNvSpPr/>
          <p:nvPr/>
        </p:nvSpPr>
        <p:spPr>
          <a:xfrm>
            <a:off x="6492240"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Expanded</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to 32 teams</a:t>
            </a:r>
            <a:endParaRPr lang="en-US" sz="650" dirty="0"/>
          </a:p>
        </p:txBody>
      </p:sp>
      <p:sp>
        <p:nvSpPr>
          <p:cNvPr id="57" name="Shape 55"/>
          <p:cNvSpPr/>
          <p:nvPr/>
        </p:nvSpPr>
        <p:spPr>
          <a:xfrm>
            <a:off x="7964424" y="3858768"/>
            <a:ext cx="201168" cy="201168"/>
          </a:xfrm>
          <a:prstGeom prst="ellipse">
            <a:avLst/>
          </a:prstGeom>
          <a:solidFill>
            <a:srgbClr val="E8620A"/>
          </a:solidFill>
          <a:ln w="12700">
            <a:solidFill>
              <a:srgbClr val="E8620A"/>
            </a:solidFill>
            <a:prstDash val="solid"/>
          </a:ln>
        </p:spPr>
        <p:txBody>
          <a:bodyPr/>
          <a:lstStyle/>
          <a:p>
            <a:endParaRPr lang="en-US"/>
          </a:p>
        </p:txBody>
      </p:sp>
      <p:sp>
        <p:nvSpPr>
          <p:cNvPr id="58" name="Text 56"/>
          <p:cNvSpPr/>
          <p:nvPr/>
        </p:nvSpPr>
        <p:spPr>
          <a:xfrm>
            <a:off x="7708392" y="3858768"/>
            <a:ext cx="822960" cy="201168"/>
          </a:xfrm>
          <a:prstGeom prst="rect">
            <a:avLst/>
          </a:prstGeom>
          <a:noFill/>
          <a:ln/>
        </p:spPr>
        <p:txBody>
          <a:bodyPr wrap="square" lIns="0" tIns="0" rIns="0" bIns="0" rtlCol="0" anchor="ctr"/>
          <a:lstStyle/>
          <a:p>
            <a:pPr marL="0" indent="0" algn="ctr">
              <a:buNone/>
            </a:pPr>
            <a:r>
              <a:rPr lang="en-US" sz="850" b="1" dirty="0">
                <a:solidFill>
                  <a:srgbClr val="E8620A"/>
                </a:solidFill>
                <a:latin typeface="Arial" pitchFamily="34" charset="0"/>
                <a:ea typeface="Arial" pitchFamily="34" charset="-122"/>
                <a:cs typeface="Arial" pitchFamily="34" charset="-120"/>
              </a:rPr>
              <a:t>2022</a:t>
            </a:r>
            <a:endParaRPr lang="en-US" sz="850" dirty="0"/>
          </a:p>
        </p:txBody>
      </p:sp>
      <p:sp>
        <p:nvSpPr>
          <p:cNvPr id="59" name="Text 57"/>
          <p:cNvSpPr/>
          <p:nvPr/>
        </p:nvSpPr>
        <p:spPr>
          <a:xfrm>
            <a:off x="7708392" y="4078224"/>
            <a:ext cx="822960" cy="347472"/>
          </a:xfrm>
          <a:prstGeom prst="rect">
            <a:avLst/>
          </a:prstGeom>
          <a:noFill/>
          <a:ln/>
        </p:spPr>
        <p:txBody>
          <a:bodyPr wrap="square" lIns="0" tIns="0" rIns="0" bIns="0" rtlCol="0" anchor="ctr"/>
          <a:lstStyle/>
          <a:p>
            <a:pPr marL="0" indent="0" algn="ctr">
              <a:buNone/>
            </a:pPr>
            <a:r>
              <a:rPr lang="en-US" sz="650" dirty="0">
                <a:solidFill>
                  <a:srgbClr val="D0D0D0"/>
                </a:solidFill>
                <a:latin typeface="Arial" pitchFamily="34" charset="0"/>
                <a:ea typeface="Arial" pitchFamily="34" charset="-122"/>
                <a:cs typeface="Arial" pitchFamily="34" charset="-120"/>
              </a:rPr>
              <a:t>First Middle</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East host</a:t>
            </a:r>
            <a:endParaRPr lang="en-US" sz="650" dirty="0"/>
          </a:p>
          <a:p>
            <a:pPr marL="0" indent="0" algn="ctr">
              <a:buNone/>
            </a:pPr>
            <a:r>
              <a:rPr lang="en-US" sz="650" dirty="0">
                <a:solidFill>
                  <a:srgbClr val="D0D0D0"/>
                </a:solidFill>
                <a:latin typeface="Arial" pitchFamily="34" charset="0"/>
                <a:ea typeface="Arial" pitchFamily="34" charset="-122"/>
                <a:cs typeface="Arial" pitchFamily="34" charset="-120"/>
              </a:rPr>
              <a:t>Qatar</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World Cup Champions  |  Who Dominated the Tournament?</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5</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Wins by Country  —  Brazil Leads with 5 Titles</a:t>
            </a:r>
            <a:endParaRPr lang="en-US" sz="1300" dirty="0"/>
          </a:p>
        </p:txBody>
      </p:sp>
      <p:sp>
        <p:nvSpPr>
          <p:cNvPr id="9" name="Text 7"/>
          <p:cNvSpPr/>
          <p:nvPr/>
        </p:nvSpPr>
        <p:spPr>
          <a:xfrm>
            <a:off x="365760" y="1170432"/>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Brazil</a:t>
            </a:r>
            <a:endParaRPr lang="en-US" sz="1100" dirty="0"/>
          </a:p>
        </p:txBody>
      </p:sp>
      <p:sp>
        <p:nvSpPr>
          <p:cNvPr id="10" name="Shape 8"/>
          <p:cNvSpPr/>
          <p:nvPr/>
        </p:nvSpPr>
        <p:spPr>
          <a:xfrm>
            <a:off x="1828800" y="1179576"/>
            <a:ext cx="4572000" cy="256032"/>
          </a:xfrm>
          <a:prstGeom prst="rect">
            <a:avLst/>
          </a:prstGeom>
          <a:solidFill>
            <a:srgbClr val="222235"/>
          </a:solidFill>
          <a:ln w="12700">
            <a:solidFill>
              <a:srgbClr val="333355"/>
            </a:solidFill>
            <a:prstDash val="solid"/>
          </a:ln>
        </p:spPr>
        <p:txBody>
          <a:bodyPr/>
          <a:lstStyle/>
          <a:p>
            <a:endParaRPr lang="en-US"/>
          </a:p>
        </p:txBody>
      </p:sp>
      <p:sp>
        <p:nvSpPr>
          <p:cNvPr id="11" name="Shape 9"/>
          <p:cNvSpPr/>
          <p:nvPr/>
        </p:nvSpPr>
        <p:spPr>
          <a:xfrm>
            <a:off x="1828800" y="1179576"/>
            <a:ext cx="4572000" cy="256032"/>
          </a:xfrm>
          <a:prstGeom prst="rect">
            <a:avLst/>
          </a:prstGeom>
          <a:solidFill>
            <a:srgbClr val="E8620A"/>
          </a:solidFill>
          <a:ln w="12700">
            <a:solidFill>
              <a:srgbClr val="E8620A"/>
            </a:solidFill>
            <a:prstDash val="solid"/>
          </a:ln>
        </p:spPr>
        <p:txBody>
          <a:bodyPr/>
          <a:lstStyle/>
          <a:p>
            <a:endParaRPr lang="en-US"/>
          </a:p>
        </p:txBody>
      </p:sp>
      <p:sp>
        <p:nvSpPr>
          <p:cNvPr id="12" name="Shape 10"/>
          <p:cNvSpPr/>
          <p:nvPr/>
        </p:nvSpPr>
        <p:spPr>
          <a:xfrm>
            <a:off x="6565392" y="1207008"/>
            <a:ext cx="219456" cy="219456"/>
          </a:xfrm>
          <a:prstGeom prst="ellipse">
            <a:avLst/>
          </a:prstGeom>
          <a:solidFill>
            <a:srgbClr val="E8620A"/>
          </a:solidFill>
          <a:ln w="12700">
            <a:solidFill>
              <a:srgbClr val="E8620A"/>
            </a:solidFill>
            <a:prstDash val="solid"/>
          </a:ln>
        </p:spPr>
        <p:txBody>
          <a:bodyPr/>
          <a:lstStyle/>
          <a:p>
            <a:endParaRPr lang="en-US"/>
          </a:p>
        </p:txBody>
      </p:sp>
      <p:sp>
        <p:nvSpPr>
          <p:cNvPr id="13" name="Shape 11"/>
          <p:cNvSpPr/>
          <p:nvPr/>
        </p:nvSpPr>
        <p:spPr>
          <a:xfrm>
            <a:off x="6894576" y="1207008"/>
            <a:ext cx="219456" cy="219456"/>
          </a:xfrm>
          <a:prstGeom prst="ellipse">
            <a:avLst/>
          </a:prstGeom>
          <a:solidFill>
            <a:srgbClr val="E8620A"/>
          </a:solidFill>
          <a:ln w="12700">
            <a:solidFill>
              <a:srgbClr val="E8620A"/>
            </a:solidFill>
            <a:prstDash val="solid"/>
          </a:ln>
        </p:spPr>
        <p:txBody>
          <a:bodyPr/>
          <a:lstStyle/>
          <a:p>
            <a:endParaRPr lang="en-US"/>
          </a:p>
        </p:txBody>
      </p:sp>
      <p:sp>
        <p:nvSpPr>
          <p:cNvPr id="14" name="Shape 12"/>
          <p:cNvSpPr/>
          <p:nvPr/>
        </p:nvSpPr>
        <p:spPr>
          <a:xfrm>
            <a:off x="7223760" y="1207008"/>
            <a:ext cx="219456" cy="219456"/>
          </a:xfrm>
          <a:prstGeom prst="ellipse">
            <a:avLst/>
          </a:prstGeom>
          <a:solidFill>
            <a:srgbClr val="E8620A"/>
          </a:solidFill>
          <a:ln w="12700">
            <a:solidFill>
              <a:srgbClr val="E8620A"/>
            </a:solidFill>
            <a:prstDash val="solid"/>
          </a:ln>
        </p:spPr>
        <p:txBody>
          <a:bodyPr/>
          <a:lstStyle/>
          <a:p>
            <a:endParaRPr lang="en-US"/>
          </a:p>
        </p:txBody>
      </p:sp>
      <p:sp>
        <p:nvSpPr>
          <p:cNvPr id="15" name="Shape 13"/>
          <p:cNvSpPr/>
          <p:nvPr/>
        </p:nvSpPr>
        <p:spPr>
          <a:xfrm>
            <a:off x="7552944" y="1207008"/>
            <a:ext cx="219456" cy="219456"/>
          </a:xfrm>
          <a:prstGeom prst="ellipse">
            <a:avLst/>
          </a:prstGeom>
          <a:solidFill>
            <a:srgbClr val="E8620A"/>
          </a:solidFill>
          <a:ln w="12700">
            <a:solidFill>
              <a:srgbClr val="E8620A"/>
            </a:solidFill>
            <a:prstDash val="solid"/>
          </a:ln>
        </p:spPr>
        <p:txBody>
          <a:bodyPr/>
          <a:lstStyle/>
          <a:p>
            <a:endParaRPr lang="en-US"/>
          </a:p>
        </p:txBody>
      </p:sp>
      <p:sp>
        <p:nvSpPr>
          <p:cNvPr id="16" name="Shape 14"/>
          <p:cNvSpPr/>
          <p:nvPr/>
        </p:nvSpPr>
        <p:spPr>
          <a:xfrm>
            <a:off x="7882128" y="1207008"/>
            <a:ext cx="219456" cy="219456"/>
          </a:xfrm>
          <a:prstGeom prst="ellipse">
            <a:avLst/>
          </a:prstGeom>
          <a:solidFill>
            <a:srgbClr val="E8620A"/>
          </a:solidFill>
          <a:ln w="12700">
            <a:solidFill>
              <a:srgbClr val="E8620A"/>
            </a:solidFill>
            <a:prstDash val="solid"/>
          </a:ln>
        </p:spPr>
        <p:txBody>
          <a:bodyPr/>
          <a:lstStyle/>
          <a:p>
            <a:endParaRPr lang="en-US"/>
          </a:p>
        </p:txBody>
      </p:sp>
      <p:sp>
        <p:nvSpPr>
          <p:cNvPr id="17" name="Text 15"/>
          <p:cNvSpPr/>
          <p:nvPr/>
        </p:nvSpPr>
        <p:spPr>
          <a:xfrm>
            <a:off x="8138160" y="1179576"/>
            <a:ext cx="731520" cy="256032"/>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5 titles</a:t>
            </a:r>
            <a:endParaRPr lang="en-US" sz="1000" dirty="0"/>
          </a:p>
        </p:txBody>
      </p:sp>
      <p:sp>
        <p:nvSpPr>
          <p:cNvPr id="18" name="Text 16"/>
          <p:cNvSpPr/>
          <p:nvPr/>
        </p:nvSpPr>
        <p:spPr>
          <a:xfrm>
            <a:off x="365760" y="1623060"/>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Germany</a:t>
            </a:r>
            <a:endParaRPr lang="en-US" sz="1100" dirty="0"/>
          </a:p>
        </p:txBody>
      </p:sp>
      <p:sp>
        <p:nvSpPr>
          <p:cNvPr id="19" name="Shape 17"/>
          <p:cNvSpPr/>
          <p:nvPr/>
        </p:nvSpPr>
        <p:spPr>
          <a:xfrm>
            <a:off x="1828800" y="1632204"/>
            <a:ext cx="4572000" cy="256032"/>
          </a:xfrm>
          <a:prstGeom prst="rect">
            <a:avLst/>
          </a:prstGeom>
          <a:solidFill>
            <a:srgbClr val="222235"/>
          </a:solidFill>
          <a:ln w="12700">
            <a:solidFill>
              <a:srgbClr val="333355"/>
            </a:solidFill>
            <a:prstDash val="solid"/>
          </a:ln>
        </p:spPr>
        <p:txBody>
          <a:bodyPr/>
          <a:lstStyle/>
          <a:p>
            <a:endParaRPr lang="en-US"/>
          </a:p>
        </p:txBody>
      </p:sp>
      <p:sp>
        <p:nvSpPr>
          <p:cNvPr id="20" name="Shape 18"/>
          <p:cNvSpPr/>
          <p:nvPr/>
        </p:nvSpPr>
        <p:spPr>
          <a:xfrm>
            <a:off x="1828800" y="1632204"/>
            <a:ext cx="3657600" cy="256032"/>
          </a:xfrm>
          <a:prstGeom prst="rect">
            <a:avLst/>
          </a:prstGeom>
          <a:solidFill>
            <a:srgbClr val="F5A623"/>
          </a:solidFill>
          <a:ln w="12700">
            <a:solidFill>
              <a:srgbClr val="F5A623"/>
            </a:solidFill>
            <a:prstDash val="solid"/>
          </a:ln>
        </p:spPr>
        <p:txBody>
          <a:bodyPr/>
          <a:lstStyle/>
          <a:p>
            <a:endParaRPr lang="en-US"/>
          </a:p>
        </p:txBody>
      </p:sp>
      <p:sp>
        <p:nvSpPr>
          <p:cNvPr id="21" name="Shape 19"/>
          <p:cNvSpPr/>
          <p:nvPr/>
        </p:nvSpPr>
        <p:spPr>
          <a:xfrm>
            <a:off x="6565392" y="1659636"/>
            <a:ext cx="219456" cy="219456"/>
          </a:xfrm>
          <a:prstGeom prst="ellipse">
            <a:avLst/>
          </a:prstGeom>
          <a:solidFill>
            <a:srgbClr val="F5A623"/>
          </a:solidFill>
          <a:ln w="12700">
            <a:solidFill>
              <a:srgbClr val="F5A623"/>
            </a:solidFill>
            <a:prstDash val="solid"/>
          </a:ln>
        </p:spPr>
        <p:txBody>
          <a:bodyPr/>
          <a:lstStyle/>
          <a:p>
            <a:endParaRPr lang="en-US"/>
          </a:p>
        </p:txBody>
      </p:sp>
      <p:sp>
        <p:nvSpPr>
          <p:cNvPr id="22" name="Shape 20"/>
          <p:cNvSpPr/>
          <p:nvPr/>
        </p:nvSpPr>
        <p:spPr>
          <a:xfrm>
            <a:off x="6894576" y="1659636"/>
            <a:ext cx="219456" cy="219456"/>
          </a:xfrm>
          <a:prstGeom prst="ellipse">
            <a:avLst/>
          </a:prstGeom>
          <a:solidFill>
            <a:srgbClr val="F5A623"/>
          </a:solidFill>
          <a:ln w="12700">
            <a:solidFill>
              <a:srgbClr val="F5A623"/>
            </a:solidFill>
            <a:prstDash val="solid"/>
          </a:ln>
        </p:spPr>
        <p:txBody>
          <a:bodyPr/>
          <a:lstStyle/>
          <a:p>
            <a:endParaRPr lang="en-US"/>
          </a:p>
        </p:txBody>
      </p:sp>
      <p:sp>
        <p:nvSpPr>
          <p:cNvPr id="23" name="Shape 21"/>
          <p:cNvSpPr/>
          <p:nvPr/>
        </p:nvSpPr>
        <p:spPr>
          <a:xfrm>
            <a:off x="7223760" y="1659636"/>
            <a:ext cx="219456" cy="219456"/>
          </a:xfrm>
          <a:prstGeom prst="ellipse">
            <a:avLst/>
          </a:prstGeom>
          <a:solidFill>
            <a:srgbClr val="F5A623"/>
          </a:solidFill>
          <a:ln w="12700">
            <a:solidFill>
              <a:srgbClr val="F5A623"/>
            </a:solidFill>
            <a:prstDash val="solid"/>
          </a:ln>
        </p:spPr>
        <p:txBody>
          <a:bodyPr/>
          <a:lstStyle/>
          <a:p>
            <a:endParaRPr lang="en-US"/>
          </a:p>
        </p:txBody>
      </p:sp>
      <p:sp>
        <p:nvSpPr>
          <p:cNvPr id="24" name="Shape 22"/>
          <p:cNvSpPr/>
          <p:nvPr/>
        </p:nvSpPr>
        <p:spPr>
          <a:xfrm>
            <a:off x="7552944" y="1659636"/>
            <a:ext cx="219456" cy="219456"/>
          </a:xfrm>
          <a:prstGeom prst="ellipse">
            <a:avLst/>
          </a:prstGeom>
          <a:solidFill>
            <a:srgbClr val="F5A623"/>
          </a:solidFill>
          <a:ln w="12700">
            <a:solidFill>
              <a:srgbClr val="F5A623"/>
            </a:solidFill>
            <a:prstDash val="solid"/>
          </a:ln>
        </p:spPr>
        <p:txBody>
          <a:bodyPr/>
          <a:lstStyle/>
          <a:p>
            <a:endParaRPr lang="en-US"/>
          </a:p>
        </p:txBody>
      </p:sp>
      <p:sp>
        <p:nvSpPr>
          <p:cNvPr id="25" name="Text 23"/>
          <p:cNvSpPr/>
          <p:nvPr/>
        </p:nvSpPr>
        <p:spPr>
          <a:xfrm>
            <a:off x="7808976" y="1632204"/>
            <a:ext cx="731520" cy="256032"/>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4 titles</a:t>
            </a:r>
            <a:endParaRPr lang="en-US" sz="1000" dirty="0"/>
          </a:p>
        </p:txBody>
      </p:sp>
      <p:sp>
        <p:nvSpPr>
          <p:cNvPr id="26" name="Text 24"/>
          <p:cNvSpPr/>
          <p:nvPr/>
        </p:nvSpPr>
        <p:spPr>
          <a:xfrm>
            <a:off x="365760" y="2075688"/>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Italy</a:t>
            </a:r>
            <a:endParaRPr lang="en-US" sz="1100" dirty="0"/>
          </a:p>
        </p:txBody>
      </p:sp>
      <p:sp>
        <p:nvSpPr>
          <p:cNvPr id="27" name="Shape 25"/>
          <p:cNvSpPr/>
          <p:nvPr/>
        </p:nvSpPr>
        <p:spPr>
          <a:xfrm>
            <a:off x="1828800" y="2084832"/>
            <a:ext cx="4572000" cy="256032"/>
          </a:xfrm>
          <a:prstGeom prst="rect">
            <a:avLst/>
          </a:prstGeom>
          <a:solidFill>
            <a:srgbClr val="222235"/>
          </a:solidFill>
          <a:ln w="12700">
            <a:solidFill>
              <a:srgbClr val="333355"/>
            </a:solidFill>
            <a:prstDash val="solid"/>
          </a:ln>
        </p:spPr>
        <p:txBody>
          <a:bodyPr/>
          <a:lstStyle/>
          <a:p>
            <a:endParaRPr lang="en-US"/>
          </a:p>
        </p:txBody>
      </p:sp>
      <p:sp>
        <p:nvSpPr>
          <p:cNvPr id="28" name="Shape 26"/>
          <p:cNvSpPr/>
          <p:nvPr/>
        </p:nvSpPr>
        <p:spPr>
          <a:xfrm>
            <a:off x="1828800" y="2084832"/>
            <a:ext cx="3657600" cy="256032"/>
          </a:xfrm>
          <a:prstGeom prst="rect">
            <a:avLst/>
          </a:prstGeom>
          <a:solidFill>
            <a:srgbClr val="F5A623"/>
          </a:solidFill>
          <a:ln w="12700">
            <a:solidFill>
              <a:srgbClr val="F5A623"/>
            </a:solidFill>
            <a:prstDash val="solid"/>
          </a:ln>
        </p:spPr>
        <p:txBody>
          <a:bodyPr/>
          <a:lstStyle/>
          <a:p>
            <a:endParaRPr lang="en-US"/>
          </a:p>
        </p:txBody>
      </p:sp>
      <p:sp>
        <p:nvSpPr>
          <p:cNvPr id="29" name="Shape 27"/>
          <p:cNvSpPr/>
          <p:nvPr/>
        </p:nvSpPr>
        <p:spPr>
          <a:xfrm>
            <a:off x="6565392" y="2112264"/>
            <a:ext cx="219456" cy="219456"/>
          </a:xfrm>
          <a:prstGeom prst="ellipse">
            <a:avLst/>
          </a:prstGeom>
          <a:solidFill>
            <a:srgbClr val="F5A623"/>
          </a:solidFill>
          <a:ln w="12700">
            <a:solidFill>
              <a:srgbClr val="F5A623"/>
            </a:solidFill>
            <a:prstDash val="solid"/>
          </a:ln>
        </p:spPr>
        <p:txBody>
          <a:bodyPr/>
          <a:lstStyle/>
          <a:p>
            <a:endParaRPr lang="en-US"/>
          </a:p>
        </p:txBody>
      </p:sp>
      <p:sp>
        <p:nvSpPr>
          <p:cNvPr id="30" name="Shape 28"/>
          <p:cNvSpPr/>
          <p:nvPr/>
        </p:nvSpPr>
        <p:spPr>
          <a:xfrm>
            <a:off x="6894576" y="2112264"/>
            <a:ext cx="219456" cy="219456"/>
          </a:xfrm>
          <a:prstGeom prst="ellipse">
            <a:avLst/>
          </a:prstGeom>
          <a:solidFill>
            <a:srgbClr val="F5A623"/>
          </a:solidFill>
          <a:ln w="12700">
            <a:solidFill>
              <a:srgbClr val="F5A623"/>
            </a:solidFill>
            <a:prstDash val="solid"/>
          </a:ln>
        </p:spPr>
        <p:txBody>
          <a:bodyPr/>
          <a:lstStyle/>
          <a:p>
            <a:endParaRPr lang="en-US"/>
          </a:p>
        </p:txBody>
      </p:sp>
      <p:sp>
        <p:nvSpPr>
          <p:cNvPr id="31" name="Shape 29"/>
          <p:cNvSpPr/>
          <p:nvPr/>
        </p:nvSpPr>
        <p:spPr>
          <a:xfrm>
            <a:off x="7223760" y="2112264"/>
            <a:ext cx="219456" cy="219456"/>
          </a:xfrm>
          <a:prstGeom prst="ellipse">
            <a:avLst/>
          </a:prstGeom>
          <a:solidFill>
            <a:srgbClr val="F5A623"/>
          </a:solidFill>
          <a:ln w="12700">
            <a:solidFill>
              <a:srgbClr val="F5A623"/>
            </a:solidFill>
            <a:prstDash val="solid"/>
          </a:ln>
        </p:spPr>
        <p:txBody>
          <a:bodyPr/>
          <a:lstStyle/>
          <a:p>
            <a:endParaRPr lang="en-US"/>
          </a:p>
        </p:txBody>
      </p:sp>
      <p:sp>
        <p:nvSpPr>
          <p:cNvPr id="32" name="Shape 30"/>
          <p:cNvSpPr/>
          <p:nvPr/>
        </p:nvSpPr>
        <p:spPr>
          <a:xfrm>
            <a:off x="7552944" y="2112264"/>
            <a:ext cx="219456" cy="219456"/>
          </a:xfrm>
          <a:prstGeom prst="ellipse">
            <a:avLst/>
          </a:prstGeom>
          <a:solidFill>
            <a:srgbClr val="F5A623"/>
          </a:solidFill>
          <a:ln w="12700">
            <a:solidFill>
              <a:srgbClr val="F5A623"/>
            </a:solidFill>
            <a:prstDash val="solid"/>
          </a:ln>
        </p:spPr>
        <p:txBody>
          <a:bodyPr/>
          <a:lstStyle/>
          <a:p>
            <a:endParaRPr lang="en-US"/>
          </a:p>
        </p:txBody>
      </p:sp>
      <p:sp>
        <p:nvSpPr>
          <p:cNvPr id="33" name="Text 31"/>
          <p:cNvSpPr/>
          <p:nvPr/>
        </p:nvSpPr>
        <p:spPr>
          <a:xfrm>
            <a:off x="7808976" y="2084832"/>
            <a:ext cx="731520" cy="256032"/>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4 titles</a:t>
            </a:r>
            <a:endParaRPr lang="en-US" sz="1000" dirty="0"/>
          </a:p>
        </p:txBody>
      </p:sp>
      <p:sp>
        <p:nvSpPr>
          <p:cNvPr id="34" name="Text 32"/>
          <p:cNvSpPr/>
          <p:nvPr/>
        </p:nvSpPr>
        <p:spPr>
          <a:xfrm>
            <a:off x="365760" y="2528316"/>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Argentina</a:t>
            </a:r>
            <a:endParaRPr lang="en-US" sz="1100" dirty="0"/>
          </a:p>
        </p:txBody>
      </p:sp>
      <p:sp>
        <p:nvSpPr>
          <p:cNvPr id="35" name="Shape 33"/>
          <p:cNvSpPr/>
          <p:nvPr/>
        </p:nvSpPr>
        <p:spPr>
          <a:xfrm>
            <a:off x="1828800" y="2537460"/>
            <a:ext cx="4572000" cy="256032"/>
          </a:xfrm>
          <a:prstGeom prst="rect">
            <a:avLst/>
          </a:prstGeom>
          <a:solidFill>
            <a:srgbClr val="222235"/>
          </a:solidFill>
          <a:ln w="12700">
            <a:solidFill>
              <a:srgbClr val="333355"/>
            </a:solidFill>
            <a:prstDash val="solid"/>
          </a:ln>
        </p:spPr>
        <p:txBody>
          <a:bodyPr/>
          <a:lstStyle/>
          <a:p>
            <a:endParaRPr lang="en-US"/>
          </a:p>
        </p:txBody>
      </p:sp>
      <p:sp>
        <p:nvSpPr>
          <p:cNvPr id="36" name="Shape 34"/>
          <p:cNvSpPr/>
          <p:nvPr/>
        </p:nvSpPr>
        <p:spPr>
          <a:xfrm>
            <a:off x="1828800" y="2537460"/>
            <a:ext cx="2743200" cy="256032"/>
          </a:xfrm>
          <a:prstGeom prst="rect">
            <a:avLst/>
          </a:prstGeom>
          <a:solidFill>
            <a:srgbClr val="F28C28"/>
          </a:solidFill>
          <a:ln w="12700">
            <a:solidFill>
              <a:srgbClr val="F28C28"/>
            </a:solidFill>
            <a:prstDash val="solid"/>
          </a:ln>
        </p:spPr>
        <p:txBody>
          <a:bodyPr/>
          <a:lstStyle/>
          <a:p>
            <a:endParaRPr lang="en-US"/>
          </a:p>
        </p:txBody>
      </p:sp>
      <p:sp>
        <p:nvSpPr>
          <p:cNvPr id="37" name="Shape 35"/>
          <p:cNvSpPr/>
          <p:nvPr/>
        </p:nvSpPr>
        <p:spPr>
          <a:xfrm>
            <a:off x="6565392" y="2564892"/>
            <a:ext cx="219456" cy="219456"/>
          </a:xfrm>
          <a:prstGeom prst="ellipse">
            <a:avLst/>
          </a:prstGeom>
          <a:solidFill>
            <a:srgbClr val="F28C28"/>
          </a:solidFill>
          <a:ln w="12700">
            <a:solidFill>
              <a:srgbClr val="F28C28"/>
            </a:solidFill>
            <a:prstDash val="solid"/>
          </a:ln>
        </p:spPr>
        <p:txBody>
          <a:bodyPr/>
          <a:lstStyle/>
          <a:p>
            <a:endParaRPr lang="en-US"/>
          </a:p>
        </p:txBody>
      </p:sp>
      <p:sp>
        <p:nvSpPr>
          <p:cNvPr id="38" name="Shape 36"/>
          <p:cNvSpPr/>
          <p:nvPr/>
        </p:nvSpPr>
        <p:spPr>
          <a:xfrm>
            <a:off x="6894576" y="2564892"/>
            <a:ext cx="219456" cy="219456"/>
          </a:xfrm>
          <a:prstGeom prst="ellipse">
            <a:avLst/>
          </a:prstGeom>
          <a:solidFill>
            <a:srgbClr val="F28C28"/>
          </a:solidFill>
          <a:ln w="12700">
            <a:solidFill>
              <a:srgbClr val="F28C28"/>
            </a:solidFill>
            <a:prstDash val="solid"/>
          </a:ln>
        </p:spPr>
        <p:txBody>
          <a:bodyPr/>
          <a:lstStyle/>
          <a:p>
            <a:endParaRPr lang="en-US"/>
          </a:p>
        </p:txBody>
      </p:sp>
      <p:sp>
        <p:nvSpPr>
          <p:cNvPr id="39" name="Shape 37"/>
          <p:cNvSpPr/>
          <p:nvPr/>
        </p:nvSpPr>
        <p:spPr>
          <a:xfrm>
            <a:off x="7223760" y="2564892"/>
            <a:ext cx="219456" cy="219456"/>
          </a:xfrm>
          <a:prstGeom prst="ellipse">
            <a:avLst/>
          </a:prstGeom>
          <a:solidFill>
            <a:srgbClr val="F28C28"/>
          </a:solidFill>
          <a:ln w="12700">
            <a:solidFill>
              <a:srgbClr val="F28C28"/>
            </a:solidFill>
            <a:prstDash val="solid"/>
          </a:ln>
        </p:spPr>
        <p:txBody>
          <a:bodyPr/>
          <a:lstStyle/>
          <a:p>
            <a:endParaRPr lang="en-US"/>
          </a:p>
        </p:txBody>
      </p:sp>
      <p:sp>
        <p:nvSpPr>
          <p:cNvPr id="40" name="Text 38"/>
          <p:cNvSpPr/>
          <p:nvPr/>
        </p:nvSpPr>
        <p:spPr>
          <a:xfrm>
            <a:off x="7479792" y="2537460"/>
            <a:ext cx="731520" cy="256032"/>
          </a:xfrm>
          <a:prstGeom prst="rect">
            <a:avLst/>
          </a:prstGeom>
          <a:noFill/>
          <a:ln/>
        </p:spPr>
        <p:txBody>
          <a:bodyPr wrap="square" lIns="0" tIns="0" rIns="0" bIns="0" rtlCol="0" anchor="ctr"/>
          <a:lstStyle/>
          <a:p>
            <a:pPr marL="0" indent="0">
              <a:buNone/>
            </a:pPr>
            <a:r>
              <a:rPr lang="en-US" sz="1000" b="1" dirty="0">
                <a:solidFill>
                  <a:srgbClr val="F28C28"/>
                </a:solidFill>
                <a:latin typeface="Arial" pitchFamily="34" charset="0"/>
                <a:ea typeface="Arial" pitchFamily="34" charset="-122"/>
                <a:cs typeface="Arial" pitchFamily="34" charset="-120"/>
              </a:rPr>
              <a:t>3 titles</a:t>
            </a:r>
            <a:endParaRPr lang="en-US" sz="1000" dirty="0"/>
          </a:p>
        </p:txBody>
      </p:sp>
      <p:sp>
        <p:nvSpPr>
          <p:cNvPr id="41" name="Text 39"/>
          <p:cNvSpPr/>
          <p:nvPr/>
        </p:nvSpPr>
        <p:spPr>
          <a:xfrm>
            <a:off x="365760" y="2980944"/>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France</a:t>
            </a:r>
            <a:endParaRPr lang="en-US" sz="1100" dirty="0"/>
          </a:p>
        </p:txBody>
      </p:sp>
      <p:sp>
        <p:nvSpPr>
          <p:cNvPr id="42" name="Shape 40"/>
          <p:cNvSpPr/>
          <p:nvPr/>
        </p:nvSpPr>
        <p:spPr>
          <a:xfrm>
            <a:off x="1828800" y="2990088"/>
            <a:ext cx="4572000" cy="256032"/>
          </a:xfrm>
          <a:prstGeom prst="rect">
            <a:avLst/>
          </a:prstGeom>
          <a:solidFill>
            <a:srgbClr val="222235"/>
          </a:solidFill>
          <a:ln w="12700">
            <a:solidFill>
              <a:srgbClr val="333355"/>
            </a:solidFill>
            <a:prstDash val="solid"/>
          </a:ln>
        </p:spPr>
        <p:txBody>
          <a:bodyPr/>
          <a:lstStyle/>
          <a:p>
            <a:endParaRPr lang="en-US"/>
          </a:p>
        </p:txBody>
      </p:sp>
      <p:sp>
        <p:nvSpPr>
          <p:cNvPr id="43" name="Shape 41"/>
          <p:cNvSpPr/>
          <p:nvPr/>
        </p:nvSpPr>
        <p:spPr>
          <a:xfrm>
            <a:off x="1828800" y="2990088"/>
            <a:ext cx="1828800" cy="256032"/>
          </a:xfrm>
          <a:prstGeom prst="rect">
            <a:avLst/>
          </a:prstGeom>
          <a:solidFill>
            <a:srgbClr val="888888"/>
          </a:solidFill>
          <a:ln w="12700">
            <a:solidFill>
              <a:srgbClr val="888888"/>
            </a:solidFill>
            <a:prstDash val="solid"/>
          </a:ln>
        </p:spPr>
        <p:txBody>
          <a:bodyPr/>
          <a:lstStyle/>
          <a:p>
            <a:endParaRPr lang="en-US"/>
          </a:p>
        </p:txBody>
      </p:sp>
      <p:sp>
        <p:nvSpPr>
          <p:cNvPr id="44" name="Shape 42"/>
          <p:cNvSpPr/>
          <p:nvPr/>
        </p:nvSpPr>
        <p:spPr>
          <a:xfrm>
            <a:off x="6565392" y="3017520"/>
            <a:ext cx="219456" cy="219456"/>
          </a:xfrm>
          <a:prstGeom prst="ellipse">
            <a:avLst/>
          </a:prstGeom>
          <a:solidFill>
            <a:srgbClr val="888888"/>
          </a:solidFill>
          <a:ln w="12700">
            <a:solidFill>
              <a:srgbClr val="888888"/>
            </a:solidFill>
            <a:prstDash val="solid"/>
          </a:ln>
        </p:spPr>
        <p:txBody>
          <a:bodyPr/>
          <a:lstStyle/>
          <a:p>
            <a:endParaRPr lang="en-US"/>
          </a:p>
        </p:txBody>
      </p:sp>
      <p:sp>
        <p:nvSpPr>
          <p:cNvPr id="45" name="Shape 43"/>
          <p:cNvSpPr/>
          <p:nvPr/>
        </p:nvSpPr>
        <p:spPr>
          <a:xfrm>
            <a:off x="6894576" y="3017520"/>
            <a:ext cx="219456" cy="219456"/>
          </a:xfrm>
          <a:prstGeom prst="ellipse">
            <a:avLst/>
          </a:prstGeom>
          <a:solidFill>
            <a:srgbClr val="888888"/>
          </a:solidFill>
          <a:ln w="12700">
            <a:solidFill>
              <a:srgbClr val="888888"/>
            </a:solidFill>
            <a:prstDash val="solid"/>
          </a:ln>
        </p:spPr>
        <p:txBody>
          <a:bodyPr/>
          <a:lstStyle/>
          <a:p>
            <a:endParaRPr lang="en-US"/>
          </a:p>
        </p:txBody>
      </p:sp>
      <p:sp>
        <p:nvSpPr>
          <p:cNvPr id="46" name="Text 44"/>
          <p:cNvSpPr/>
          <p:nvPr/>
        </p:nvSpPr>
        <p:spPr>
          <a:xfrm>
            <a:off x="7150608" y="2990088"/>
            <a:ext cx="731520" cy="256032"/>
          </a:xfrm>
          <a:prstGeom prst="rect">
            <a:avLst/>
          </a:prstGeom>
          <a:noFill/>
          <a:ln/>
        </p:spPr>
        <p:txBody>
          <a:bodyPr wrap="square" lIns="0" tIns="0" rIns="0" bIns="0" rtlCol="0" anchor="ctr"/>
          <a:lstStyle/>
          <a:p>
            <a:pPr marL="0" indent="0">
              <a:buNone/>
            </a:pPr>
            <a:r>
              <a:rPr lang="en-US" sz="1000" b="1" dirty="0">
                <a:solidFill>
                  <a:srgbClr val="888888"/>
                </a:solidFill>
                <a:latin typeface="Arial" pitchFamily="34" charset="0"/>
                <a:ea typeface="Arial" pitchFamily="34" charset="-122"/>
                <a:cs typeface="Arial" pitchFamily="34" charset="-120"/>
              </a:rPr>
              <a:t>2 titles</a:t>
            </a:r>
            <a:endParaRPr lang="en-US" sz="1000" dirty="0"/>
          </a:p>
        </p:txBody>
      </p:sp>
      <p:sp>
        <p:nvSpPr>
          <p:cNvPr id="47" name="Text 45"/>
          <p:cNvSpPr/>
          <p:nvPr/>
        </p:nvSpPr>
        <p:spPr>
          <a:xfrm>
            <a:off x="365760" y="3433572"/>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Uruguay</a:t>
            </a:r>
            <a:endParaRPr lang="en-US" sz="1100" dirty="0"/>
          </a:p>
        </p:txBody>
      </p:sp>
      <p:sp>
        <p:nvSpPr>
          <p:cNvPr id="48" name="Shape 46"/>
          <p:cNvSpPr/>
          <p:nvPr/>
        </p:nvSpPr>
        <p:spPr>
          <a:xfrm>
            <a:off x="1828800" y="3442716"/>
            <a:ext cx="4572000" cy="256032"/>
          </a:xfrm>
          <a:prstGeom prst="rect">
            <a:avLst/>
          </a:prstGeom>
          <a:solidFill>
            <a:srgbClr val="222235"/>
          </a:solidFill>
          <a:ln w="12700">
            <a:solidFill>
              <a:srgbClr val="333355"/>
            </a:solidFill>
            <a:prstDash val="solid"/>
          </a:ln>
        </p:spPr>
        <p:txBody>
          <a:bodyPr/>
          <a:lstStyle/>
          <a:p>
            <a:endParaRPr lang="en-US"/>
          </a:p>
        </p:txBody>
      </p:sp>
      <p:sp>
        <p:nvSpPr>
          <p:cNvPr id="49" name="Shape 47"/>
          <p:cNvSpPr/>
          <p:nvPr/>
        </p:nvSpPr>
        <p:spPr>
          <a:xfrm>
            <a:off x="1828800" y="3442716"/>
            <a:ext cx="1828800" cy="256032"/>
          </a:xfrm>
          <a:prstGeom prst="rect">
            <a:avLst/>
          </a:prstGeom>
          <a:solidFill>
            <a:srgbClr val="888888"/>
          </a:solidFill>
          <a:ln w="12700">
            <a:solidFill>
              <a:srgbClr val="888888"/>
            </a:solidFill>
            <a:prstDash val="solid"/>
          </a:ln>
        </p:spPr>
        <p:txBody>
          <a:bodyPr/>
          <a:lstStyle/>
          <a:p>
            <a:endParaRPr lang="en-US"/>
          </a:p>
        </p:txBody>
      </p:sp>
      <p:sp>
        <p:nvSpPr>
          <p:cNvPr id="50" name="Shape 48"/>
          <p:cNvSpPr/>
          <p:nvPr/>
        </p:nvSpPr>
        <p:spPr>
          <a:xfrm>
            <a:off x="6565392" y="3470148"/>
            <a:ext cx="219456" cy="219456"/>
          </a:xfrm>
          <a:prstGeom prst="ellipse">
            <a:avLst/>
          </a:prstGeom>
          <a:solidFill>
            <a:srgbClr val="888888"/>
          </a:solidFill>
          <a:ln w="12700">
            <a:solidFill>
              <a:srgbClr val="888888"/>
            </a:solidFill>
            <a:prstDash val="solid"/>
          </a:ln>
        </p:spPr>
        <p:txBody>
          <a:bodyPr/>
          <a:lstStyle/>
          <a:p>
            <a:endParaRPr lang="en-US"/>
          </a:p>
        </p:txBody>
      </p:sp>
      <p:sp>
        <p:nvSpPr>
          <p:cNvPr id="51" name="Shape 49"/>
          <p:cNvSpPr/>
          <p:nvPr/>
        </p:nvSpPr>
        <p:spPr>
          <a:xfrm>
            <a:off x="6894576" y="3470148"/>
            <a:ext cx="219456" cy="219456"/>
          </a:xfrm>
          <a:prstGeom prst="ellipse">
            <a:avLst/>
          </a:prstGeom>
          <a:solidFill>
            <a:srgbClr val="888888"/>
          </a:solidFill>
          <a:ln w="12700">
            <a:solidFill>
              <a:srgbClr val="888888"/>
            </a:solidFill>
            <a:prstDash val="solid"/>
          </a:ln>
        </p:spPr>
        <p:txBody>
          <a:bodyPr/>
          <a:lstStyle/>
          <a:p>
            <a:endParaRPr lang="en-US"/>
          </a:p>
        </p:txBody>
      </p:sp>
      <p:sp>
        <p:nvSpPr>
          <p:cNvPr id="52" name="Text 50"/>
          <p:cNvSpPr/>
          <p:nvPr/>
        </p:nvSpPr>
        <p:spPr>
          <a:xfrm>
            <a:off x="7150608" y="3442716"/>
            <a:ext cx="731520" cy="256032"/>
          </a:xfrm>
          <a:prstGeom prst="rect">
            <a:avLst/>
          </a:prstGeom>
          <a:noFill/>
          <a:ln/>
        </p:spPr>
        <p:txBody>
          <a:bodyPr wrap="square" lIns="0" tIns="0" rIns="0" bIns="0" rtlCol="0" anchor="ctr"/>
          <a:lstStyle/>
          <a:p>
            <a:pPr marL="0" indent="0">
              <a:buNone/>
            </a:pPr>
            <a:r>
              <a:rPr lang="en-US" sz="1000" b="1" dirty="0">
                <a:solidFill>
                  <a:srgbClr val="888888"/>
                </a:solidFill>
                <a:latin typeface="Arial" pitchFamily="34" charset="0"/>
                <a:ea typeface="Arial" pitchFamily="34" charset="-122"/>
                <a:cs typeface="Arial" pitchFamily="34" charset="-120"/>
              </a:rPr>
              <a:t>2 titles</a:t>
            </a:r>
            <a:endParaRPr lang="en-US" sz="1000" dirty="0"/>
          </a:p>
        </p:txBody>
      </p:sp>
      <p:sp>
        <p:nvSpPr>
          <p:cNvPr id="53" name="Text 51"/>
          <p:cNvSpPr/>
          <p:nvPr/>
        </p:nvSpPr>
        <p:spPr>
          <a:xfrm>
            <a:off x="365760" y="3886200"/>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England</a:t>
            </a:r>
            <a:endParaRPr lang="en-US" sz="1100" dirty="0"/>
          </a:p>
        </p:txBody>
      </p:sp>
      <p:sp>
        <p:nvSpPr>
          <p:cNvPr id="54" name="Shape 52"/>
          <p:cNvSpPr/>
          <p:nvPr/>
        </p:nvSpPr>
        <p:spPr>
          <a:xfrm>
            <a:off x="1828800" y="3895344"/>
            <a:ext cx="4572000" cy="256032"/>
          </a:xfrm>
          <a:prstGeom prst="rect">
            <a:avLst/>
          </a:prstGeom>
          <a:solidFill>
            <a:srgbClr val="222235"/>
          </a:solidFill>
          <a:ln w="12700">
            <a:solidFill>
              <a:srgbClr val="333355"/>
            </a:solidFill>
            <a:prstDash val="solid"/>
          </a:ln>
        </p:spPr>
        <p:txBody>
          <a:bodyPr/>
          <a:lstStyle/>
          <a:p>
            <a:endParaRPr lang="en-US"/>
          </a:p>
        </p:txBody>
      </p:sp>
      <p:sp>
        <p:nvSpPr>
          <p:cNvPr id="55" name="Shape 53"/>
          <p:cNvSpPr/>
          <p:nvPr/>
        </p:nvSpPr>
        <p:spPr>
          <a:xfrm>
            <a:off x="1828800" y="3895344"/>
            <a:ext cx="914400" cy="256032"/>
          </a:xfrm>
          <a:prstGeom prst="rect">
            <a:avLst/>
          </a:prstGeom>
          <a:solidFill>
            <a:srgbClr val="555555"/>
          </a:solidFill>
          <a:ln w="12700">
            <a:solidFill>
              <a:srgbClr val="555555"/>
            </a:solidFill>
            <a:prstDash val="solid"/>
          </a:ln>
        </p:spPr>
        <p:txBody>
          <a:bodyPr/>
          <a:lstStyle/>
          <a:p>
            <a:endParaRPr lang="en-US"/>
          </a:p>
        </p:txBody>
      </p:sp>
      <p:sp>
        <p:nvSpPr>
          <p:cNvPr id="56" name="Shape 54"/>
          <p:cNvSpPr/>
          <p:nvPr/>
        </p:nvSpPr>
        <p:spPr>
          <a:xfrm>
            <a:off x="6565392" y="3922776"/>
            <a:ext cx="219456" cy="219456"/>
          </a:xfrm>
          <a:prstGeom prst="ellipse">
            <a:avLst/>
          </a:prstGeom>
          <a:solidFill>
            <a:srgbClr val="555555"/>
          </a:solidFill>
          <a:ln w="12700">
            <a:solidFill>
              <a:srgbClr val="555555"/>
            </a:solidFill>
            <a:prstDash val="solid"/>
          </a:ln>
        </p:spPr>
        <p:txBody>
          <a:bodyPr/>
          <a:lstStyle/>
          <a:p>
            <a:endParaRPr lang="en-US"/>
          </a:p>
        </p:txBody>
      </p:sp>
      <p:sp>
        <p:nvSpPr>
          <p:cNvPr id="57" name="Text 55"/>
          <p:cNvSpPr/>
          <p:nvPr/>
        </p:nvSpPr>
        <p:spPr>
          <a:xfrm>
            <a:off x="6821424" y="3895344"/>
            <a:ext cx="731520" cy="256032"/>
          </a:xfrm>
          <a:prstGeom prst="rect">
            <a:avLst/>
          </a:prstGeom>
          <a:noFill/>
          <a:ln/>
        </p:spPr>
        <p:txBody>
          <a:bodyPr wrap="square" lIns="0" tIns="0" rIns="0" bIns="0" rtlCol="0" anchor="ctr"/>
          <a:lstStyle/>
          <a:p>
            <a:pPr marL="0" indent="0">
              <a:buNone/>
            </a:pPr>
            <a:r>
              <a:rPr lang="en-US" sz="1000" b="1" dirty="0">
                <a:solidFill>
                  <a:srgbClr val="555555"/>
                </a:solidFill>
                <a:latin typeface="Arial" pitchFamily="34" charset="0"/>
                <a:ea typeface="Arial" pitchFamily="34" charset="-122"/>
                <a:cs typeface="Arial" pitchFamily="34" charset="-120"/>
              </a:rPr>
              <a:t>1 title</a:t>
            </a:r>
            <a:endParaRPr lang="en-US" sz="1000" dirty="0"/>
          </a:p>
        </p:txBody>
      </p:sp>
      <p:sp>
        <p:nvSpPr>
          <p:cNvPr id="58" name="Text 56"/>
          <p:cNvSpPr/>
          <p:nvPr/>
        </p:nvSpPr>
        <p:spPr>
          <a:xfrm>
            <a:off x="365760" y="4338828"/>
            <a:ext cx="137160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Spain</a:t>
            </a:r>
            <a:endParaRPr lang="en-US" sz="1100" dirty="0"/>
          </a:p>
        </p:txBody>
      </p:sp>
      <p:sp>
        <p:nvSpPr>
          <p:cNvPr id="59" name="Shape 57"/>
          <p:cNvSpPr/>
          <p:nvPr/>
        </p:nvSpPr>
        <p:spPr>
          <a:xfrm>
            <a:off x="1828800" y="4347972"/>
            <a:ext cx="4572000" cy="256032"/>
          </a:xfrm>
          <a:prstGeom prst="rect">
            <a:avLst/>
          </a:prstGeom>
          <a:solidFill>
            <a:srgbClr val="222235"/>
          </a:solidFill>
          <a:ln w="12700">
            <a:solidFill>
              <a:srgbClr val="333355"/>
            </a:solidFill>
            <a:prstDash val="solid"/>
          </a:ln>
        </p:spPr>
        <p:txBody>
          <a:bodyPr/>
          <a:lstStyle/>
          <a:p>
            <a:endParaRPr lang="en-US"/>
          </a:p>
        </p:txBody>
      </p:sp>
      <p:sp>
        <p:nvSpPr>
          <p:cNvPr id="60" name="Shape 58"/>
          <p:cNvSpPr/>
          <p:nvPr/>
        </p:nvSpPr>
        <p:spPr>
          <a:xfrm>
            <a:off x="1828800" y="4347972"/>
            <a:ext cx="914400" cy="256032"/>
          </a:xfrm>
          <a:prstGeom prst="rect">
            <a:avLst/>
          </a:prstGeom>
          <a:solidFill>
            <a:srgbClr val="555555"/>
          </a:solidFill>
          <a:ln w="12700">
            <a:solidFill>
              <a:srgbClr val="555555"/>
            </a:solidFill>
            <a:prstDash val="solid"/>
          </a:ln>
        </p:spPr>
        <p:txBody>
          <a:bodyPr/>
          <a:lstStyle/>
          <a:p>
            <a:endParaRPr lang="en-US"/>
          </a:p>
        </p:txBody>
      </p:sp>
      <p:sp>
        <p:nvSpPr>
          <p:cNvPr id="61" name="Shape 59"/>
          <p:cNvSpPr/>
          <p:nvPr/>
        </p:nvSpPr>
        <p:spPr>
          <a:xfrm>
            <a:off x="6565392" y="4375404"/>
            <a:ext cx="219456" cy="219456"/>
          </a:xfrm>
          <a:prstGeom prst="ellipse">
            <a:avLst/>
          </a:prstGeom>
          <a:solidFill>
            <a:srgbClr val="555555"/>
          </a:solidFill>
          <a:ln w="12700">
            <a:solidFill>
              <a:srgbClr val="555555"/>
            </a:solidFill>
            <a:prstDash val="solid"/>
          </a:ln>
        </p:spPr>
        <p:txBody>
          <a:bodyPr/>
          <a:lstStyle/>
          <a:p>
            <a:endParaRPr lang="en-US"/>
          </a:p>
        </p:txBody>
      </p:sp>
      <p:sp>
        <p:nvSpPr>
          <p:cNvPr id="62" name="Text 60"/>
          <p:cNvSpPr/>
          <p:nvPr/>
        </p:nvSpPr>
        <p:spPr>
          <a:xfrm>
            <a:off x="6821424" y="4347972"/>
            <a:ext cx="731520" cy="256032"/>
          </a:xfrm>
          <a:prstGeom prst="rect">
            <a:avLst/>
          </a:prstGeom>
          <a:noFill/>
          <a:ln/>
        </p:spPr>
        <p:txBody>
          <a:bodyPr wrap="square" lIns="0" tIns="0" rIns="0" bIns="0" rtlCol="0" anchor="ctr"/>
          <a:lstStyle/>
          <a:p>
            <a:pPr marL="0" indent="0">
              <a:buNone/>
            </a:pPr>
            <a:r>
              <a:rPr lang="en-US" sz="1000" b="1" dirty="0">
                <a:solidFill>
                  <a:srgbClr val="555555"/>
                </a:solidFill>
                <a:latin typeface="Arial" pitchFamily="34" charset="0"/>
                <a:ea typeface="Arial" pitchFamily="34" charset="-122"/>
                <a:cs typeface="Arial" pitchFamily="34" charset="-120"/>
              </a:rPr>
              <a:t>1 title</a:t>
            </a:r>
            <a:endParaRPr lang="en-US" sz="1000" dirty="0"/>
          </a:p>
        </p:txBody>
      </p:sp>
      <p:sp>
        <p:nvSpPr>
          <p:cNvPr id="63" name="Shape 61"/>
          <p:cNvSpPr/>
          <p:nvPr/>
        </p:nvSpPr>
        <p:spPr>
          <a:xfrm>
            <a:off x="365760" y="4663440"/>
            <a:ext cx="8412480" cy="384048"/>
          </a:xfrm>
          <a:prstGeom prst="rect">
            <a:avLst/>
          </a:prstGeom>
          <a:solidFill>
            <a:srgbClr val="0A0A0A"/>
          </a:solidFill>
          <a:ln w="12700">
            <a:solidFill>
              <a:srgbClr val="E8620A"/>
            </a:solidFill>
            <a:prstDash val="solid"/>
          </a:ln>
        </p:spPr>
        <p:txBody>
          <a:bodyPr/>
          <a:lstStyle/>
          <a:p>
            <a:endParaRPr lang="en-US"/>
          </a:p>
        </p:txBody>
      </p:sp>
      <p:sp>
        <p:nvSpPr>
          <p:cNvPr id="64" name="Text 62"/>
          <p:cNvSpPr/>
          <p:nvPr/>
        </p:nvSpPr>
        <p:spPr>
          <a:xfrm>
            <a:off x="548640" y="4681728"/>
            <a:ext cx="8046720" cy="329184"/>
          </a:xfrm>
          <a:prstGeom prst="rect">
            <a:avLst/>
          </a:prstGeom>
          <a:noFill/>
          <a:ln/>
        </p:spPr>
        <p:txBody>
          <a:bodyPr wrap="square" lIns="0" tIns="0" rIns="0" bIns="0" rtlCol="0" anchor="ctr"/>
          <a:lstStyle/>
          <a:p>
            <a:pPr marL="0" indent="0">
              <a:buNone/>
            </a:pPr>
            <a:r>
              <a:rPr lang="en-US" sz="900" b="1" dirty="0">
                <a:solidFill>
                  <a:srgbClr val="E8620A"/>
                </a:solidFill>
                <a:latin typeface="Arial" pitchFamily="34" charset="0"/>
                <a:ea typeface="Arial" pitchFamily="34" charset="-122"/>
                <a:cs typeface="Arial" pitchFamily="34" charset="-120"/>
              </a:rPr>
              <a:t>Notable: </a:t>
            </a:r>
            <a:r>
              <a:rPr lang="en-US" sz="900" dirty="0">
                <a:solidFill>
                  <a:srgbClr val="D0D0D0"/>
                </a:solidFill>
                <a:latin typeface="Arial" pitchFamily="34" charset="0"/>
                <a:ea typeface="Arial" pitchFamily="34" charset="-122"/>
                <a:cs typeface="Arial" pitchFamily="34" charset="-120"/>
              </a:rPr>
              <a:t>Germany (4) includes 2 wins as West Germany (1954, 1974). Argentina's 3rd title came in 2022 under Lionel Messi. Only 8 nations have ever lifted the trophy.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A133DFB-FCFB-63E2-BBAB-2FD5C393F731}"/>
              </a:ext>
            </a:extLst>
          </p:cNvPr>
          <p:cNvPicPr>
            <a:picLocks noChangeAspect="1"/>
          </p:cNvPicPr>
          <p:nvPr/>
        </p:nvPicPr>
        <p:blipFill>
          <a:blip r:embed="rId2"/>
          <a:stretch>
            <a:fillRect/>
          </a:stretch>
        </p:blipFill>
        <p:spPr>
          <a:xfrm>
            <a:off x="249382" y="183502"/>
            <a:ext cx="8645235" cy="4776493"/>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2618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Goals Analysis  |  Scoring Trends 1930 – 2022</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6</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Total Goals Scored Per Tournament — All 22 Editions</a:t>
            </a:r>
            <a:endParaRPr lang="en-US" sz="1300" dirty="0"/>
          </a:p>
        </p:txBody>
      </p:sp>
      <p:sp>
        <p:nvSpPr>
          <p:cNvPr id="9" name="Text 7"/>
          <p:cNvSpPr/>
          <p:nvPr/>
        </p:nvSpPr>
        <p:spPr>
          <a:xfrm>
            <a:off x="365760" y="1078992"/>
            <a:ext cx="502920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Black" pitchFamily="34" charset="0"/>
                <a:ea typeface="Arial Black" pitchFamily="34" charset="-122"/>
                <a:cs typeface="Arial Black" pitchFamily="34" charset="-120"/>
              </a:rPr>
              <a:t>Goals Scored Per Tournament</a:t>
            </a:r>
            <a:endParaRPr lang="en-US" sz="1000" dirty="0"/>
          </a:p>
        </p:txBody>
      </p:sp>
      <p:graphicFrame>
        <p:nvGraphicFramePr>
          <p:cNvPr id="10" name="Chart 0"/>
          <p:cNvGraphicFramePr/>
          <p:nvPr/>
        </p:nvGraphicFramePr>
        <p:xfrm>
          <a:off x="274320" y="1316736"/>
          <a:ext cx="530352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365760" y="3703320"/>
            <a:ext cx="502920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Black" pitchFamily="34" charset="0"/>
                <a:ea typeface="Arial Black" pitchFamily="34" charset="-122"/>
                <a:cs typeface="Arial Black" pitchFamily="34" charset="-120"/>
              </a:rPr>
              <a:t>Matches Played Per Tournament</a:t>
            </a:r>
            <a:endParaRPr lang="en-US" sz="1000" dirty="0"/>
          </a:p>
        </p:txBody>
      </p:sp>
      <p:graphicFrame>
        <p:nvGraphicFramePr>
          <p:cNvPr id="12" name="Chart 1"/>
          <p:cNvGraphicFramePr/>
          <p:nvPr/>
        </p:nvGraphicFramePr>
        <p:xfrm>
          <a:off x="274320" y="3931920"/>
          <a:ext cx="5303520" cy="77724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9"/>
          <p:cNvSpPr/>
          <p:nvPr/>
        </p:nvSpPr>
        <p:spPr>
          <a:xfrm>
            <a:off x="5806440" y="1115568"/>
            <a:ext cx="3017520" cy="749808"/>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4" name="Shape 10"/>
          <p:cNvSpPr/>
          <p:nvPr/>
        </p:nvSpPr>
        <p:spPr>
          <a:xfrm>
            <a:off x="5806440" y="1115568"/>
            <a:ext cx="3017520" cy="50292"/>
          </a:xfrm>
          <a:prstGeom prst="rect">
            <a:avLst/>
          </a:prstGeom>
          <a:solidFill>
            <a:srgbClr val="E8620A"/>
          </a:solidFill>
          <a:ln w="12700">
            <a:solidFill>
              <a:srgbClr val="E8620A"/>
            </a:solidFill>
            <a:prstDash val="solid"/>
          </a:ln>
        </p:spPr>
        <p:txBody>
          <a:bodyPr/>
          <a:lstStyle/>
          <a:p>
            <a:endParaRPr lang="en-US"/>
          </a:p>
        </p:txBody>
      </p:sp>
      <p:sp>
        <p:nvSpPr>
          <p:cNvPr id="15" name="Text 11"/>
          <p:cNvSpPr/>
          <p:nvPr/>
        </p:nvSpPr>
        <p:spPr>
          <a:xfrm>
            <a:off x="5806440" y="1207008"/>
            <a:ext cx="3017520" cy="347472"/>
          </a:xfrm>
          <a:prstGeom prst="rect">
            <a:avLst/>
          </a:prstGeom>
          <a:noFill/>
          <a:ln/>
        </p:spPr>
        <p:txBody>
          <a:bodyPr wrap="square" lIns="0" tIns="0" rIns="0" bIns="0" rtlCol="0" anchor="ctr"/>
          <a:lstStyle/>
          <a:p>
            <a:pPr marL="0" indent="0" algn="ctr">
              <a:buNone/>
            </a:pPr>
            <a:r>
              <a:rPr lang="en-US" sz="2600" b="1" dirty="0">
                <a:solidFill>
                  <a:srgbClr val="E8620A"/>
                </a:solidFill>
                <a:latin typeface="Arial Black" pitchFamily="34" charset="0"/>
                <a:ea typeface="Arial Black" pitchFamily="34" charset="-122"/>
                <a:cs typeface="Arial Black" pitchFamily="34" charset="-120"/>
              </a:rPr>
              <a:t>172</a:t>
            </a:r>
            <a:endParaRPr lang="en-US" sz="2600" dirty="0"/>
          </a:p>
        </p:txBody>
      </p:sp>
      <p:sp>
        <p:nvSpPr>
          <p:cNvPr id="16" name="Text 12"/>
          <p:cNvSpPr/>
          <p:nvPr/>
        </p:nvSpPr>
        <p:spPr>
          <a:xfrm>
            <a:off x="5806440" y="1536192"/>
            <a:ext cx="30175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Goals in 2022</a:t>
            </a:r>
            <a:endParaRPr lang="en-US" sz="900" dirty="0"/>
          </a:p>
        </p:txBody>
      </p:sp>
      <p:sp>
        <p:nvSpPr>
          <p:cNvPr id="17" name="Text 13"/>
          <p:cNvSpPr/>
          <p:nvPr/>
        </p:nvSpPr>
        <p:spPr>
          <a:xfrm>
            <a:off x="5806440" y="1691640"/>
            <a:ext cx="30175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Highest single tournament total</a:t>
            </a:r>
            <a:endParaRPr lang="en-US" sz="750" dirty="0"/>
          </a:p>
        </p:txBody>
      </p:sp>
      <p:sp>
        <p:nvSpPr>
          <p:cNvPr id="18" name="Shape 14"/>
          <p:cNvSpPr/>
          <p:nvPr/>
        </p:nvSpPr>
        <p:spPr>
          <a:xfrm>
            <a:off x="5806440" y="1965960"/>
            <a:ext cx="3017520" cy="749808"/>
          </a:xfrm>
          <a:prstGeom prst="rect">
            <a:avLst/>
          </a:prstGeom>
          <a:solidFill>
            <a:srgbClr val="111827"/>
          </a:solidFill>
          <a:ln w="12700">
            <a:solidFill>
              <a:srgbClr val="E74C3C"/>
            </a:solidFill>
            <a:prstDash val="solid"/>
          </a:ln>
          <a:effectLst>
            <a:outerShdw blurRad="127000" dist="38100" dir="8100000" algn="bl" rotWithShape="0">
              <a:srgbClr val="000000">
                <a:alpha val="35000"/>
              </a:srgbClr>
            </a:outerShdw>
          </a:effectLst>
        </p:spPr>
        <p:txBody>
          <a:bodyPr/>
          <a:lstStyle/>
          <a:p>
            <a:endParaRPr lang="en-US"/>
          </a:p>
        </p:txBody>
      </p:sp>
      <p:sp>
        <p:nvSpPr>
          <p:cNvPr id="19" name="Shape 15"/>
          <p:cNvSpPr/>
          <p:nvPr/>
        </p:nvSpPr>
        <p:spPr>
          <a:xfrm>
            <a:off x="5806440" y="1965960"/>
            <a:ext cx="3017520" cy="50292"/>
          </a:xfrm>
          <a:prstGeom prst="rect">
            <a:avLst/>
          </a:prstGeom>
          <a:solidFill>
            <a:srgbClr val="E74C3C"/>
          </a:solidFill>
          <a:ln w="12700">
            <a:solidFill>
              <a:srgbClr val="E74C3C"/>
            </a:solidFill>
            <a:prstDash val="solid"/>
          </a:ln>
        </p:spPr>
        <p:txBody>
          <a:bodyPr/>
          <a:lstStyle/>
          <a:p>
            <a:endParaRPr lang="en-US"/>
          </a:p>
        </p:txBody>
      </p:sp>
      <p:sp>
        <p:nvSpPr>
          <p:cNvPr id="20" name="Text 16"/>
          <p:cNvSpPr/>
          <p:nvPr/>
        </p:nvSpPr>
        <p:spPr>
          <a:xfrm>
            <a:off x="5806440" y="2057400"/>
            <a:ext cx="3017520" cy="347472"/>
          </a:xfrm>
          <a:prstGeom prst="rect">
            <a:avLst/>
          </a:prstGeom>
          <a:noFill/>
          <a:ln/>
        </p:spPr>
        <p:txBody>
          <a:bodyPr wrap="square" lIns="0" tIns="0" rIns="0" bIns="0" rtlCol="0" anchor="ctr"/>
          <a:lstStyle/>
          <a:p>
            <a:pPr marL="0" indent="0" algn="ctr">
              <a:buNone/>
            </a:pPr>
            <a:r>
              <a:rPr lang="en-US" sz="2600" b="1" dirty="0">
                <a:solidFill>
                  <a:srgbClr val="E74C3C"/>
                </a:solidFill>
                <a:latin typeface="Arial Black" pitchFamily="34" charset="0"/>
                <a:ea typeface="Arial Black" pitchFamily="34" charset="-122"/>
                <a:cs typeface="Arial Black" pitchFamily="34" charset="-120"/>
              </a:rPr>
              <a:t>115</a:t>
            </a:r>
            <a:endParaRPr lang="en-US" sz="2600" dirty="0"/>
          </a:p>
        </p:txBody>
      </p:sp>
      <p:sp>
        <p:nvSpPr>
          <p:cNvPr id="21" name="Text 17"/>
          <p:cNvSpPr/>
          <p:nvPr/>
        </p:nvSpPr>
        <p:spPr>
          <a:xfrm>
            <a:off x="5806440" y="2386584"/>
            <a:ext cx="30175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Goals in 1990</a:t>
            </a:r>
            <a:endParaRPr lang="en-US" sz="900" dirty="0"/>
          </a:p>
        </p:txBody>
      </p:sp>
      <p:sp>
        <p:nvSpPr>
          <p:cNvPr id="22" name="Text 18"/>
          <p:cNvSpPr/>
          <p:nvPr/>
        </p:nvSpPr>
        <p:spPr>
          <a:xfrm>
            <a:off x="5806440" y="2542032"/>
            <a:ext cx="30175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Lowest in modern era (post-1982)</a:t>
            </a:r>
            <a:endParaRPr lang="en-US" sz="750" dirty="0"/>
          </a:p>
        </p:txBody>
      </p:sp>
      <p:sp>
        <p:nvSpPr>
          <p:cNvPr id="23" name="Shape 19"/>
          <p:cNvSpPr/>
          <p:nvPr/>
        </p:nvSpPr>
        <p:spPr>
          <a:xfrm>
            <a:off x="5806440" y="2816352"/>
            <a:ext cx="3017520" cy="749808"/>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24" name="Shape 20"/>
          <p:cNvSpPr/>
          <p:nvPr/>
        </p:nvSpPr>
        <p:spPr>
          <a:xfrm>
            <a:off x="5806440" y="2816352"/>
            <a:ext cx="3017520" cy="50292"/>
          </a:xfrm>
          <a:prstGeom prst="rect">
            <a:avLst/>
          </a:prstGeom>
          <a:solidFill>
            <a:srgbClr val="F5A623"/>
          </a:solidFill>
          <a:ln w="12700">
            <a:solidFill>
              <a:srgbClr val="F5A623"/>
            </a:solidFill>
            <a:prstDash val="solid"/>
          </a:ln>
        </p:spPr>
        <p:txBody>
          <a:bodyPr/>
          <a:lstStyle/>
          <a:p>
            <a:endParaRPr lang="en-US"/>
          </a:p>
        </p:txBody>
      </p:sp>
      <p:sp>
        <p:nvSpPr>
          <p:cNvPr id="25" name="Text 21"/>
          <p:cNvSpPr/>
          <p:nvPr/>
        </p:nvSpPr>
        <p:spPr>
          <a:xfrm>
            <a:off x="5806440" y="2907792"/>
            <a:ext cx="3017520" cy="347472"/>
          </a:xfrm>
          <a:prstGeom prst="rect">
            <a:avLst/>
          </a:prstGeom>
          <a:noFill/>
          <a:ln/>
        </p:spPr>
        <p:txBody>
          <a:bodyPr wrap="square" lIns="0" tIns="0" rIns="0" bIns="0" rtlCol="0" anchor="ctr"/>
          <a:lstStyle/>
          <a:p>
            <a:pPr marL="0" indent="0" algn="ctr">
              <a:buNone/>
            </a:pPr>
            <a:r>
              <a:rPr lang="en-US" sz="2600" b="1" dirty="0">
                <a:solidFill>
                  <a:srgbClr val="F5A623"/>
                </a:solidFill>
                <a:latin typeface="Arial Black" pitchFamily="34" charset="0"/>
                <a:ea typeface="Arial Black" pitchFamily="34" charset="-122"/>
                <a:cs typeface="Arial Black" pitchFamily="34" charset="-120"/>
              </a:rPr>
              <a:t>2,720</a:t>
            </a:r>
            <a:endParaRPr lang="en-US" sz="2600" dirty="0"/>
          </a:p>
        </p:txBody>
      </p:sp>
      <p:sp>
        <p:nvSpPr>
          <p:cNvPr id="26" name="Text 22"/>
          <p:cNvSpPr/>
          <p:nvPr/>
        </p:nvSpPr>
        <p:spPr>
          <a:xfrm>
            <a:off x="5806440" y="3236976"/>
            <a:ext cx="30175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All-Time Goals</a:t>
            </a:r>
            <a:endParaRPr lang="en-US" sz="900" dirty="0"/>
          </a:p>
        </p:txBody>
      </p:sp>
      <p:sp>
        <p:nvSpPr>
          <p:cNvPr id="27" name="Text 23"/>
          <p:cNvSpPr/>
          <p:nvPr/>
        </p:nvSpPr>
        <p:spPr>
          <a:xfrm>
            <a:off x="5806440" y="3392424"/>
            <a:ext cx="30175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Across all 22 tournaments</a:t>
            </a:r>
            <a:endParaRPr lang="en-US" sz="750" dirty="0"/>
          </a:p>
        </p:txBody>
      </p:sp>
      <p:sp>
        <p:nvSpPr>
          <p:cNvPr id="28" name="Shape 24"/>
          <p:cNvSpPr/>
          <p:nvPr/>
        </p:nvSpPr>
        <p:spPr>
          <a:xfrm>
            <a:off x="5806440" y="3666744"/>
            <a:ext cx="3017520" cy="749808"/>
          </a:xfrm>
          <a:prstGeom prst="rect">
            <a:avLst/>
          </a:prstGeom>
          <a:solidFill>
            <a:srgbClr val="111827"/>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29" name="Shape 25"/>
          <p:cNvSpPr/>
          <p:nvPr/>
        </p:nvSpPr>
        <p:spPr>
          <a:xfrm>
            <a:off x="5806440" y="3666744"/>
            <a:ext cx="3017520" cy="50292"/>
          </a:xfrm>
          <a:prstGeom prst="rect">
            <a:avLst/>
          </a:prstGeom>
          <a:solidFill>
            <a:srgbClr val="27AE60"/>
          </a:solidFill>
          <a:ln w="12700">
            <a:solidFill>
              <a:srgbClr val="27AE60"/>
            </a:solidFill>
            <a:prstDash val="solid"/>
          </a:ln>
        </p:spPr>
        <p:txBody>
          <a:bodyPr/>
          <a:lstStyle/>
          <a:p>
            <a:endParaRPr lang="en-US"/>
          </a:p>
        </p:txBody>
      </p:sp>
      <p:sp>
        <p:nvSpPr>
          <p:cNvPr id="30" name="Text 26"/>
          <p:cNvSpPr/>
          <p:nvPr/>
        </p:nvSpPr>
        <p:spPr>
          <a:xfrm>
            <a:off x="5806440" y="3758184"/>
            <a:ext cx="3017520" cy="347472"/>
          </a:xfrm>
          <a:prstGeom prst="rect">
            <a:avLst/>
          </a:prstGeom>
          <a:noFill/>
          <a:ln/>
        </p:spPr>
        <p:txBody>
          <a:bodyPr wrap="square" lIns="0" tIns="0" rIns="0" bIns="0" rtlCol="0" anchor="ctr"/>
          <a:lstStyle/>
          <a:p>
            <a:pPr marL="0" indent="0" algn="ctr">
              <a:buNone/>
            </a:pPr>
            <a:r>
              <a:rPr lang="en-US" sz="2600" b="1" dirty="0">
                <a:solidFill>
                  <a:srgbClr val="27AE60"/>
                </a:solidFill>
                <a:latin typeface="Arial Black" pitchFamily="34" charset="0"/>
                <a:ea typeface="Arial Black" pitchFamily="34" charset="-122"/>
                <a:cs typeface="Arial Black" pitchFamily="34" charset="-120"/>
              </a:rPr>
              <a:t>4.3</a:t>
            </a:r>
            <a:endParaRPr lang="en-US" sz="2600" dirty="0"/>
          </a:p>
        </p:txBody>
      </p:sp>
      <p:sp>
        <p:nvSpPr>
          <p:cNvPr id="31" name="Text 27"/>
          <p:cNvSpPr/>
          <p:nvPr/>
        </p:nvSpPr>
        <p:spPr>
          <a:xfrm>
            <a:off x="5806440" y="4087368"/>
            <a:ext cx="30175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Goals Per Match</a:t>
            </a:r>
            <a:endParaRPr lang="en-US" sz="900" dirty="0"/>
          </a:p>
        </p:txBody>
      </p:sp>
      <p:sp>
        <p:nvSpPr>
          <p:cNvPr id="32" name="Text 28"/>
          <p:cNvSpPr/>
          <p:nvPr/>
        </p:nvSpPr>
        <p:spPr>
          <a:xfrm>
            <a:off x="5806440" y="4242816"/>
            <a:ext cx="30175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Average across all tournaments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Hosting Advantage Analysis  |  Does Home Turf Help?</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7</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Of 22 Tournaments — Host Nations Won Only 5 Times</a:t>
            </a:r>
            <a:endParaRPr lang="en-US" sz="1300" dirty="0"/>
          </a:p>
        </p:txBody>
      </p:sp>
      <p:sp>
        <p:nvSpPr>
          <p:cNvPr id="9" name="Shape 7"/>
          <p:cNvSpPr/>
          <p:nvPr/>
        </p:nvSpPr>
        <p:spPr>
          <a:xfrm>
            <a:off x="320040" y="1115568"/>
            <a:ext cx="2560320" cy="1280160"/>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320040" y="1115568"/>
            <a:ext cx="2560320" cy="54864"/>
          </a:xfrm>
          <a:prstGeom prst="rect">
            <a:avLst/>
          </a:prstGeom>
          <a:solidFill>
            <a:srgbClr val="E8620A"/>
          </a:solidFill>
          <a:ln w="12700">
            <a:solidFill>
              <a:srgbClr val="E8620A"/>
            </a:solidFill>
            <a:prstDash val="solid"/>
          </a:ln>
        </p:spPr>
        <p:txBody>
          <a:bodyPr/>
          <a:lstStyle/>
          <a:p>
            <a:endParaRPr lang="en-US"/>
          </a:p>
        </p:txBody>
      </p:sp>
      <p:sp>
        <p:nvSpPr>
          <p:cNvPr id="11" name="Text 9"/>
          <p:cNvSpPr/>
          <p:nvPr/>
        </p:nvSpPr>
        <p:spPr>
          <a:xfrm>
            <a:off x="320040" y="1207008"/>
            <a:ext cx="2560320" cy="704088"/>
          </a:xfrm>
          <a:prstGeom prst="rect">
            <a:avLst/>
          </a:prstGeom>
          <a:noFill/>
          <a:ln/>
        </p:spPr>
        <p:txBody>
          <a:bodyPr wrap="square" lIns="0" tIns="0" rIns="0" bIns="0" rtlCol="0" anchor="ctr"/>
          <a:lstStyle/>
          <a:p>
            <a:pPr marL="0" indent="0" algn="ctr">
              <a:buNone/>
            </a:pPr>
            <a:r>
              <a:rPr lang="en-US" sz="2800" b="1" dirty="0">
                <a:solidFill>
                  <a:srgbClr val="E8620A"/>
                </a:solidFill>
                <a:latin typeface="Arial Black" pitchFamily="34" charset="0"/>
                <a:ea typeface="Arial Black" pitchFamily="34" charset="-122"/>
                <a:cs typeface="Arial Black" pitchFamily="34" charset="-120"/>
              </a:rPr>
              <a:t>5</a:t>
            </a:r>
            <a:endParaRPr lang="en-US" sz="2800" dirty="0"/>
          </a:p>
        </p:txBody>
      </p:sp>
      <p:sp>
        <p:nvSpPr>
          <p:cNvPr id="12" name="Text 10"/>
          <p:cNvSpPr/>
          <p:nvPr/>
        </p:nvSpPr>
        <p:spPr>
          <a:xfrm>
            <a:off x="320040" y="1883664"/>
            <a:ext cx="2560320" cy="486461"/>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Host Nations Won</a:t>
            </a:r>
            <a:endParaRPr lang="en-US" sz="900" dirty="0"/>
          </a:p>
        </p:txBody>
      </p:sp>
      <p:sp>
        <p:nvSpPr>
          <p:cNvPr id="13" name="Shape 11"/>
          <p:cNvSpPr/>
          <p:nvPr/>
        </p:nvSpPr>
        <p:spPr>
          <a:xfrm>
            <a:off x="3108960" y="1115568"/>
            <a:ext cx="2560320" cy="1280160"/>
          </a:xfrm>
          <a:prstGeom prst="rect">
            <a:avLst/>
          </a:prstGeom>
          <a:solidFill>
            <a:srgbClr val="111827"/>
          </a:solidFill>
          <a:ln w="12700">
            <a:solidFill>
              <a:srgbClr val="E74C3C"/>
            </a:solidFill>
            <a:prstDash val="solid"/>
          </a:ln>
          <a:effectLst>
            <a:outerShdw blurRad="127000" dist="38100" dir="8100000" algn="bl" rotWithShape="0">
              <a:srgbClr val="000000">
                <a:alpha val="35000"/>
              </a:srgbClr>
            </a:outerShdw>
          </a:effectLst>
        </p:spPr>
        <p:txBody>
          <a:bodyPr/>
          <a:lstStyle/>
          <a:p>
            <a:endParaRPr lang="en-US"/>
          </a:p>
        </p:txBody>
      </p:sp>
      <p:sp>
        <p:nvSpPr>
          <p:cNvPr id="14" name="Shape 12"/>
          <p:cNvSpPr/>
          <p:nvPr/>
        </p:nvSpPr>
        <p:spPr>
          <a:xfrm>
            <a:off x="3108960" y="1115568"/>
            <a:ext cx="2560320" cy="54864"/>
          </a:xfrm>
          <a:prstGeom prst="rect">
            <a:avLst/>
          </a:prstGeom>
          <a:solidFill>
            <a:srgbClr val="E74C3C"/>
          </a:solidFill>
          <a:ln w="12700">
            <a:solidFill>
              <a:srgbClr val="E74C3C"/>
            </a:solidFill>
            <a:prstDash val="solid"/>
          </a:ln>
        </p:spPr>
        <p:txBody>
          <a:bodyPr/>
          <a:lstStyle/>
          <a:p>
            <a:endParaRPr lang="en-US"/>
          </a:p>
        </p:txBody>
      </p:sp>
      <p:sp>
        <p:nvSpPr>
          <p:cNvPr id="15" name="Text 13"/>
          <p:cNvSpPr/>
          <p:nvPr/>
        </p:nvSpPr>
        <p:spPr>
          <a:xfrm>
            <a:off x="3108960" y="1207008"/>
            <a:ext cx="2560320" cy="704088"/>
          </a:xfrm>
          <a:prstGeom prst="rect">
            <a:avLst/>
          </a:prstGeom>
          <a:noFill/>
          <a:ln/>
        </p:spPr>
        <p:txBody>
          <a:bodyPr wrap="square" lIns="0" tIns="0" rIns="0" bIns="0" rtlCol="0" anchor="ctr"/>
          <a:lstStyle/>
          <a:p>
            <a:pPr marL="0" indent="0" algn="ctr">
              <a:buNone/>
            </a:pPr>
            <a:r>
              <a:rPr lang="en-US" sz="2800" b="1" dirty="0">
                <a:solidFill>
                  <a:srgbClr val="E74C3C"/>
                </a:solidFill>
                <a:latin typeface="Arial Black" pitchFamily="34" charset="0"/>
                <a:ea typeface="Arial Black" pitchFamily="34" charset="-122"/>
                <a:cs typeface="Arial Black" pitchFamily="34" charset="-120"/>
              </a:rPr>
              <a:t>17</a:t>
            </a:r>
            <a:endParaRPr lang="en-US" sz="2800" dirty="0"/>
          </a:p>
        </p:txBody>
      </p:sp>
      <p:sp>
        <p:nvSpPr>
          <p:cNvPr id="16" name="Text 14"/>
          <p:cNvSpPr/>
          <p:nvPr/>
        </p:nvSpPr>
        <p:spPr>
          <a:xfrm>
            <a:off x="3108960" y="1883664"/>
            <a:ext cx="2560320" cy="486461"/>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Host Nations Lost</a:t>
            </a:r>
            <a:endParaRPr lang="en-US" sz="900" dirty="0"/>
          </a:p>
        </p:txBody>
      </p:sp>
      <p:sp>
        <p:nvSpPr>
          <p:cNvPr id="17" name="Shape 15"/>
          <p:cNvSpPr/>
          <p:nvPr/>
        </p:nvSpPr>
        <p:spPr>
          <a:xfrm>
            <a:off x="5897880" y="1115568"/>
            <a:ext cx="2926080" cy="1280160"/>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18" name="Shape 16"/>
          <p:cNvSpPr/>
          <p:nvPr/>
        </p:nvSpPr>
        <p:spPr>
          <a:xfrm>
            <a:off x="5897880" y="1115568"/>
            <a:ext cx="2926080" cy="54864"/>
          </a:xfrm>
          <a:prstGeom prst="rect">
            <a:avLst/>
          </a:prstGeom>
          <a:solidFill>
            <a:srgbClr val="F5A623"/>
          </a:solidFill>
          <a:ln w="12700">
            <a:solidFill>
              <a:srgbClr val="F5A623"/>
            </a:solidFill>
            <a:prstDash val="solid"/>
          </a:ln>
        </p:spPr>
        <p:txBody>
          <a:bodyPr/>
          <a:lstStyle/>
          <a:p>
            <a:endParaRPr lang="en-US"/>
          </a:p>
        </p:txBody>
      </p:sp>
      <p:sp>
        <p:nvSpPr>
          <p:cNvPr id="19" name="Text 17"/>
          <p:cNvSpPr/>
          <p:nvPr/>
        </p:nvSpPr>
        <p:spPr>
          <a:xfrm>
            <a:off x="5897880" y="1207008"/>
            <a:ext cx="2926080" cy="704088"/>
          </a:xfrm>
          <a:prstGeom prst="rect">
            <a:avLst/>
          </a:prstGeom>
          <a:noFill/>
          <a:ln/>
        </p:spPr>
        <p:txBody>
          <a:bodyPr wrap="square" lIns="0" tIns="0" rIns="0" bIns="0" rtlCol="0" anchor="ctr"/>
          <a:lstStyle/>
          <a:p>
            <a:pPr marL="0" indent="0" algn="ctr">
              <a:buNone/>
            </a:pPr>
            <a:r>
              <a:rPr lang="en-US" sz="2800" b="1" dirty="0">
                <a:solidFill>
                  <a:srgbClr val="F5A623"/>
                </a:solidFill>
                <a:latin typeface="Arial Black" pitchFamily="34" charset="0"/>
                <a:ea typeface="Arial Black" pitchFamily="34" charset="-122"/>
                <a:cs typeface="Arial Black" pitchFamily="34" charset="-120"/>
              </a:rPr>
              <a:t>22.7%</a:t>
            </a:r>
            <a:endParaRPr lang="en-US" sz="2800" dirty="0"/>
          </a:p>
        </p:txBody>
      </p:sp>
      <p:sp>
        <p:nvSpPr>
          <p:cNvPr id="20" name="Text 18"/>
          <p:cNvSpPr/>
          <p:nvPr/>
        </p:nvSpPr>
        <p:spPr>
          <a:xfrm>
            <a:off x="5897880" y="1883664"/>
            <a:ext cx="2926080" cy="486461"/>
          </a:xfrm>
          <a:prstGeom prst="rect">
            <a:avLst/>
          </a:prstGeom>
          <a:noFill/>
          <a:ln/>
        </p:spPr>
        <p:txBody>
          <a:bodyPr wrap="square" lIns="0" tIns="0" rIns="0" bIns="0" rtlCol="0" anchor="ctr"/>
          <a:lstStyle/>
          <a:p>
            <a:pPr marL="0" indent="0" algn="ctr">
              <a:buNone/>
            </a:pPr>
            <a:r>
              <a:rPr lang="en-US" sz="900" dirty="0">
                <a:solidFill>
                  <a:srgbClr val="D0D0D0"/>
                </a:solidFill>
                <a:latin typeface="Arial" pitchFamily="34" charset="0"/>
                <a:ea typeface="Arial" pitchFamily="34" charset="-122"/>
                <a:cs typeface="Arial" pitchFamily="34" charset="-120"/>
              </a:rPr>
              <a:t>Host Win Rate</a:t>
            </a:r>
            <a:endParaRPr lang="en-US" sz="900" dirty="0"/>
          </a:p>
        </p:txBody>
      </p:sp>
      <p:sp>
        <p:nvSpPr>
          <p:cNvPr id="21" name="Text 19"/>
          <p:cNvSpPr/>
          <p:nvPr/>
        </p:nvSpPr>
        <p:spPr>
          <a:xfrm>
            <a:off x="320040" y="2523744"/>
            <a:ext cx="4114800" cy="256032"/>
          </a:xfrm>
          <a:prstGeom prst="rect">
            <a:avLst/>
          </a:prstGeom>
          <a:noFill/>
          <a:ln/>
        </p:spPr>
        <p:txBody>
          <a:bodyPr wrap="square" lIns="0" tIns="0" rIns="0" bIns="0" rtlCol="0" anchor="ctr"/>
          <a:lstStyle/>
          <a:p>
            <a:pPr marL="0" indent="0">
              <a:buNone/>
            </a:pPr>
            <a:r>
              <a:rPr lang="en-US" sz="1000" b="1" dirty="0">
                <a:solidFill>
                  <a:srgbClr val="E8620A"/>
                </a:solidFill>
                <a:latin typeface="Arial Black" pitchFamily="34" charset="0"/>
                <a:ea typeface="Arial Black" pitchFamily="34" charset="-122"/>
                <a:cs typeface="Arial Black" pitchFamily="34" charset="-120"/>
              </a:rPr>
              <a:t>Host Result Breakdown</a:t>
            </a:r>
            <a:endParaRPr lang="en-US" sz="1000" dirty="0"/>
          </a:p>
        </p:txBody>
      </p:sp>
      <p:graphicFrame>
        <p:nvGraphicFramePr>
          <p:cNvPr id="22" name="Chart 0"/>
          <p:cNvGraphicFramePr/>
          <p:nvPr/>
        </p:nvGraphicFramePr>
        <p:xfrm>
          <a:off x="182880" y="2788920"/>
          <a:ext cx="438912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20"/>
          <p:cNvSpPr/>
          <p:nvPr/>
        </p:nvSpPr>
        <p:spPr>
          <a:xfrm>
            <a:off x="4754880" y="2523744"/>
            <a:ext cx="4114800" cy="256032"/>
          </a:xfrm>
          <a:prstGeom prst="rect">
            <a:avLst/>
          </a:prstGeom>
          <a:noFill/>
          <a:ln/>
        </p:spPr>
        <p:txBody>
          <a:bodyPr wrap="square" lIns="0" tIns="0" rIns="0" bIns="0" rtlCol="0" anchor="ctr"/>
          <a:lstStyle/>
          <a:p>
            <a:pPr marL="0" indent="0">
              <a:buNone/>
            </a:pPr>
            <a:r>
              <a:rPr lang="en-US" sz="1000" b="1" dirty="0">
                <a:solidFill>
                  <a:srgbClr val="E8620A"/>
                </a:solidFill>
                <a:latin typeface="Arial Black" pitchFamily="34" charset="0"/>
                <a:ea typeface="Arial Black" pitchFamily="34" charset="-122"/>
                <a:cs typeface="Arial Black" pitchFamily="34" charset="-120"/>
              </a:rPr>
              <a:t>Hosts That Won Their Tournament</a:t>
            </a:r>
            <a:endParaRPr lang="en-US" sz="1000" dirty="0"/>
          </a:p>
        </p:txBody>
      </p:sp>
      <p:sp>
        <p:nvSpPr>
          <p:cNvPr id="24" name="Shape 21"/>
          <p:cNvSpPr/>
          <p:nvPr/>
        </p:nvSpPr>
        <p:spPr>
          <a:xfrm>
            <a:off x="4754880" y="2834640"/>
            <a:ext cx="4023360" cy="329184"/>
          </a:xfrm>
          <a:prstGeom prst="rect">
            <a:avLst/>
          </a:prstGeom>
          <a:solidFill>
            <a:srgbClr val="111827"/>
          </a:solidFill>
          <a:ln w="12700">
            <a:solidFill>
              <a:srgbClr val="E8620A"/>
            </a:solidFill>
            <a:prstDash val="solid"/>
          </a:ln>
        </p:spPr>
        <p:txBody>
          <a:bodyPr/>
          <a:lstStyle/>
          <a:p>
            <a:endParaRPr lang="en-US"/>
          </a:p>
        </p:txBody>
      </p:sp>
      <p:sp>
        <p:nvSpPr>
          <p:cNvPr id="25" name="Text 22"/>
          <p:cNvSpPr/>
          <p:nvPr/>
        </p:nvSpPr>
        <p:spPr>
          <a:xfrm>
            <a:off x="4846320" y="2871216"/>
            <a:ext cx="548640" cy="256032"/>
          </a:xfrm>
          <a:prstGeom prst="rect">
            <a:avLst/>
          </a:prstGeom>
          <a:noFill/>
          <a:ln/>
        </p:spPr>
        <p:txBody>
          <a:bodyPr wrap="square" lIns="0" tIns="0" rIns="0" bIns="0" rtlCol="0" anchor="ctr"/>
          <a:lstStyle/>
          <a:p>
            <a:pPr marL="0" indent="0">
              <a:buNone/>
            </a:pPr>
            <a:r>
              <a:rPr lang="en-US" sz="950" b="1" dirty="0">
                <a:solidFill>
                  <a:srgbClr val="E8620A"/>
                </a:solidFill>
                <a:latin typeface="Arial" pitchFamily="34" charset="0"/>
                <a:ea typeface="Arial" pitchFamily="34" charset="-122"/>
                <a:cs typeface="Arial" pitchFamily="34" charset="-120"/>
              </a:rPr>
              <a:t>1930</a:t>
            </a:r>
            <a:endParaRPr lang="en-US" sz="950" dirty="0"/>
          </a:p>
        </p:txBody>
      </p:sp>
      <p:sp>
        <p:nvSpPr>
          <p:cNvPr id="26" name="Text 23"/>
          <p:cNvSpPr/>
          <p:nvPr/>
        </p:nvSpPr>
        <p:spPr>
          <a:xfrm>
            <a:off x="5394960" y="2871216"/>
            <a:ext cx="128016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Uruguay</a:t>
            </a:r>
            <a:endParaRPr lang="en-US" sz="950" dirty="0"/>
          </a:p>
        </p:txBody>
      </p:sp>
      <p:sp>
        <p:nvSpPr>
          <p:cNvPr id="27" name="Text 24"/>
          <p:cNvSpPr/>
          <p:nvPr/>
        </p:nvSpPr>
        <p:spPr>
          <a:xfrm>
            <a:off x="6675120" y="2880360"/>
            <a:ext cx="2011680" cy="237744"/>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First ever World Cup on home soil</a:t>
            </a:r>
            <a:endParaRPr lang="en-US" sz="750" dirty="0"/>
          </a:p>
        </p:txBody>
      </p:sp>
      <p:sp>
        <p:nvSpPr>
          <p:cNvPr id="28" name="Shape 25"/>
          <p:cNvSpPr/>
          <p:nvPr/>
        </p:nvSpPr>
        <p:spPr>
          <a:xfrm>
            <a:off x="4754880" y="3218688"/>
            <a:ext cx="4023360" cy="329184"/>
          </a:xfrm>
          <a:prstGeom prst="rect">
            <a:avLst/>
          </a:prstGeom>
          <a:solidFill>
            <a:srgbClr val="131320"/>
          </a:solidFill>
          <a:ln w="12700">
            <a:solidFill>
              <a:srgbClr val="E8620A"/>
            </a:solidFill>
            <a:prstDash val="solid"/>
          </a:ln>
        </p:spPr>
        <p:txBody>
          <a:bodyPr/>
          <a:lstStyle/>
          <a:p>
            <a:endParaRPr lang="en-US"/>
          </a:p>
        </p:txBody>
      </p:sp>
      <p:sp>
        <p:nvSpPr>
          <p:cNvPr id="29" name="Text 26"/>
          <p:cNvSpPr/>
          <p:nvPr/>
        </p:nvSpPr>
        <p:spPr>
          <a:xfrm>
            <a:off x="4846320" y="3255264"/>
            <a:ext cx="548640" cy="256032"/>
          </a:xfrm>
          <a:prstGeom prst="rect">
            <a:avLst/>
          </a:prstGeom>
          <a:noFill/>
          <a:ln/>
        </p:spPr>
        <p:txBody>
          <a:bodyPr wrap="square" lIns="0" tIns="0" rIns="0" bIns="0" rtlCol="0" anchor="ctr"/>
          <a:lstStyle/>
          <a:p>
            <a:pPr marL="0" indent="0">
              <a:buNone/>
            </a:pPr>
            <a:r>
              <a:rPr lang="en-US" sz="950" b="1" dirty="0">
                <a:solidFill>
                  <a:srgbClr val="E8620A"/>
                </a:solidFill>
                <a:latin typeface="Arial" pitchFamily="34" charset="0"/>
                <a:ea typeface="Arial" pitchFamily="34" charset="-122"/>
                <a:cs typeface="Arial" pitchFamily="34" charset="-120"/>
              </a:rPr>
              <a:t>1934</a:t>
            </a:r>
            <a:endParaRPr lang="en-US" sz="950" dirty="0"/>
          </a:p>
        </p:txBody>
      </p:sp>
      <p:sp>
        <p:nvSpPr>
          <p:cNvPr id="30" name="Text 27"/>
          <p:cNvSpPr/>
          <p:nvPr/>
        </p:nvSpPr>
        <p:spPr>
          <a:xfrm>
            <a:off x="5394960" y="3255264"/>
            <a:ext cx="128016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Italy</a:t>
            </a:r>
            <a:endParaRPr lang="en-US" sz="950" dirty="0"/>
          </a:p>
        </p:txBody>
      </p:sp>
      <p:sp>
        <p:nvSpPr>
          <p:cNvPr id="31" name="Text 28"/>
          <p:cNvSpPr/>
          <p:nvPr/>
        </p:nvSpPr>
        <p:spPr>
          <a:xfrm>
            <a:off x="6675120" y="3264408"/>
            <a:ext cx="2011680" cy="237744"/>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Mussolini-era Italy dominates at home</a:t>
            </a:r>
            <a:endParaRPr lang="en-US" sz="750" dirty="0"/>
          </a:p>
        </p:txBody>
      </p:sp>
      <p:sp>
        <p:nvSpPr>
          <p:cNvPr id="32" name="Shape 29"/>
          <p:cNvSpPr/>
          <p:nvPr/>
        </p:nvSpPr>
        <p:spPr>
          <a:xfrm>
            <a:off x="4754880" y="3602736"/>
            <a:ext cx="4023360" cy="329184"/>
          </a:xfrm>
          <a:prstGeom prst="rect">
            <a:avLst/>
          </a:prstGeom>
          <a:solidFill>
            <a:srgbClr val="111827"/>
          </a:solidFill>
          <a:ln w="12700">
            <a:solidFill>
              <a:srgbClr val="E8620A"/>
            </a:solidFill>
            <a:prstDash val="solid"/>
          </a:ln>
        </p:spPr>
        <p:txBody>
          <a:bodyPr/>
          <a:lstStyle/>
          <a:p>
            <a:endParaRPr lang="en-US"/>
          </a:p>
        </p:txBody>
      </p:sp>
      <p:sp>
        <p:nvSpPr>
          <p:cNvPr id="33" name="Text 30"/>
          <p:cNvSpPr/>
          <p:nvPr/>
        </p:nvSpPr>
        <p:spPr>
          <a:xfrm>
            <a:off x="4846320" y="3639312"/>
            <a:ext cx="548640" cy="256032"/>
          </a:xfrm>
          <a:prstGeom prst="rect">
            <a:avLst/>
          </a:prstGeom>
          <a:noFill/>
          <a:ln/>
        </p:spPr>
        <p:txBody>
          <a:bodyPr wrap="square" lIns="0" tIns="0" rIns="0" bIns="0" rtlCol="0" anchor="ctr"/>
          <a:lstStyle/>
          <a:p>
            <a:pPr marL="0" indent="0">
              <a:buNone/>
            </a:pPr>
            <a:r>
              <a:rPr lang="en-US" sz="950" b="1" dirty="0">
                <a:solidFill>
                  <a:srgbClr val="E8620A"/>
                </a:solidFill>
                <a:latin typeface="Arial" pitchFamily="34" charset="0"/>
                <a:ea typeface="Arial" pitchFamily="34" charset="-122"/>
                <a:cs typeface="Arial" pitchFamily="34" charset="-120"/>
              </a:rPr>
              <a:t>1966</a:t>
            </a:r>
            <a:endParaRPr lang="en-US" sz="950" dirty="0"/>
          </a:p>
        </p:txBody>
      </p:sp>
      <p:sp>
        <p:nvSpPr>
          <p:cNvPr id="34" name="Text 31"/>
          <p:cNvSpPr/>
          <p:nvPr/>
        </p:nvSpPr>
        <p:spPr>
          <a:xfrm>
            <a:off x="5394960" y="3639312"/>
            <a:ext cx="128016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England</a:t>
            </a:r>
            <a:endParaRPr lang="en-US" sz="950" dirty="0"/>
          </a:p>
        </p:txBody>
      </p:sp>
      <p:sp>
        <p:nvSpPr>
          <p:cNvPr id="35" name="Text 32"/>
          <p:cNvSpPr/>
          <p:nvPr/>
        </p:nvSpPr>
        <p:spPr>
          <a:xfrm>
            <a:off x="6675120" y="3648456"/>
            <a:ext cx="2011680" cy="237744"/>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Only World Cup win in England's history</a:t>
            </a:r>
            <a:endParaRPr lang="en-US" sz="750" dirty="0"/>
          </a:p>
        </p:txBody>
      </p:sp>
      <p:sp>
        <p:nvSpPr>
          <p:cNvPr id="36" name="Shape 33"/>
          <p:cNvSpPr/>
          <p:nvPr/>
        </p:nvSpPr>
        <p:spPr>
          <a:xfrm>
            <a:off x="4754880" y="3986784"/>
            <a:ext cx="4023360" cy="329184"/>
          </a:xfrm>
          <a:prstGeom prst="rect">
            <a:avLst/>
          </a:prstGeom>
          <a:solidFill>
            <a:srgbClr val="131320"/>
          </a:solidFill>
          <a:ln w="12700">
            <a:solidFill>
              <a:srgbClr val="E8620A"/>
            </a:solidFill>
            <a:prstDash val="solid"/>
          </a:ln>
        </p:spPr>
        <p:txBody>
          <a:bodyPr/>
          <a:lstStyle/>
          <a:p>
            <a:endParaRPr lang="en-US"/>
          </a:p>
        </p:txBody>
      </p:sp>
      <p:sp>
        <p:nvSpPr>
          <p:cNvPr id="37" name="Text 34"/>
          <p:cNvSpPr/>
          <p:nvPr/>
        </p:nvSpPr>
        <p:spPr>
          <a:xfrm>
            <a:off x="4846320" y="4023360"/>
            <a:ext cx="548640" cy="256032"/>
          </a:xfrm>
          <a:prstGeom prst="rect">
            <a:avLst/>
          </a:prstGeom>
          <a:noFill/>
          <a:ln/>
        </p:spPr>
        <p:txBody>
          <a:bodyPr wrap="square" lIns="0" tIns="0" rIns="0" bIns="0" rtlCol="0" anchor="ctr"/>
          <a:lstStyle/>
          <a:p>
            <a:pPr marL="0" indent="0">
              <a:buNone/>
            </a:pPr>
            <a:r>
              <a:rPr lang="en-US" sz="950" b="1" dirty="0">
                <a:solidFill>
                  <a:srgbClr val="E8620A"/>
                </a:solidFill>
                <a:latin typeface="Arial" pitchFamily="34" charset="0"/>
                <a:ea typeface="Arial" pitchFamily="34" charset="-122"/>
                <a:cs typeface="Arial" pitchFamily="34" charset="-120"/>
              </a:rPr>
              <a:t>1974</a:t>
            </a:r>
            <a:endParaRPr lang="en-US" sz="950" dirty="0"/>
          </a:p>
        </p:txBody>
      </p:sp>
      <p:sp>
        <p:nvSpPr>
          <p:cNvPr id="38" name="Text 35"/>
          <p:cNvSpPr/>
          <p:nvPr/>
        </p:nvSpPr>
        <p:spPr>
          <a:xfrm>
            <a:off x="5394960" y="4023360"/>
            <a:ext cx="128016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 Germany</a:t>
            </a:r>
            <a:endParaRPr lang="en-US" sz="950" dirty="0"/>
          </a:p>
        </p:txBody>
      </p:sp>
      <p:sp>
        <p:nvSpPr>
          <p:cNvPr id="39" name="Text 36"/>
          <p:cNvSpPr/>
          <p:nvPr/>
        </p:nvSpPr>
        <p:spPr>
          <a:xfrm>
            <a:off x="6675120" y="4032504"/>
            <a:ext cx="2011680" cy="237744"/>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Hosts beat Netherlands 2-1 in the final</a:t>
            </a:r>
            <a:endParaRPr lang="en-US" sz="750" dirty="0"/>
          </a:p>
        </p:txBody>
      </p:sp>
      <p:sp>
        <p:nvSpPr>
          <p:cNvPr id="40" name="Shape 37"/>
          <p:cNvSpPr/>
          <p:nvPr/>
        </p:nvSpPr>
        <p:spPr>
          <a:xfrm>
            <a:off x="4754880" y="4370832"/>
            <a:ext cx="4023360" cy="329184"/>
          </a:xfrm>
          <a:prstGeom prst="rect">
            <a:avLst/>
          </a:prstGeom>
          <a:solidFill>
            <a:srgbClr val="111827"/>
          </a:solidFill>
          <a:ln w="12700">
            <a:solidFill>
              <a:srgbClr val="E8620A"/>
            </a:solidFill>
            <a:prstDash val="solid"/>
          </a:ln>
        </p:spPr>
        <p:txBody>
          <a:bodyPr/>
          <a:lstStyle/>
          <a:p>
            <a:endParaRPr lang="en-US"/>
          </a:p>
        </p:txBody>
      </p:sp>
      <p:sp>
        <p:nvSpPr>
          <p:cNvPr id="41" name="Text 38"/>
          <p:cNvSpPr/>
          <p:nvPr/>
        </p:nvSpPr>
        <p:spPr>
          <a:xfrm>
            <a:off x="4846320" y="4407408"/>
            <a:ext cx="548640" cy="256032"/>
          </a:xfrm>
          <a:prstGeom prst="rect">
            <a:avLst/>
          </a:prstGeom>
          <a:noFill/>
          <a:ln/>
        </p:spPr>
        <p:txBody>
          <a:bodyPr wrap="square" lIns="0" tIns="0" rIns="0" bIns="0" rtlCol="0" anchor="ctr"/>
          <a:lstStyle/>
          <a:p>
            <a:pPr marL="0" indent="0">
              <a:buNone/>
            </a:pPr>
            <a:r>
              <a:rPr lang="en-US" sz="950" b="1" dirty="0">
                <a:solidFill>
                  <a:srgbClr val="E8620A"/>
                </a:solidFill>
                <a:latin typeface="Arial" pitchFamily="34" charset="0"/>
                <a:ea typeface="Arial" pitchFamily="34" charset="-122"/>
                <a:cs typeface="Arial" pitchFamily="34" charset="-120"/>
              </a:rPr>
              <a:t>1998</a:t>
            </a:r>
            <a:endParaRPr lang="en-US" sz="950" dirty="0"/>
          </a:p>
        </p:txBody>
      </p:sp>
      <p:sp>
        <p:nvSpPr>
          <p:cNvPr id="42" name="Text 39"/>
          <p:cNvSpPr/>
          <p:nvPr/>
        </p:nvSpPr>
        <p:spPr>
          <a:xfrm>
            <a:off x="5394960" y="4407408"/>
            <a:ext cx="128016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France</a:t>
            </a:r>
            <a:endParaRPr lang="en-US" sz="950" dirty="0"/>
          </a:p>
        </p:txBody>
      </p:sp>
      <p:sp>
        <p:nvSpPr>
          <p:cNvPr id="43" name="Text 40"/>
          <p:cNvSpPr/>
          <p:nvPr/>
        </p:nvSpPr>
        <p:spPr>
          <a:xfrm>
            <a:off x="6675120" y="4416552"/>
            <a:ext cx="2011680" cy="237744"/>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Zidane's France wins 3-0 vs Brazil</a:t>
            </a:r>
            <a:endParaRPr lang="en-US" sz="750" dirty="0"/>
          </a:p>
        </p:txBody>
      </p:sp>
      <p:sp>
        <p:nvSpPr>
          <p:cNvPr id="44" name="Shape 41"/>
          <p:cNvSpPr/>
          <p:nvPr/>
        </p:nvSpPr>
        <p:spPr>
          <a:xfrm>
            <a:off x="4754880" y="4645152"/>
            <a:ext cx="4023360" cy="365760"/>
          </a:xfrm>
          <a:prstGeom prst="rect">
            <a:avLst/>
          </a:prstGeom>
          <a:solidFill>
            <a:srgbClr val="0A0A0A"/>
          </a:solidFill>
          <a:ln w="12700">
            <a:solidFill>
              <a:srgbClr val="E74C3C"/>
            </a:solidFill>
            <a:prstDash val="solid"/>
          </a:ln>
        </p:spPr>
        <p:txBody>
          <a:bodyPr/>
          <a:lstStyle/>
          <a:p>
            <a:endParaRPr lang="en-US"/>
          </a:p>
        </p:txBody>
      </p:sp>
      <p:sp>
        <p:nvSpPr>
          <p:cNvPr id="45" name="Text 42"/>
          <p:cNvSpPr/>
          <p:nvPr/>
        </p:nvSpPr>
        <p:spPr>
          <a:xfrm>
            <a:off x="4892040" y="4663440"/>
            <a:ext cx="3749040" cy="329184"/>
          </a:xfrm>
          <a:prstGeom prst="rect">
            <a:avLst/>
          </a:prstGeom>
          <a:noFill/>
          <a:ln/>
        </p:spPr>
        <p:txBody>
          <a:bodyPr wrap="square" lIns="0" tIns="0" rIns="0" bIns="0" rtlCol="0" anchor="ctr"/>
          <a:lstStyle/>
          <a:p>
            <a:pPr marL="0" indent="0">
              <a:buNone/>
            </a:pPr>
            <a:r>
              <a:rPr lang="en-US" sz="800" b="1" dirty="0">
                <a:solidFill>
                  <a:srgbClr val="E74C3C"/>
                </a:solidFill>
                <a:latin typeface="Arial" pitchFamily="34" charset="0"/>
                <a:ea typeface="Arial" pitchFamily="34" charset="-122"/>
                <a:cs typeface="Arial" pitchFamily="34" charset="-120"/>
              </a:rPr>
              <a:t>Verdict: </a:t>
            </a:r>
            <a:r>
              <a:rPr lang="en-US" sz="800" dirty="0">
                <a:solidFill>
                  <a:srgbClr val="D0D0D0"/>
                </a:solidFill>
                <a:latin typeface="Arial" pitchFamily="34" charset="0"/>
                <a:ea typeface="Arial" pitchFamily="34" charset="-122"/>
                <a:cs typeface="Arial" pitchFamily="34" charset="-120"/>
              </a:rPr>
              <a:t>Hosting alone does not guarantee success. 77% of host nations failed to win despite home advantage, crowd support and reduced travel.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Attendance Trends  |  How Fan Turnout Has Evolved</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8</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Total Tournament Attendance Has Grown 6× Since 1930</a:t>
            </a:r>
            <a:endParaRPr lang="en-US" sz="1300" dirty="0"/>
          </a:p>
        </p:txBody>
      </p:sp>
      <p:graphicFrame>
        <p:nvGraphicFramePr>
          <p:cNvPr id="9" name="Chart 0"/>
          <p:cNvGraphicFramePr/>
          <p:nvPr/>
        </p:nvGraphicFramePr>
        <p:xfrm>
          <a:off x="274320" y="1078992"/>
          <a:ext cx="58521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6309360" y="1078992"/>
            <a:ext cx="2560320" cy="768096"/>
          </a:xfrm>
          <a:prstGeom prst="rect">
            <a:avLst/>
          </a:prstGeom>
          <a:solidFill>
            <a:srgbClr val="111827"/>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1" name="Shape 8"/>
          <p:cNvSpPr/>
          <p:nvPr/>
        </p:nvSpPr>
        <p:spPr>
          <a:xfrm>
            <a:off x="6309360" y="1078992"/>
            <a:ext cx="2560320" cy="50292"/>
          </a:xfrm>
          <a:prstGeom prst="rect">
            <a:avLst/>
          </a:prstGeom>
          <a:solidFill>
            <a:srgbClr val="E8620A"/>
          </a:solidFill>
          <a:ln w="12700">
            <a:solidFill>
              <a:srgbClr val="E8620A"/>
            </a:solidFill>
            <a:prstDash val="solid"/>
          </a:ln>
        </p:spPr>
        <p:txBody>
          <a:bodyPr/>
          <a:lstStyle/>
          <a:p>
            <a:endParaRPr lang="en-US"/>
          </a:p>
        </p:txBody>
      </p:sp>
      <p:sp>
        <p:nvSpPr>
          <p:cNvPr id="12" name="Text 9"/>
          <p:cNvSpPr/>
          <p:nvPr/>
        </p:nvSpPr>
        <p:spPr>
          <a:xfrm>
            <a:off x="6309360" y="1170432"/>
            <a:ext cx="2560320" cy="347472"/>
          </a:xfrm>
          <a:prstGeom prst="rect">
            <a:avLst/>
          </a:prstGeom>
          <a:noFill/>
          <a:ln/>
        </p:spPr>
        <p:txBody>
          <a:bodyPr wrap="square" lIns="0" tIns="0" rIns="0" bIns="0" rtlCol="0" anchor="ctr"/>
          <a:lstStyle/>
          <a:p>
            <a:pPr marL="0" indent="0" algn="ctr">
              <a:buNone/>
            </a:pPr>
            <a:r>
              <a:rPr lang="en-US" sz="2400" b="1" dirty="0">
                <a:solidFill>
                  <a:srgbClr val="E8620A"/>
                </a:solidFill>
                <a:latin typeface="Arial Black" pitchFamily="34" charset="0"/>
                <a:ea typeface="Arial Black" pitchFamily="34" charset="-122"/>
                <a:cs typeface="Arial Black" pitchFamily="34" charset="-120"/>
              </a:rPr>
              <a:t>3.59M</a:t>
            </a:r>
            <a:endParaRPr lang="en-US" sz="2400" dirty="0"/>
          </a:p>
        </p:txBody>
      </p:sp>
      <p:sp>
        <p:nvSpPr>
          <p:cNvPr id="13" name="Text 10"/>
          <p:cNvSpPr/>
          <p:nvPr/>
        </p:nvSpPr>
        <p:spPr>
          <a:xfrm>
            <a:off x="6309360" y="1517904"/>
            <a:ext cx="25603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1994 USA</a:t>
            </a:r>
            <a:endParaRPr lang="en-US" sz="900" dirty="0"/>
          </a:p>
        </p:txBody>
      </p:sp>
      <p:sp>
        <p:nvSpPr>
          <p:cNvPr id="14" name="Text 11"/>
          <p:cNvSpPr/>
          <p:nvPr/>
        </p:nvSpPr>
        <p:spPr>
          <a:xfrm>
            <a:off x="6309360" y="1673352"/>
            <a:ext cx="25603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All-time record attendance</a:t>
            </a:r>
            <a:endParaRPr lang="en-US" sz="750" dirty="0"/>
          </a:p>
        </p:txBody>
      </p:sp>
      <p:sp>
        <p:nvSpPr>
          <p:cNvPr id="15" name="Shape 12"/>
          <p:cNvSpPr/>
          <p:nvPr/>
        </p:nvSpPr>
        <p:spPr>
          <a:xfrm>
            <a:off x="6309360" y="1956816"/>
            <a:ext cx="2560320" cy="768096"/>
          </a:xfrm>
          <a:prstGeom prst="rect">
            <a:avLst/>
          </a:prstGeom>
          <a:solidFill>
            <a:srgbClr val="111827"/>
          </a:solidFill>
          <a:ln w="12700">
            <a:solidFill>
              <a:srgbClr val="E74C3C"/>
            </a:solidFill>
            <a:prstDash val="solid"/>
          </a:ln>
          <a:effectLst>
            <a:outerShdw blurRad="127000" dist="38100" dir="8100000" algn="bl" rotWithShape="0">
              <a:srgbClr val="000000">
                <a:alpha val="35000"/>
              </a:srgbClr>
            </a:outerShdw>
          </a:effectLst>
        </p:spPr>
        <p:txBody>
          <a:bodyPr/>
          <a:lstStyle/>
          <a:p>
            <a:endParaRPr lang="en-US"/>
          </a:p>
        </p:txBody>
      </p:sp>
      <p:sp>
        <p:nvSpPr>
          <p:cNvPr id="16" name="Shape 13"/>
          <p:cNvSpPr/>
          <p:nvPr/>
        </p:nvSpPr>
        <p:spPr>
          <a:xfrm>
            <a:off x="6309360" y="1956816"/>
            <a:ext cx="2560320" cy="50292"/>
          </a:xfrm>
          <a:prstGeom prst="rect">
            <a:avLst/>
          </a:prstGeom>
          <a:solidFill>
            <a:srgbClr val="E74C3C"/>
          </a:solidFill>
          <a:ln w="12700">
            <a:solidFill>
              <a:srgbClr val="E74C3C"/>
            </a:solidFill>
            <a:prstDash val="solid"/>
          </a:ln>
        </p:spPr>
        <p:txBody>
          <a:bodyPr/>
          <a:lstStyle/>
          <a:p>
            <a:endParaRPr lang="en-US"/>
          </a:p>
        </p:txBody>
      </p:sp>
      <p:sp>
        <p:nvSpPr>
          <p:cNvPr id="17" name="Text 14"/>
          <p:cNvSpPr/>
          <p:nvPr/>
        </p:nvSpPr>
        <p:spPr>
          <a:xfrm>
            <a:off x="6309360" y="2048256"/>
            <a:ext cx="2560320" cy="347472"/>
          </a:xfrm>
          <a:prstGeom prst="rect">
            <a:avLst/>
          </a:prstGeom>
          <a:noFill/>
          <a:ln/>
        </p:spPr>
        <p:txBody>
          <a:bodyPr wrap="square" lIns="0" tIns="0" rIns="0" bIns="0" rtlCol="0" anchor="ctr"/>
          <a:lstStyle/>
          <a:p>
            <a:pPr marL="0" indent="0" algn="ctr">
              <a:buNone/>
            </a:pPr>
            <a:r>
              <a:rPr lang="en-US" sz="2400" b="1" dirty="0">
                <a:solidFill>
                  <a:srgbClr val="E74C3C"/>
                </a:solidFill>
                <a:latin typeface="Arial Black" pitchFamily="34" charset="0"/>
                <a:ea typeface="Arial Black" pitchFamily="34" charset="-122"/>
                <a:cs typeface="Arial Black" pitchFamily="34" charset="-120"/>
              </a:rPr>
              <a:t>363K</a:t>
            </a:r>
            <a:endParaRPr lang="en-US" sz="2400" dirty="0"/>
          </a:p>
        </p:txBody>
      </p:sp>
      <p:sp>
        <p:nvSpPr>
          <p:cNvPr id="18" name="Text 15"/>
          <p:cNvSpPr/>
          <p:nvPr/>
        </p:nvSpPr>
        <p:spPr>
          <a:xfrm>
            <a:off x="6309360" y="2395728"/>
            <a:ext cx="25603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1934 Italy</a:t>
            </a:r>
            <a:endParaRPr lang="en-US" sz="900" dirty="0"/>
          </a:p>
        </p:txBody>
      </p:sp>
      <p:sp>
        <p:nvSpPr>
          <p:cNvPr id="19" name="Text 16"/>
          <p:cNvSpPr/>
          <p:nvPr/>
        </p:nvSpPr>
        <p:spPr>
          <a:xfrm>
            <a:off x="6309360" y="2551176"/>
            <a:ext cx="25603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Lowest total ever recorded</a:t>
            </a:r>
            <a:endParaRPr lang="en-US" sz="750" dirty="0"/>
          </a:p>
        </p:txBody>
      </p:sp>
      <p:sp>
        <p:nvSpPr>
          <p:cNvPr id="20" name="Shape 17"/>
          <p:cNvSpPr/>
          <p:nvPr/>
        </p:nvSpPr>
        <p:spPr>
          <a:xfrm>
            <a:off x="6309360" y="2834640"/>
            <a:ext cx="2560320" cy="768096"/>
          </a:xfrm>
          <a:prstGeom prst="rect">
            <a:avLst/>
          </a:prstGeom>
          <a:solidFill>
            <a:srgbClr val="111827"/>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21" name="Shape 18"/>
          <p:cNvSpPr/>
          <p:nvPr/>
        </p:nvSpPr>
        <p:spPr>
          <a:xfrm>
            <a:off x="6309360" y="2834640"/>
            <a:ext cx="2560320" cy="50292"/>
          </a:xfrm>
          <a:prstGeom prst="rect">
            <a:avLst/>
          </a:prstGeom>
          <a:solidFill>
            <a:srgbClr val="F5A623"/>
          </a:solidFill>
          <a:ln w="12700">
            <a:solidFill>
              <a:srgbClr val="F5A623"/>
            </a:solidFill>
            <a:prstDash val="solid"/>
          </a:ln>
        </p:spPr>
        <p:txBody>
          <a:bodyPr/>
          <a:lstStyle/>
          <a:p>
            <a:endParaRPr lang="en-US"/>
          </a:p>
        </p:txBody>
      </p:sp>
      <p:sp>
        <p:nvSpPr>
          <p:cNvPr id="22" name="Text 19"/>
          <p:cNvSpPr/>
          <p:nvPr/>
        </p:nvSpPr>
        <p:spPr>
          <a:xfrm>
            <a:off x="6309360" y="2926080"/>
            <a:ext cx="2560320" cy="347472"/>
          </a:xfrm>
          <a:prstGeom prst="rect">
            <a:avLst/>
          </a:prstGeom>
          <a:noFill/>
          <a:ln/>
        </p:spPr>
        <p:txBody>
          <a:bodyPr wrap="square" lIns="0" tIns="0" rIns="0" bIns="0" rtlCol="0" anchor="ctr"/>
          <a:lstStyle/>
          <a:p>
            <a:pPr marL="0" indent="0" algn="ctr">
              <a:buNone/>
            </a:pPr>
            <a:r>
              <a:rPr lang="en-US" sz="2400" b="1" dirty="0">
                <a:solidFill>
                  <a:srgbClr val="F5A623"/>
                </a:solidFill>
                <a:latin typeface="Arial Black" pitchFamily="34" charset="0"/>
                <a:ea typeface="Arial Black" pitchFamily="34" charset="-122"/>
                <a:cs typeface="Arial Black" pitchFamily="34" charset="-120"/>
              </a:rPr>
              <a:t>3.40M</a:t>
            </a:r>
            <a:endParaRPr lang="en-US" sz="2400" dirty="0"/>
          </a:p>
        </p:txBody>
      </p:sp>
      <p:sp>
        <p:nvSpPr>
          <p:cNvPr id="23" name="Text 20"/>
          <p:cNvSpPr/>
          <p:nvPr/>
        </p:nvSpPr>
        <p:spPr>
          <a:xfrm>
            <a:off x="6309360" y="3273552"/>
            <a:ext cx="25603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2022 Qatar</a:t>
            </a:r>
            <a:endParaRPr lang="en-US" sz="900" dirty="0"/>
          </a:p>
        </p:txBody>
      </p:sp>
      <p:sp>
        <p:nvSpPr>
          <p:cNvPr id="24" name="Text 21"/>
          <p:cNvSpPr/>
          <p:nvPr/>
        </p:nvSpPr>
        <p:spPr>
          <a:xfrm>
            <a:off x="6309360" y="3429000"/>
            <a:ext cx="25603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Highest in modern era</a:t>
            </a:r>
            <a:endParaRPr lang="en-US" sz="750" dirty="0"/>
          </a:p>
        </p:txBody>
      </p:sp>
      <p:sp>
        <p:nvSpPr>
          <p:cNvPr id="25" name="Shape 22"/>
          <p:cNvSpPr/>
          <p:nvPr/>
        </p:nvSpPr>
        <p:spPr>
          <a:xfrm>
            <a:off x="6309360" y="3712464"/>
            <a:ext cx="2560320" cy="768096"/>
          </a:xfrm>
          <a:prstGeom prst="rect">
            <a:avLst/>
          </a:prstGeom>
          <a:solidFill>
            <a:srgbClr val="111827"/>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26" name="Shape 23"/>
          <p:cNvSpPr/>
          <p:nvPr/>
        </p:nvSpPr>
        <p:spPr>
          <a:xfrm>
            <a:off x="6309360" y="3712464"/>
            <a:ext cx="2560320" cy="50292"/>
          </a:xfrm>
          <a:prstGeom prst="rect">
            <a:avLst/>
          </a:prstGeom>
          <a:solidFill>
            <a:srgbClr val="27AE60"/>
          </a:solidFill>
          <a:ln w="12700">
            <a:solidFill>
              <a:srgbClr val="27AE60"/>
            </a:solidFill>
            <a:prstDash val="solid"/>
          </a:ln>
        </p:spPr>
        <p:txBody>
          <a:bodyPr/>
          <a:lstStyle/>
          <a:p>
            <a:endParaRPr lang="en-US"/>
          </a:p>
        </p:txBody>
      </p:sp>
      <p:sp>
        <p:nvSpPr>
          <p:cNvPr id="27" name="Text 24"/>
          <p:cNvSpPr/>
          <p:nvPr/>
        </p:nvSpPr>
        <p:spPr>
          <a:xfrm>
            <a:off x="6309360" y="3803904"/>
            <a:ext cx="2560320" cy="347472"/>
          </a:xfrm>
          <a:prstGeom prst="rect">
            <a:avLst/>
          </a:prstGeom>
          <a:noFill/>
          <a:ln/>
        </p:spPr>
        <p:txBody>
          <a:bodyPr wrap="square" lIns="0" tIns="0" rIns="0" bIns="0" rtlCol="0" anchor="ctr"/>
          <a:lstStyle/>
          <a:p>
            <a:pPr marL="0" indent="0" algn="ctr">
              <a:buNone/>
            </a:pPr>
            <a:r>
              <a:rPr lang="en-US" sz="2400" b="1" dirty="0">
                <a:solidFill>
                  <a:srgbClr val="27AE60"/>
                </a:solidFill>
                <a:latin typeface="Arial Black" pitchFamily="34" charset="0"/>
                <a:ea typeface="Arial Black" pitchFamily="34" charset="-122"/>
                <a:cs typeface="Arial Black" pitchFamily="34" charset="-120"/>
              </a:rPr>
              <a:t>45.7K</a:t>
            </a:r>
            <a:endParaRPr lang="en-US" sz="2400" dirty="0"/>
          </a:p>
        </p:txBody>
      </p:sp>
      <p:sp>
        <p:nvSpPr>
          <p:cNvPr id="28" name="Text 25"/>
          <p:cNvSpPr/>
          <p:nvPr/>
        </p:nvSpPr>
        <p:spPr>
          <a:xfrm>
            <a:off x="6309360" y="4151376"/>
            <a:ext cx="2560320" cy="16459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Avg/Match</a:t>
            </a:r>
            <a:endParaRPr lang="en-US" sz="900" dirty="0"/>
          </a:p>
        </p:txBody>
      </p:sp>
      <p:sp>
        <p:nvSpPr>
          <p:cNvPr id="29" name="Text 26"/>
          <p:cNvSpPr/>
          <p:nvPr/>
        </p:nvSpPr>
        <p:spPr>
          <a:xfrm>
            <a:off x="6309360" y="4306824"/>
            <a:ext cx="2560320" cy="146304"/>
          </a:xfrm>
          <a:prstGeom prst="rect">
            <a:avLst/>
          </a:prstGeom>
          <a:noFill/>
          <a:ln/>
        </p:spPr>
        <p:txBody>
          <a:bodyPr wrap="square" lIns="0" tIns="0" rIns="0" bIns="0" rtlCol="0" anchor="ctr"/>
          <a:lstStyle/>
          <a:p>
            <a:pPr marL="0" indent="0" algn="ctr">
              <a:buNone/>
            </a:pPr>
            <a:r>
              <a:rPr lang="en-US" sz="750" dirty="0">
                <a:solidFill>
                  <a:srgbClr val="888888"/>
                </a:solidFill>
                <a:latin typeface="Arial" pitchFamily="34" charset="0"/>
                <a:ea typeface="Arial" pitchFamily="34" charset="-122"/>
                <a:cs typeface="Arial" pitchFamily="34" charset="-120"/>
              </a:rPr>
              <a:t>Average across all editions</a:t>
            </a:r>
            <a:endParaRPr lang="en-US" sz="750" dirty="0"/>
          </a:p>
        </p:txBody>
      </p:sp>
      <p:sp>
        <p:nvSpPr>
          <p:cNvPr id="30" name="Shape 27"/>
          <p:cNvSpPr/>
          <p:nvPr/>
        </p:nvSpPr>
        <p:spPr>
          <a:xfrm>
            <a:off x="274320" y="4453128"/>
            <a:ext cx="8595360" cy="329184"/>
          </a:xfrm>
          <a:prstGeom prst="rect">
            <a:avLst/>
          </a:prstGeom>
          <a:solidFill>
            <a:srgbClr val="111827"/>
          </a:solidFill>
          <a:ln w="12700">
            <a:solidFill>
              <a:srgbClr val="E8620A"/>
            </a:solidFill>
            <a:prstDash val="solid"/>
          </a:ln>
        </p:spPr>
        <p:txBody>
          <a:bodyPr/>
          <a:lstStyle/>
          <a:p>
            <a:endParaRPr lang="en-US"/>
          </a:p>
        </p:txBody>
      </p:sp>
      <p:sp>
        <p:nvSpPr>
          <p:cNvPr id="31" name="Text 28"/>
          <p:cNvSpPr/>
          <p:nvPr/>
        </p:nvSpPr>
        <p:spPr>
          <a:xfrm>
            <a:off x="457200" y="4471416"/>
            <a:ext cx="8229600" cy="292608"/>
          </a:xfrm>
          <a:prstGeom prst="rect">
            <a:avLst/>
          </a:prstGeom>
          <a:noFill/>
          <a:ln/>
        </p:spPr>
        <p:txBody>
          <a:bodyPr wrap="square" lIns="0" tIns="0" rIns="0" bIns="0" rtlCol="0" anchor="ctr"/>
          <a:lstStyle/>
          <a:p>
            <a:pPr marL="0" indent="0">
              <a:buNone/>
            </a:pPr>
            <a:r>
              <a:rPr lang="en-US" sz="850" b="1" dirty="0">
                <a:solidFill>
                  <a:srgbClr val="E8620A"/>
                </a:solidFill>
                <a:latin typeface="Arial" pitchFamily="34" charset="0"/>
                <a:ea typeface="Arial" pitchFamily="34" charset="-122"/>
                <a:cs typeface="Arial" pitchFamily="34" charset="-120"/>
              </a:rPr>
              <a:t>Key Trend: </a:t>
            </a:r>
            <a:r>
              <a:rPr lang="en-US" sz="850" dirty="0">
                <a:solidFill>
                  <a:srgbClr val="D0D0D0"/>
                </a:solidFill>
                <a:latin typeface="Arial" pitchFamily="34" charset="0"/>
                <a:ea typeface="Arial" pitchFamily="34" charset="-122"/>
                <a:cs typeface="Arial" pitchFamily="34" charset="-120"/>
              </a:rPr>
              <a:t>Attendance dipped sharply in 2002 (Japan/Korea) and 2010 (South Africa) due to travel costs and stadium capacity constraints — but recovered strongly by 2014 and 2022.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Top Scorers  |  Golden Boot Winners Across the Decades</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9</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Tournament Top Scorers — 1930 to 2022</a:t>
            </a:r>
            <a:endParaRPr lang="en-US" sz="1300" dirty="0"/>
          </a:p>
        </p:txBody>
      </p:sp>
      <p:sp>
        <p:nvSpPr>
          <p:cNvPr id="9" name="Shape 7"/>
          <p:cNvSpPr/>
          <p:nvPr/>
        </p:nvSpPr>
        <p:spPr>
          <a:xfrm>
            <a:off x="274320" y="1097280"/>
            <a:ext cx="4114800" cy="603504"/>
          </a:xfrm>
          <a:prstGeom prst="rect">
            <a:avLst/>
          </a:prstGeom>
          <a:solidFill>
            <a:srgbClr val="111827"/>
          </a:solidFill>
          <a:ln w="12700">
            <a:solidFill>
              <a:srgbClr val="2A2A3E"/>
            </a:solidFill>
            <a:prstDash val="solid"/>
          </a:ln>
        </p:spPr>
        <p:txBody>
          <a:bodyPr/>
          <a:lstStyle/>
          <a:p>
            <a:endParaRPr lang="en-US"/>
          </a:p>
        </p:txBody>
      </p:sp>
      <p:sp>
        <p:nvSpPr>
          <p:cNvPr id="10" name="Shape 8"/>
          <p:cNvSpPr/>
          <p:nvPr/>
        </p:nvSpPr>
        <p:spPr>
          <a:xfrm>
            <a:off x="274320" y="1097280"/>
            <a:ext cx="64008" cy="603504"/>
          </a:xfrm>
          <a:prstGeom prst="rect">
            <a:avLst/>
          </a:prstGeom>
          <a:solidFill>
            <a:srgbClr val="E8620A"/>
          </a:solidFill>
          <a:ln w="12700">
            <a:solidFill>
              <a:srgbClr val="E8620A"/>
            </a:solidFill>
            <a:prstDash val="solid"/>
          </a:ln>
        </p:spPr>
        <p:txBody>
          <a:bodyPr/>
          <a:lstStyle/>
          <a:p>
            <a:endParaRPr lang="en-US"/>
          </a:p>
        </p:txBody>
      </p:sp>
      <p:sp>
        <p:nvSpPr>
          <p:cNvPr id="11" name="Text 9"/>
          <p:cNvSpPr/>
          <p:nvPr/>
        </p:nvSpPr>
        <p:spPr>
          <a:xfrm>
            <a:off x="438912" y="1152144"/>
            <a:ext cx="64008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1930</a:t>
            </a:r>
            <a:endParaRPr lang="en-US" sz="1000" dirty="0"/>
          </a:p>
        </p:txBody>
      </p:sp>
      <p:sp>
        <p:nvSpPr>
          <p:cNvPr id="12" name="Text 10"/>
          <p:cNvSpPr/>
          <p:nvPr/>
        </p:nvSpPr>
        <p:spPr>
          <a:xfrm>
            <a:off x="1097280" y="1152144"/>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Guillermo Stábile</a:t>
            </a:r>
            <a:endParaRPr lang="en-US" sz="1100" dirty="0"/>
          </a:p>
        </p:txBody>
      </p:sp>
      <p:sp>
        <p:nvSpPr>
          <p:cNvPr id="13" name="Text 11"/>
          <p:cNvSpPr/>
          <p:nvPr/>
        </p:nvSpPr>
        <p:spPr>
          <a:xfrm>
            <a:off x="3474720" y="1152144"/>
            <a:ext cx="822960" cy="219456"/>
          </a:xfrm>
          <a:prstGeom prst="rect">
            <a:avLst/>
          </a:prstGeom>
          <a:noFill/>
          <a:ln/>
        </p:spPr>
        <p:txBody>
          <a:bodyPr wrap="square" lIns="0" tIns="0" rIns="0" bIns="0" rtlCol="0" anchor="ctr"/>
          <a:lstStyle/>
          <a:p>
            <a:pPr marL="0" indent="0" algn="r">
              <a:buNone/>
            </a:pPr>
            <a:r>
              <a:rPr lang="en-US" sz="1100" b="1" dirty="0">
                <a:solidFill>
                  <a:srgbClr val="F5A623"/>
                </a:solidFill>
                <a:latin typeface="Arial" pitchFamily="34" charset="0"/>
                <a:ea typeface="Arial" pitchFamily="34" charset="-122"/>
                <a:cs typeface="Arial" pitchFamily="34" charset="-120"/>
              </a:rPr>
              <a:t>8 goals</a:t>
            </a:r>
            <a:endParaRPr lang="en-US" sz="1100" dirty="0"/>
          </a:p>
        </p:txBody>
      </p:sp>
      <p:sp>
        <p:nvSpPr>
          <p:cNvPr id="14" name="Text 12"/>
          <p:cNvSpPr/>
          <p:nvPr/>
        </p:nvSpPr>
        <p:spPr>
          <a:xfrm>
            <a:off x="1097280" y="1389888"/>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Argentina</a:t>
            </a:r>
            <a:endParaRPr lang="en-US" sz="850" dirty="0"/>
          </a:p>
        </p:txBody>
      </p:sp>
      <p:sp>
        <p:nvSpPr>
          <p:cNvPr id="15" name="Shape 13"/>
          <p:cNvSpPr/>
          <p:nvPr/>
        </p:nvSpPr>
        <p:spPr>
          <a:xfrm>
            <a:off x="274320" y="1801368"/>
            <a:ext cx="4114800" cy="603504"/>
          </a:xfrm>
          <a:prstGeom prst="rect">
            <a:avLst/>
          </a:prstGeom>
          <a:solidFill>
            <a:srgbClr val="131320"/>
          </a:solidFill>
          <a:ln w="12700">
            <a:solidFill>
              <a:srgbClr val="2A2A3E"/>
            </a:solidFill>
            <a:prstDash val="solid"/>
          </a:ln>
        </p:spPr>
        <p:txBody>
          <a:bodyPr/>
          <a:lstStyle/>
          <a:p>
            <a:endParaRPr lang="en-US"/>
          </a:p>
        </p:txBody>
      </p:sp>
      <p:sp>
        <p:nvSpPr>
          <p:cNvPr id="16" name="Shape 14"/>
          <p:cNvSpPr/>
          <p:nvPr/>
        </p:nvSpPr>
        <p:spPr>
          <a:xfrm>
            <a:off x="274320" y="1801368"/>
            <a:ext cx="64008" cy="603504"/>
          </a:xfrm>
          <a:prstGeom prst="rect">
            <a:avLst/>
          </a:prstGeom>
          <a:solidFill>
            <a:srgbClr val="E8620A"/>
          </a:solidFill>
          <a:ln w="12700">
            <a:solidFill>
              <a:srgbClr val="E8620A"/>
            </a:solidFill>
            <a:prstDash val="solid"/>
          </a:ln>
        </p:spPr>
        <p:txBody>
          <a:bodyPr/>
          <a:lstStyle/>
          <a:p>
            <a:endParaRPr lang="en-US"/>
          </a:p>
        </p:txBody>
      </p:sp>
      <p:sp>
        <p:nvSpPr>
          <p:cNvPr id="17" name="Text 15"/>
          <p:cNvSpPr/>
          <p:nvPr/>
        </p:nvSpPr>
        <p:spPr>
          <a:xfrm>
            <a:off x="438912" y="1856232"/>
            <a:ext cx="64008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1954</a:t>
            </a:r>
            <a:endParaRPr lang="en-US" sz="1000" dirty="0"/>
          </a:p>
        </p:txBody>
      </p:sp>
      <p:sp>
        <p:nvSpPr>
          <p:cNvPr id="18" name="Text 16"/>
          <p:cNvSpPr/>
          <p:nvPr/>
        </p:nvSpPr>
        <p:spPr>
          <a:xfrm>
            <a:off x="1097280" y="1856232"/>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Sándor Kocsis</a:t>
            </a:r>
            <a:endParaRPr lang="en-US" sz="1100" dirty="0"/>
          </a:p>
        </p:txBody>
      </p:sp>
      <p:sp>
        <p:nvSpPr>
          <p:cNvPr id="19" name="Text 17"/>
          <p:cNvSpPr/>
          <p:nvPr/>
        </p:nvSpPr>
        <p:spPr>
          <a:xfrm>
            <a:off x="3474720" y="1856232"/>
            <a:ext cx="822960" cy="219456"/>
          </a:xfrm>
          <a:prstGeom prst="rect">
            <a:avLst/>
          </a:prstGeom>
          <a:noFill/>
          <a:ln/>
        </p:spPr>
        <p:txBody>
          <a:bodyPr wrap="square" lIns="0" tIns="0" rIns="0" bIns="0" rtlCol="0" anchor="ctr"/>
          <a:lstStyle/>
          <a:p>
            <a:pPr marL="0" indent="0" algn="r">
              <a:buNone/>
            </a:pPr>
            <a:r>
              <a:rPr lang="en-US" sz="1100" b="1" dirty="0">
                <a:solidFill>
                  <a:srgbClr val="F5A623"/>
                </a:solidFill>
                <a:latin typeface="Arial" pitchFamily="34" charset="0"/>
                <a:ea typeface="Arial" pitchFamily="34" charset="-122"/>
                <a:cs typeface="Arial" pitchFamily="34" charset="-120"/>
              </a:rPr>
              <a:t>11 goals</a:t>
            </a:r>
            <a:endParaRPr lang="en-US" sz="1100" dirty="0"/>
          </a:p>
        </p:txBody>
      </p:sp>
      <p:sp>
        <p:nvSpPr>
          <p:cNvPr id="20" name="Text 18"/>
          <p:cNvSpPr/>
          <p:nvPr/>
        </p:nvSpPr>
        <p:spPr>
          <a:xfrm>
            <a:off x="1097280" y="2093976"/>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Hungary</a:t>
            </a:r>
            <a:endParaRPr lang="en-US" sz="850" dirty="0"/>
          </a:p>
        </p:txBody>
      </p:sp>
      <p:sp>
        <p:nvSpPr>
          <p:cNvPr id="21" name="Shape 19"/>
          <p:cNvSpPr/>
          <p:nvPr/>
        </p:nvSpPr>
        <p:spPr>
          <a:xfrm>
            <a:off x="274320" y="2505456"/>
            <a:ext cx="4114800" cy="603504"/>
          </a:xfrm>
          <a:prstGeom prst="rect">
            <a:avLst/>
          </a:prstGeom>
          <a:solidFill>
            <a:srgbClr val="111827"/>
          </a:solidFill>
          <a:ln w="12700">
            <a:solidFill>
              <a:srgbClr val="2A2A3E"/>
            </a:solidFill>
            <a:prstDash val="solid"/>
          </a:ln>
        </p:spPr>
        <p:txBody>
          <a:bodyPr/>
          <a:lstStyle/>
          <a:p>
            <a:endParaRPr lang="en-US"/>
          </a:p>
        </p:txBody>
      </p:sp>
      <p:sp>
        <p:nvSpPr>
          <p:cNvPr id="22" name="Shape 20"/>
          <p:cNvSpPr/>
          <p:nvPr/>
        </p:nvSpPr>
        <p:spPr>
          <a:xfrm>
            <a:off x="274320" y="2505456"/>
            <a:ext cx="64008" cy="603504"/>
          </a:xfrm>
          <a:prstGeom prst="rect">
            <a:avLst/>
          </a:prstGeom>
          <a:solidFill>
            <a:srgbClr val="E8620A"/>
          </a:solidFill>
          <a:ln w="12700">
            <a:solidFill>
              <a:srgbClr val="E8620A"/>
            </a:solidFill>
            <a:prstDash val="solid"/>
          </a:ln>
        </p:spPr>
        <p:txBody>
          <a:bodyPr/>
          <a:lstStyle/>
          <a:p>
            <a:endParaRPr lang="en-US"/>
          </a:p>
        </p:txBody>
      </p:sp>
      <p:sp>
        <p:nvSpPr>
          <p:cNvPr id="23" name="Text 21"/>
          <p:cNvSpPr/>
          <p:nvPr/>
        </p:nvSpPr>
        <p:spPr>
          <a:xfrm>
            <a:off x="438912" y="2560320"/>
            <a:ext cx="64008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1958</a:t>
            </a:r>
            <a:endParaRPr lang="en-US" sz="1000" dirty="0"/>
          </a:p>
        </p:txBody>
      </p:sp>
      <p:sp>
        <p:nvSpPr>
          <p:cNvPr id="24" name="Text 22"/>
          <p:cNvSpPr/>
          <p:nvPr/>
        </p:nvSpPr>
        <p:spPr>
          <a:xfrm>
            <a:off x="1097280" y="2560320"/>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Just Fontaine</a:t>
            </a:r>
            <a:endParaRPr lang="en-US" sz="1100" dirty="0"/>
          </a:p>
        </p:txBody>
      </p:sp>
      <p:sp>
        <p:nvSpPr>
          <p:cNvPr id="25" name="Text 23"/>
          <p:cNvSpPr/>
          <p:nvPr/>
        </p:nvSpPr>
        <p:spPr>
          <a:xfrm>
            <a:off x="3474720" y="2560320"/>
            <a:ext cx="822960" cy="219456"/>
          </a:xfrm>
          <a:prstGeom prst="rect">
            <a:avLst/>
          </a:prstGeom>
          <a:noFill/>
          <a:ln/>
        </p:spPr>
        <p:txBody>
          <a:bodyPr wrap="square" lIns="0" tIns="0" rIns="0" bIns="0" rtlCol="0" anchor="ctr"/>
          <a:lstStyle/>
          <a:p>
            <a:pPr marL="0" indent="0" algn="r">
              <a:buNone/>
            </a:pPr>
            <a:r>
              <a:rPr lang="en-US" sz="1100" b="1" dirty="0">
                <a:solidFill>
                  <a:srgbClr val="F5A623"/>
                </a:solidFill>
                <a:latin typeface="Arial" pitchFamily="34" charset="0"/>
                <a:ea typeface="Arial" pitchFamily="34" charset="-122"/>
                <a:cs typeface="Arial" pitchFamily="34" charset="-120"/>
              </a:rPr>
              <a:t>13 goals</a:t>
            </a:r>
            <a:endParaRPr lang="en-US" sz="1100" dirty="0"/>
          </a:p>
        </p:txBody>
      </p:sp>
      <p:sp>
        <p:nvSpPr>
          <p:cNvPr id="26" name="Text 24"/>
          <p:cNvSpPr/>
          <p:nvPr/>
        </p:nvSpPr>
        <p:spPr>
          <a:xfrm>
            <a:off x="1097280" y="2798064"/>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France</a:t>
            </a:r>
            <a:endParaRPr lang="en-US" sz="850" dirty="0"/>
          </a:p>
        </p:txBody>
      </p:sp>
      <p:sp>
        <p:nvSpPr>
          <p:cNvPr id="27" name="Shape 25"/>
          <p:cNvSpPr/>
          <p:nvPr/>
        </p:nvSpPr>
        <p:spPr>
          <a:xfrm>
            <a:off x="274320" y="3209544"/>
            <a:ext cx="4114800" cy="603504"/>
          </a:xfrm>
          <a:prstGeom prst="rect">
            <a:avLst/>
          </a:prstGeom>
          <a:solidFill>
            <a:srgbClr val="131320"/>
          </a:solidFill>
          <a:ln w="12700">
            <a:solidFill>
              <a:srgbClr val="2A2A3E"/>
            </a:solidFill>
            <a:prstDash val="solid"/>
          </a:ln>
        </p:spPr>
        <p:txBody>
          <a:bodyPr/>
          <a:lstStyle/>
          <a:p>
            <a:endParaRPr lang="en-US"/>
          </a:p>
        </p:txBody>
      </p:sp>
      <p:sp>
        <p:nvSpPr>
          <p:cNvPr id="28" name="Shape 26"/>
          <p:cNvSpPr/>
          <p:nvPr/>
        </p:nvSpPr>
        <p:spPr>
          <a:xfrm>
            <a:off x="274320" y="3209544"/>
            <a:ext cx="64008" cy="603504"/>
          </a:xfrm>
          <a:prstGeom prst="rect">
            <a:avLst/>
          </a:prstGeom>
          <a:solidFill>
            <a:srgbClr val="E8620A"/>
          </a:solidFill>
          <a:ln w="12700">
            <a:solidFill>
              <a:srgbClr val="E8620A"/>
            </a:solidFill>
            <a:prstDash val="solid"/>
          </a:ln>
        </p:spPr>
        <p:txBody>
          <a:bodyPr/>
          <a:lstStyle/>
          <a:p>
            <a:endParaRPr lang="en-US"/>
          </a:p>
        </p:txBody>
      </p:sp>
      <p:sp>
        <p:nvSpPr>
          <p:cNvPr id="29" name="Text 27"/>
          <p:cNvSpPr/>
          <p:nvPr/>
        </p:nvSpPr>
        <p:spPr>
          <a:xfrm>
            <a:off x="438912" y="3264408"/>
            <a:ext cx="64008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1970</a:t>
            </a:r>
            <a:endParaRPr lang="en-US" sz="1000" dirty="0"/>
          </a:p>
        </p:txBody>
      </p:sp>
      <p:sp>
        <p:nvSpPr>
          <p:cNvPr id="30" name="Text 28"/>
          <p:cNvSpPr/>
          <p:nvPr/>
        </p:nvSpPr>
        <p:spPr>
          <a:xfrm>
            <a:off x="1097280" y="3264408"/>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Gerd Müller</a:t>
            </a:r>
            <a:endParaRPr lang="en-US" sz="1100" dirty="0"/>
          </a:p>
        </p:txBody>
      </p:sp>
      <p:sp>
        <p:nvSpPr>
          <p:cNvPr id="31" name="Text 29"/>
          <p:cNvSpPr/>
          <p:nvPr/>
        </p:nvSpPr>
        <p:spPr>
          <a:xfrm>
            <a:off x="3474720" y="3264408"/>
            <a:ext cx="822960" cy="219456"/>
          </a:xfrm>
          <a:prstGeom prst="rect">
            <a:avLst/>
          </a:prstGeom>
          <a:noFill/>
          <a:ln/>
        </p:spPr>
        <p:txBody>
          <a:bodyPr wrap="square" lIns="0" tIns="0" rIns="0" bIns="0" rtlCol="0" anchor="ctr"/>
          <a:lstStyle/>
          <a:p>
            <a:pPr marL="0" indent="0" algn="r">
              <a:buNone/>
            </a:pPr>
            <a:r>
              <a:rPr lang="en-US" sz="1100" b="1" dirty="0">
                <a:solidFill>
                  <a:srgbClr val="F5A623"/>
                </a:solidFill>
                <a:latin typeface="Arial" pitchFamily="34" charset="0"/>
                <a:ea typeface="Arial" pitchFamily="34" charset="-122"/>
                <a:cs typeface="Arial" pitchFamily="34" charset="-120"/>
              </a:rPr>
              <a:t>10 goals</a:t>
            </a:r>
            <a:endParaRPr lang="en-US" sz="1100" dirty="0"/>
          </a:p>
        </p:txBody>
      </p:sp>
      <p:sp>
        <p:nvSpPr>
          <p:cNvPr id="32" name="Text 30"/>
          <p:cNvSpPr/>
          <p:nvPr/>
        </p:nvSpPr>
        <p:spPr>
          <a:xfrm>
            <a:off x="1097280" y="3502152"/>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West Germany</a:t>
            </a:r>
            <a:endParaRPr lang="en-US" sz="850" dirty="0"/>
          </a:p>
        </p:txBody>
      </p:sp>
      <p:sp>
        <p:nvSpPr>
          <p:cNvPr id="33" name="Shape 31"/>
          <p:cNvSpPr/>
          <p:nvPr/>
        </p:nvSpPr>
        <p:spPr>
          <a:xfrm>
            <a:off x="274320" y="3913632"/>
            <a:ext cx="4114800" cy="603504"/>
          </a:xfrm>
          <a:prstGeom prst="rect">
            <a:avLst/>
          </a:prstGeom>
          <a:solidFill>
            <a:srgbClr val="111827"/>
          </a:solidFill>
          <a:ln w="12700">
            <a:solidFill>
              <a:srgbClr val="2A2A3E"/>
            </a:solidFill>
            <a:prstDash val="solid"/>
          </a:ln>
        </p:spPr>
        <p:txBody>
          <a:bodyPr/>
          <a:lstStyle/>
          <a:p>
            <a:endParaRPr lang="en-US"/>
          </a:p>
        </p:txBody>
      </p:sp>
      <p:sp>
        <p:nvSpPr>
          <p:cNvPr id="34" name="Shape 32"/>
          <p:cNvSpPr/>
          <p:nvPr/>
        </p:nvSpPr>
        <p:spPr>
          <a:xfrm>
            <a:off x="274320" y="3913632"/>
            <a:ext cx="64008" cy="603504"/>
          </a:xfrm>
          <a:prstGeom prst="rect">
            <a:avLst/>
          </a:prstGeom>
          <a:solidFill>
            <a:srgbClr val="E8620A"/>
          </a:solidFill>
          <a:ln w="12700">
            <a:solidFill>
              <a:srgbClr val="E8620A"/>
            </a:solidFill>
            <a:prstDash val="solid"/>
          </a:ln>
        </p:spPr>
        <p:txBody>
          <a:bodyPr/>
          <a:lstStyle/>
          <a:p>
            <a:endParaRPr lang="en-US"/>
          </a:p>
        </p:txBody>
      </p:sp>
      <p:sp>
        <p:nvSpPr>
          <p:cNvPr id="35" name="Text 33"/>
          <p:cNvSpPr/>
          <p:nvPr/>
        </p:nvSpPr>
        <p:spPr>
          <a:xfrm>
            <a:off x="438912" y="3968496"/>
            <a:ext cx="640080" cy="219456"/>
          </a:xfrm>
          <a:prstGeom prst="rect">
            <a:avLst/>
          </a:prstGeom>
          <a:noFill/>
          <a:ln/>
        </p:spPr>
        <p:txBody>
          <a:bodyPr wrap="square" lIns="0" tIns="0" rIns="0" bIns="0" rtlCol="0" anchor="ctr"/>
          <a:lstStyle/>
          <a:p>
            <a:pPr marL="0" indent="0">
              <a:buNone/>
            </a:pPr>
            <a:r>
              <a:rPr lang="en-US" sz="1000" b="1" dirty="0">
                <a:solidFill>
                  <a:srgbClr val="E8620A"/>
                </a:solidFill>
                <a:latin typeface="Arial" pitchFamily="34" charset="0"/>
                <a:ea typeface="Arial" pitchFamily="34" charset="-122"/>
                <a:cs typeface="Arial" pitchFamily="34" charset="-120"/>
              </a:rPr>
              <a:t>1990</a:t>
            </a:r>
            <a:endParaRPr lang="en-US" sz="1000" dirty="0"/>
          </a:p>
        </p:txBody>
      </p:sp>
      <p:sp>
        <p:nvSpPr>
          <p:cNvPr id="36" name="Text 34"/>
          <p:cNvSpPr/>
          <p:nvPr/>
        </p:nvSpPr>
        <p:spPr>
          <a:xfrm>
            <a:off x="1097280" y="3968496"/>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Salvatore Schillaci</a:t>
            </a:r>
            <a:endParaRPr lang="en-US" sz="1100" dirty="0"/>
          </a:p>
        </p:txBody>
      </p:sp>
      <p:sp>
        <p:nvSpPr>
          <p:cNvPr id="37" name="Text 35"/>
          <p:cNvSpPr/>
          <p:nvPr/>
        </p:nvSpPr>
        <p:spPr>
          <a:xfrm>
            <a:off x="3474720" y="3968496"/>
            <a:ext cx="822960" cy="219456"/>
          </a:xfrm>
          <a:prstGeom prst="rect">
            <a:avLst/>
          </a:prstGeom>
          <a:noFill/>
          <a:ln/>
        </p:spPr>
        <p:txBody>
          <a:bodyPr wrap="square" lIns="0" tIns="0" rIns="0" bIns="0" rtlCol="0" anchor="ctr"/>
          <a:lstStyle/>
          <a:p>
            <a:pPr marL="0" indent="0" algn="r">
              <a:buNone/>
            </a:pPr>
            <a:r>
              <a:rPr lang="en-US" sz="1100" b="1" dirty="0">
                <a:solidFill>
                  <a:srgbClr val="F5A623"/>
                </a:solidFill>
                <a:latin typeface="Arial" pitchFamily="34" charset="0"/>
                <a:ea typeface="Arial" pitchFamily="34" charset="-122"/>
                <a:cs typeface="Arial" pitchFamily="34" charset="-120"/>
              </a:rPr>
              <a:t>6 goals</a:t>
            </a:r>
            <a:endParaRPr lang="en-US" sz="1100" dirty="0"/>
          </a:p>
        </p:txBody>
      </p:sp>
      <p:sp>
        <p:nvSpPr>
          <p:cNvPr id="38" name="Text 36"/>
          <p:cNvSpPr/>
          <p:nvPr/>
        </p:nvSpPr>
        <p:spPr>
          <a:xfrm>
            <a:off x="1097280" y="4206240"/>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Italy</a:t>
            </a:r>
            <a:endParaRPr lang="en-US" sz="850" dirty="0"/>
          </a:p>
        </p:txBody>
      </p:sp>
      <p:sp>
        <p:nvSpPr>
          <p:cNvPr id="39" name="Shape 37"/>
          <p:cNvSpPr/>
          <p:nvPr/>
        </p:nvSpPr>
        <p:spPr>
          <a:xfrm>
            <a:off x="4754880" y="1097280"/>
            <a:ext cx="4114800" cy="603504"/>
          </a:xfrm>
          <a:prstGeom prst="rect">
            <a:avLst/>
          </a:prstGeom>
          <a:solidFill>
            <a:srgbClr val="111827"/>
          </a:solidFill>
          <a:ln w="12700">
            <a:solidFill>
              <a:srgbClr val="2A2A3E"/>
            </a:solidFill>
            <a:prstDash val="solid"/>
          </a:ln>
        </p:spPr>
        <p:txBody>
          <a:bodyPr/>
          <a:lstStyle/>
          <a:p>
            <a:endParaRPr lang="en-US"/>
          </a:p>
        </p:txBody>
      </p:sp>
      <p:sp>
        <p:nvSpPr>
          <p:cNvPr id="40" name="Shape 38"/>
          <p:cNvSpPr/>
          <p:nvPr/>
        </p:nvSpPr>
        <p:spPr>
          <a:xfrm>
            <a:off x="4754880" y="1097280"/>
            <a:ext cx="64008" cy="603504"/>
          </a:xfrm>
          <a:prstGeom prst="rect">
            <a:avLst/>
          </a:prstGeom>
          <a:solidFill>
            <a:srgbClr val="F5A623"/>
          </a:solidFill>
          <a:ln w="12700">
            <a:solidFill>
              <a:srgbClr val="F5A623"/>
            </a:solidFill>
            <a:prstDash val="solid"/>
          </a:ln>
        </p:spPr>
        <p:txBody>
          <a:bodyPr/>
          <a:lstStyle/>
          <a:p>
            <a:endParaRPr lang="en-US"/>
          </a:p>
        </p:txBody>
      </p:sp>
      <p:sp>
        <p:nvSpPr>
          <p:cNvPr id="41" name="Text 39"/>
          <p:cNvSpPr/>
          <p:nvPr/>
        </p:nvSpPr>
        <p:spPr>
          <a:xfrm>
            <a:off x="4919472" y="1152144"/>
            <a:ext cx="64008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2002</a:t>
            </a:r>
            <a:endParaRPr lang="en-US" sz="1000" dirty="0"/>
          </a:p>
        </p:txBody>
      </p:sp>
      <p:sp>
        <p:nvSpPr>
          <p:cNvPr id="42" name="Text 40"/>
          <p:cNvSpPr/>
          <p:nvPr/>
        </p:nvSpPr>
        <p:spPr>
          <a:xfrm>
            <a:off x="5577840" y="1152144"/>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Ronaldo</a:t>
            </a:r>
            <a:endParaRPr lang="en-US" sz="1100" dirty="0"/>
          </a:p>
        </p:txBody>
      </p:sp>
      <p:sp>
        <p:nvSpPr>
          <p:cNvPr id="43" name="Text 41"/>
          <p:cNvSpPr/>
          <p:nvPr/>
        </p:nvSpPr>
        <p:spPr>
          <a:xfrm>
            <a:off x="7955280" y="1152144"/>
            <a:ext cx="822960" cy="219456"/>
          </a:xfrm>
          <a:prstGeom prst="rect">
            <a:avLst/>
          </a:prstGeom>
          <a:noFill/>
          <a:ln/>
        </p:spPr>
        <p:txBody>
          <a:bodyPr wrap="square" lIns="0" tIns="0" rIns="0" bIns="0" rtlCol="0" anchor="ctr"/>
          <a:lstStyle/>
          <a:p>
            <a:pPr marL="0" indent="0" algn="r">
              <a:buNone/>
            </a:pPr>
            <a:r>
              <a:rPr lang="en-US" sz="1100" b="1" dirty="0">
                <a:solidFill>
                  <a:srgbClr val="E8620A"/>
                </a:solidFill>
                <a:latin typeface="Arial" pitchFamily="34" charset="0"/>
                <a:ea typeface="Arial" pitchFamily="34" charset="-122"/>
                <a:cs typeface="Arial" pitchFamily="34" charset="-120"/>
              </a:rPr>
              <a:t>8 goals</a:t>
            </a:r>
            <a:endParaRPr lang="en-US" sz="1100" dirty="0"/>
          </a:p>
        </p:txBody>
      </p:sp>
      <p:sp>
        <p:nvSpPr>
          <p:cNvPr id="44" name="Text 42"/>
          <p:cNvSpPr/>
          <p:nvPr/>
        </p:nvSpPr>
        <p:spPr>
          <a:xfrm>
            <a:off x="5577840" y="1389888"/>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Brazil</a:t>
            </a:r>
            <a:endParaRPr lang="en-US" sz="850" dirty="0"/>
          </a:p>
        </p:txBody>
      </p:sp>
      <p:sp>
        <p:nvSpPr>
          <p:cNvPr id="45" name="Shape 43"/>
          <p:cNvSpPr/>
          <p:nvPr/>
        </p:nvSpPr>
        <p:spPr>
          <a:xfrm>
            <a:off x="4754880" y="1801368"/>
            <a:ext cx="4114800" cy="603504"/>
          </a:xfrm>
          <a:prstGeom prst="rect">
            <a:avLst/>
          </a:prstGeom>
          <a:solidFill>
            <a:srgbClr val="131320"/>
          </a:solidFill>
          <a:ln w="12700">
            <a:solidFill>
              <a:srgbClr val="2A2A3E"/>
            </a:solidFill>
            <a:prstDash val="solid"/>
          </a:ln>
        </p:spPr>
        <p:txBody>
          <a:bodyPr/>
          <a:lstStyle/>
          <a:p>
            <a:endParaRPr lang="en-US"/>
          </a:p>
        </p:txBody>
      </p:sp>
      <p:sp>
        <p:nvSpPr>
          <p:cNvPr id="46" name="Shape 44"/>
          <p:cNvSpPr/>
          <p:nvPr/>
        </p:nvSpPr>
        <p:spPr>
          <a:xfrm>
            <a:off x="4754880" y="1801368"/>
            <a:ext cx="64008" cy="603504"/>
          </a:xfrm>
          <a:prstGeom prst="rect">
            <a:avLst/>
          </a:prstGeom>
          <a:solidFill>
            <a:srgbClr val="F5A623"/>
          </a:solidFill>
          <a:ln w="12700">
            <a:solidFill>
              <a:srgbClr val="F5A623"/>
            </a:solidFill>
            <a:prstDash val="solid"/>
          </a:ln>
        </p:spPr>
        <p:txBody>
          <a:bodyPr/>
          <a:lstStyle/>
          <a:p>
            <a:endParaRPr lang="en-US"/>
          </a:p>
        </p:txBody>
      </p:sp>
      <p:sp>
        <p:nvSpPr>
          <p:cNvPr id="47" name="Text 45"/>
          <p:cNvSpPr/>
          <p:nvPr/>
        </p:nvSpPr>
        <p:spPr>
          <a:xfrm>
            <a:off x="4919472" y="1856232"/>
            <a:ext cx="64008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2006</a:t>
            </a:r>
            <a:endParaRPr lang="en-US" sz="1000" dirty="0"/>
          </a:p>
        </p:txBody>
      </p:sp>
      <p:sp>
        <p:nvSpPr>
          <p:cNvPr id="48" name="Text 46"/>
          <p:cNvSpPr/>
          <p:nvPr/>
        </p:nvSpPr>
        <p:spPr>
          <a:xfrm>
            <a:off x="5577840" y="1856232"/>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Miroslav Klose</a:t>
            </a:r>
            <a:endParaRPr lang="en-US" sz="1100" dirty="0"/>
          </a:p>
        </p:txBody>
      </p:sp>
      <p:sp>
        <p:nvSpPr>
          <p:cNvPr id="49" name="Text 47"/>
          <p:cNvSpPr/>
          <p:nvPr/>
        </p:nvSpPr>
        <p:spPr>
          <a:xfrm>
            <a:off x="7955280" y="1856232"/>
            <a:ext cx="822960" cy="219456"/>
          </a:xfrm>
          <a:prstGeom prst="rect">
            <a:avLst/>
          </a:prstGeom>
          <a:noFill/>
          <a:ln/>
        </p:spPr>
        <p:txBody>
          <a:bodyPr wrap="square" lIns="0" tIns="0" rIns="0" bIns="0" rtlCol="0" anchor="ctr"/>
          <a:lstStyle/>
          <a:p>
            <a:pPr marL="0" indent="0" algn="r">
              <a:buNone/>
            </a:pPr>
            <a:r>
              <a:rPr lang="en-US" sz="1100" b="1" dirty="0">
                <a:solidFill>
                  <a:srgbClr val="E8620A"/>
                </a:solidFill>
                <a:latin typeface="Arial" pitchFamily="34" charset="0"/>
                <a:ea typeface="Arial" pitchFamily="34" charset="-122"/>
                <a:cs typeface="Arial" pitchFamily="34" charset="-120"/>
              </a:rPr>
              <a:t>5 goals</a:t>
            </a:r>
            <a:endParaRPr lang="en-US" sz="1100" dirty="0"/>
          </a:p>
        </p:txBody>
      </p:sp>
      <p:sp>
        <p:nvSpPr>
          <p:cNvPr id="50" name="Text 48"/>
          <p:cNvSpPr/>
          <p:nvPr/>
        </p:nvSpPr>
        <p:spPr>
          <a:xfrm>
            <a:off x="5577840" y="2093976"/>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Germany</a:t>
            </a:r>
            <a:endParaRPr lang="en-US" sz="850" dirty="0"/>
          </a:p>
        </p:txBody>
      </p:sp>
      <p:sp>
        <p:nvSpPr>
          <p:cNvPr id="51" name="Shape 49"/>
          <p:cNvSpPr/>
          <p:nvPr/>
        </p:nvSpPr>
        <p:spPr>
          <a:xfrm>
            <a:off x="4754880" y="2505456"/>
            <a:ext cx="4114800" cy="603504"/>
          </a:xfrm>
          <a:prstGeom prst="rect">
            <a:avLst/>
          </a:prstGeom>
          <a:solidFill>
            <a:srgbClr val="111827"/>
          </a:solidFill>
          <a:ln w="12700">
            <a:solidFill>
              <a:srgbClr val="2A2A3E"/>
            </a:solidFill>
            <a:prstDash val="solid"/>
          </a:ln>
        </p:spPr>
        <p:txBody>
          <a:bodyPr/>
          <a:lstStyle/>
          <a:p>
            <a:endParaRPr lang="en-US"/>
          </a:p>
        </p:txBody>
      </p:sp>
      <p:sp>
        <p:nvSpPr>
          <p:cNvPr id="52" name="Shape 50"/>
          <p:cNvSpPr/>
          <p:nvPr/>
        </p:nvSpPr>
        <p:spPr>
          <a:xfrm>
            <a:off x="4754880" y="2505456"/>
            <a:ext cx="64008" cy="603504"/>
          </a:xfrm>
          <a:prstGeom prst="rect">
            <a:avLst/>
          </a:prstGeom>
          <a:solidFill>
            <a:srgbClr val="F5A623"/>
          </a:solidFill>
          <a:ln w="12700">
            <a:solidFill>
              <a:srgbClr val="F5A623"/>
            </a:solidFill>
            <a:prstDash val="solid"/>
          </a:ln>
        </p:spPr>
        <p:txBody>
          <a:bodyPr/>
          <a:lstStyle/>
          <a:p>
            <a:endParaRPr lang="en-US"/>
          </a:p>
        </p:txBody>
      </p:sp>
      <p:sp>
        <p:nvSpPr>
          <p:cNvPr id="53" name="Text 51"/>
          <p:cNvSpPr/>
          <p:nvPr/>
        </p:nvSpPr>
        <p:spPr>
          <a:xfrm>
            <a:off x="4919472" y="2560320"/>
            <a:ext cx="64008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2014</a:t>
            </a:r>
            <a:endParaRPr lang="en-US" sz="1000" dirty="0"/>
          </a:p>
        </p:txBody>
      </p:sp>
      <p:sp>
        <p:nvSpPr>
          <p:cNvPr id="54" name="Text 52"/>
          <p:cNvSpPr/>
          <p:nvPr/>
        </p:nvSpPr>
        <p:spPr>
          <a:xfrm>
            <a:off x="5577840" y="2560320"/>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James Rodríguez</a:t>
            </a:r>
            <a:endParaRPr lang="en-US" sz="1100" dirty="0"/>
          </a:p>
        </p:txBody>
      </p:sp>
      <p:sp>
        <p:nvSpPr>
          <p:cNvPr id="55" name="Text 53"/>
          <p:cNvSpPr/>
          <p:nvPr/>
        </p:nvSpPr>
        <p:spPr>
          <a:xfrm>
            <a:off x="7955280" y="2560320"/>
            <a:ext cx="822960" cy="219456"/>
          </a:xfrm>
          <a:prstGeom prst="rect">
            <a:avLst/>
          </a:prstGeom>
          <a:noFill/>
          <a:ln/>
        </p:spPr>
        <p:txBody>
          <a:bodyPr wrap="square" lIns="0" tIns="0" rIns="0" bIns="0" rtlCol="0" anchor="ctr"/>
          <a:lstStyle/>
          <a:p>
            <a:pPr marL="0" indent="0" algn="r">
              <a:buNone/>
            </a:pPr>
            <a:r>
              <a:rPr lang="en-US" sz="1100" b="1" dirty="0">
                <a:solidFill>
                  <a:srgbClr val="E8620A"/>
                </a:solidFill>
                <a:latin typeface="Arial" pitchFamily="34" charset="0"/>
                <a:ea typeface="Arial" pitchFamily="34" charset="-122"/>
                <a:cs typeface="Arial" pitchFamily="34" charset="-120"/>
              </a:rPr>
              <a:t>6 goals</a:t>
            </a:r>
            <a:endParaRPr lang="en-US" sz="1100" dirty="0"/>
          </a:p>
        </p:txBody>
      </p:sp>
      <p:sp>
        <p:nvSpPr>
          <p:cNvPr id="56" name="Text 54"/>
          <p:cNvSpPr/>
          <p:nvPr/>
        </p:nvSpPr>
        <p:spPr>
          <a:xfrm>
            <a:off x="5577840" y="2798064"/>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Colombia</a:t>
            </a:r>
            <a:endParaRPr lang="en-US" sz="850" dirty="0"/>
          </a:p>
        </p:txBody>
      </p:sp>
      <p:sp>
        <p:nvSpPr>
          <p:cNvPr id="57" name="Shape 55"/>
          <p:cNvSpPr/>
          <p:nvPr/>
        </p:nvSpPr>
        <p:spPr>
          <a:xfrm>
            <a:off x="4754880" y="3209544"/>
            <a:ext cx="4114800" cy="603504"/>
          </a:xfrm>
          <a:prstGeom prst="rect">
            <a:avLst/>
          </a:prstGeom>
          <a:solidFill>
            <a:srgbClr val="131320"/>
          </a:solidFill>
          <a:ln w="12700">
            <a:solidFill>
              <a:srgbClr val="2A2A3E"/>
            </a:solidFill>
            <a:prstDash val="solid"/>
          </a:ln>
        </p:spPr>
        <p:txBody>
          <a:bodyPr/>
          <a:lstStyle/>
          <a:p>
            <a:endParaRPr lang="en-US"/>
          </a:p>
        </p:txBody>
      </p:sp>
      <p:sp>
        <p:nvSpPr>
          <p:cNvPr id="58" name="Shape 56"/>
          <p:cNvSpPr/>
          <p:nvPr/>
        </p:nvSpPr>
        <p:spPr>
          <a:xfrm>
            <a:off x="4754880" y="3209544"/>
            <a:ext cx="64008" cy="603504"/>
          </a:xfrm>
          <a:prstGeom prst="rect">
            <a:avLst/>
          </a:prstGeom>
          <a:solidFill>
            <a:srgbClr val="F5A623"/>
          </a:solidFill>
          <a:ln w="12700">
            <a:solidFill>
              <a:srgbClr val="F5A623"/>
            </a:solidFill>
            <a:prstDash val="solid"/>
          </a:ln>
        </p:spPr>
        <p:txBody>
          <a:bodyPr/>
          <a:lstStyle/>
          <a:p>
            <a:endParaRPr lang="en-US"/>
          </a:p>
        </p:txBody>
      </p:sp>
      <p:sp>
        <p:nvSpPr>
          <p:cNvPr id="59" name="Text 57"/>
          <p:cNvSpPr/>
          <p:nvPr/>
        </p:nvSpPr>
        <p:spPr>
          <a:xfrm>
            <a:off x="4919472" y="3264408"/>
            <a:ext cx="64008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2018</a:t>
            </a:r>
            <a:endParaRPr lang="en-US" sz="1000" dirty="0"/>
          </a:p>
        </p:txBody>
      </p:sp>
      <p:sp>
        <p:nvSpPr>
          <p:cNvPr id="60" name="Text 58"/>
          <p:cNvSpPr/>
          <p:nvPr/>
        </p:nvSpPr>
        <p:spPr>
          <a:xfrm>
            <a:off x="5577840" y="3264408"/>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Harry Kane</a:t>
            </a:r>
            <a:endParaRPr lang="en-US" sz="1100" dirty="0"/>
          </a:p>
        </p:txBody>
      </p:sp>
      <p:sp>
        <p:nvSpPr>
          <p:cNvPr id="61" name="Text 59"/>
          <p:cNvSpPr/>
          <p:nvPr/>
        </p:nvSpPr>
        <p:spPr>
          <a:xfrm>
            <a:off x="7955280" y="3264408"/>
            <a:ext cx="822960" cy="219456"/>
          </a:xfrm>
          <a:prstGeom prst="rect">
            <a:avLst/>
          </a:prstGeom>
          <a:noFill/>
          <a:ln/>
        </p:spPr>
        <p:txBody>
          <a:bodyPr wrap="square" lIns="0" tIns="0" rIns="0" bIns="0" rtlCol="0" anchor="ctr"/>
          <a:lstStyle/>
          <a:p>
            <a:pPr marL="0" indent="0" algn="r">
              <a:buNone/>
            </a:pPr>
            <a:r>
              <a:rPr lang="en-US" sz="1100" b="1" dirty="0">
                <a:solidFill>
                  <a:srgbClr val="E8620A"/>
                </a:solidFill>
                <a:latin typeface="Arial" pitchFamily="34" charset="0"/>
                <a:ea typeface="Arial" pitchFamily="34" charset="-122"/>
                <a:cs typeface="Arial" pitchFamily="34" charset="-120"/>
              </a:rPr>
              <a:t>6 goals</a:t>
            </a:r>
            <a:endParaRPr lang="en-US" sz="1100" dirty="0"/>
          </a:p>
        </p:txBody>
      </p:sp>
      <p:sp>
        <p:nvSpPr>
          <p:cNvPr id="62" name="Text 60"/>
          <p:cNvSpPr/>
          <p:nvPr/>
        </p:nvSpPr>
        <p:spPr>
          <a:xfrm>
            <a:off x="5577840" y="3502152"/>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England</a:t>
            </a:r>
            <a:endParaRPr lang="en-US" sz="850" dirty="0"/>
          </a:p>
        </p:txBody>
      </p:sp>
      <p:sp>
        <p:nvSpPr>
          <p:cNvPr id="63" name="Shape 61"/>
          <p:cNvSpPr/>
          <p:nvPr/>
        </p:nvSpPr>
        <p:spPr>
          <a:xfrm>
            <a:off x="4754880" y="3913632"/>
            <a:ext cx="4114800" cy="603504"/>
          </a:xfrm>
          <a:prstGeom prst="rect">
            <a:avLst/>
          </a:prstGeom>
          <a:solidFill>
            <a:srgbClr val="111827"/>
          </a:solidFill>
          <a:ln w="12700">
            <a:solidFill>
              <a:srgbClr val="2A2A3E"/>
            </a:solidFill>
            <a:prstDash val="solid"/>
          </a:ln>
        </p:spPr>
        <p:txBody>
          <a:bodyPr/>
          <a:lstStyle/>
          <a:p>
            <a:endParaRPr lang="en-US"/>
          </a:p>
        </p:txBody>
      </p:sp>
      <p:sp>
        <p:nvSpPr>
          <p:cNvPr id="64" name="Shape 62"/>
          <p:cNvSpPr/>
          <p:nvPr/>
        </p:nvSpPr>
        <p:spPr>
          <a:xfrm>
            <a:off x="4754880" y="3913632"/>
            <a:ext cx="64008" cy="603504"/>
          </a:xfrm>
          <a:prstGeom prst="rect">
            <a:avLst/>
          </a:prstGeom>
          <a:solidFill>
            <a:srgbClr val="F5A623"/>
          </a:solidFill>
          <a:ln w="12700">
            <a:solidFill>
              <a:srgbClr val="F5A623"/>
            </a:solidFill>
            <a:prstDash val="solid"/>
          </a:ln>
        </p:spPr>
        <p:txBody>
          <a:bodyPr/>
          <a:lstStyle/>
          <a:p>
            <a:endParaRPr lang="en-US"/>
          </a:p>
        </p:txBody>
      </p:sp>
      <p:sp>
        <p:nvSpPr>
          <p:cNvPr id="65" name="Text 63"/>
          <p:cNvSpPr/>
          <p:nvPr/>
        </p:nvSpPr>
        <p:spPr>
          <a:xfrm>
            <a:off x="4919472" y="3968496"/>
            <a:ext cx="640080" cy="219456"/>
          </a:xfrm>
          <a:prstGeom prst="rect">
            <a:avLst/>
          </a:prstGeom>
          <a:noFill/>
          <a:ln/>
        </p:spPr>
        <p:txBody>
          <a:bodyPr wrap="square" lIns="0" tIns="0" rIns="0" bIns="0" rtlCol="0" anchor="ctr"/>
          <a:lstStyle/>
          <a:p>
            <a:pPr marL="0" indent="0">
              <a:buNone/>
            </a:pPr>
            <a:r>
              <a:rPr lang="en-US" sz="1000" b="1" dirty="0">
                <a:solidFill>
                  <a:srgbClr val="F5A623"/>
                </a:solidFill>
                <a:latin typeface="Arial" pitchFamily="34" charset="0"/>
                <a:ea typeface="Arial" pitchFamily="34" charset="-122"/>
                <a:cs typeface="Arial" pitchFamily="34" charset="-120"/>
              </a:rPr>
              <a:t>2022</a:t>
            </a:r>
            <a:endParaRPr lang="en-US" sz="1000" dirty="0"/>
          </a:p>
        </p:txBody>
      </p:sp>
      <p:sp>
        <p:nvSpPr>
          <p:cNvPr id="66" name="Text 64"/>
          <p:cNvSpPr/>
          <p:nvPr/>
        </p:nvSpPr>
        <p:spPr>
          <a:xfrm>
            <a:off x="5577840" y="3968496"/>
            <a:ext cx="2377440" cy="219456"/>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Kylian Mbappé</a:t>
            </a:r>
            <a:endParaRPr lang="en-US" sz="1100" dirty="0"/>
          </a:p>
        </p:txBody>
      </p:sp>
      <p:sp>
        <p:nvSpPr>
          <p:cNvPr id="67" name="Text 65"/>
          <p:cNvSpPr/>
          <p:nvPr/>
        </p:nvSpPr>
        <p:spPr>
          <a:xfrm>
            <a:off x="7955280" y="3968496"/>
            <a:ext cx="822960" cy="219456"/>
          </a:xfrm>
          <a:prstGeom prst="rect">
            <a:avLst/>
          </a:prstGeom>
          <a:noFill/>
          <a:ln/>
        </p:spPr>
        <p:txBody>
          <a:bodyPr wrap="square" lIns="0" tIns="0" rIns="0" bIns="0" rtlCol="0" anchor="ctr"/>
          <a:lstStyle/>
          <a:p>
            <a:pPr marL="0" indent="0" algn="r">
              <a:buNone/>
            </a:pPr>
            <a:r>
              <a:rPr lang="en-US" sz="1100" b="1" dirty="0">
                <a:solidFill>
                  <a:srgbClr val="E8620A"/>
                </a:solidFill>
                <a:latin typeface="Arial" pitchFamily="34" charset="0"/>
                <a:ea typeface="Arial" pitchFamily="34" charset="-122"/>
                <a:cs typeface="Arial" pitchFamily="34" charset="-120"/>
              </a:rPr>
              <a:t>8 goals</a:t>
            </a:r>
            <a:endParaRPr lang="en-US" sz="1100" dirty="0"/>
          </a:p>
        </p:txBody>
      </p:sp>
      <p:sp>
        <p:nvSpPr>
          <p:cNvPr id="68" name="Text 66"/>
          <p:cNvSpPr/>
          <p:nvPr/>
        </p:nvSpPr>
        <p:spPr>
          <a:xfrm>
            <a:off x="5577840" y="4206240"/>
            <a:ext cx="3108960" cy="201168"/>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France</a:t>
            </a:r>
            <a:endParaRPr lang="en-US" sz="850" dirty="0"/>
          </a:p>
        </p:txBody>
      </p:sp>
      <p:sp>
        <p:nvSpPr>
          <p:cNvPr id="69" name="Shape 67"/>
          <p:cNvSpPr/>
          <p:nvPr/>
        </p:nvSpPr>
        <p:spPr>
          <a:xfrm>
            <a:off x="274320" y="4626864"/>
            <a:ext cx="8595360" cy="347472"/>
          </a:xfrm>
          <a:prstGeom prst="rect">
            <a:avLst/>
          </a:prstGeom>
          <a:solidFill>
            <a:srgbClr val="0A0A0A"/>
          </a:solidFill>
          <a:ln w="12700">
            <a:solidFill>
              <a:srgbClr val="F5A623"/>
            </a:solidFill>
            <a:prstDash val="solid"/>
          </a:ln>
        </p:spPr>
        <p:txBody>
          <a:bodyPr/>
          <a:lstStyle/>
          <a:p>
            <a:endParaRPr lang="en-US"/>
          </a:p>
        </p:txBody>
      </p:sp>
      <p:sp>
        <p:nvSpPr>
          <p:cNvPr id="70" name="Text 68"/>
          <p:cNvSpPr/>
          <p:nvPr/>
        </p:nvSpPr>
        <p:spPr>
          <a:xfrm>
            <a:off x="457200" y="4654296"/>
            <a:ext cx="8229600" cy="301752"/>
          </a:xfrm>
          <a:prstGeom prst="rect">
            <a:avLst/>
          </a:prstGeom>
          <a:noFill/>
          <a:ln/>
        </p:spPr>
        <p:txBody>
          <a:bodyPr wrap="square" lIns="0" tIns="0" rIns="0" bIns="0" rtlCol="0" anchor="ctr"/>
          <a:lstStyle/>
          <a:p>
            <a:pPr marL="0" indent="0">
              <a:buNone/>
            </a:pPr>
            <a:r>
              <a:rPr lang="en-US" sz="850" b="1" dirty="0">
                <a:solidFill>
                  <a:srgbClr val="F5A623"/>
                </a:solidFill>
                <a:latin typeface="Arial" pitchFamily="34" charset="0"/>
                <a:ea typeface="Arial" pitchFamily="34" charset="-122"/>
                <a:cs typeface="Arial" pitchFamily="34" charset="-120"/>
              </a:rPr>
              <a:t>Record: </a:t>
            </a:r>
            <a:r>
              <a:rPr lang="en-US" sz="850" dirty="0">
                <a:solidFill>
                  <a:srgbClr val="D0D0D0"/>
                </a:solidFill>
                <a:latin typeface="Arial" pitchFamily="34" charset="0"/>
                <a:ea typeface="Arial" pitchFamily="34" charset="-122"/>
                <a:cs typeface="Arial" pitchFamily="34" charset="-120"/>
              </a:rPr>
              <a:t>Just Fontaine's 13 goals in 1958 (France) remains the all-time single-tournament record and has stood for over 65 years. Kylian Mbappé scored 8 goals in 2022 including a hat-trick in the final.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Key Insights from the Data</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10</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200" b="1" dirty="0">
                <a:solidFill>
                  <a:srgbClr val="E8620A"/>
                </a:solidFill>
                <a:latin typeface="Arial Black" pitchFamily="34" charset="0"/>
                <a:ea typeface="Arial Black" pitchFamily="34" charset="-122"/>
                <a:cs typeface="Arial Black" pitchFamily="34" charset="-120"/>
              </a:rPr>
              <a:t>What the Numbers Tell Us About 92 Years of World Cup Football</a:t>
            </a:r>
            <a:endParaRPr lang="en-US" sz="1200" dirty="0"/>
          </a:p>
        </p:txBody>
      </p:sp>
      <p:sp>
        <p:nvSpPr>
          <p:cNvPr id="9" name="Shape 7"/>
          <p:cNvSpPr/>
          <p:nvPr/>
        </p:nvSpPr>
        <p:spPr>
          <a:xfrm>
            <a:off x="274320" y="1115568"/>
            <a:ext cx="4206240" cy="1115568"/>
          </a:xfrm>
          <a:prstGeom prst="rect">
            <a:avLst/>
          </a:prstGeom>
          <a:solidFill>
            <a:srgbClr val="0D0D1A"/>
          </a:solidFill>
          <a:ln w="12700">
            <a:solidFill>
              <a:srgbClr val="E8620A"/>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402336" y="1243584"/>
            <a:ext cx="365760" cy="365760"/>
          </a:xfrm>
          <a:prstGeom prst="ellipse">
            <a:avLst/>
          </a:prstGeom>
          <a:solidFill>
            <a:srgbClr val="E8620A"/>
          </a:solidFill>
          <a:ln w="12700">
            <a:solidFill>
              <a:srgbClr val="E8620A"/>
            </a:solidFill>
            <a:prstDash val="solid"/>
          </a:ln>
        </p:spPr>
        <p:txBody>
          <a:bodyPr/>
          <a:lstStyle/>
          <a:p>
            <a:endParaRPr lang="en-US"/>
          </a:p>
        </p:txBody>
      </p:sp>
      <p:sp>
        <p:nvSpPr>
          <p:cNvPr id="11" name="Text 9"/>
          <p:cNvSpPr/>
          <p:nvPr/>
        </p:nvSpPr>
        <p:spPr>
          <a:xfrm>
            <a:off x="402336" y="124358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01</a:t>
            </a:r>
            <a:endParaRPr lang="en-US" sz="1100" dirty="0"/>
          </a:p>
        </p:txBody>
      </p:sp>
      <p:sp>
        <p:nvSpPr>
          <p:cNvPr id="12" name="Text 10"/>
          <p:cNvSpPr/>
          <p:nvPr/>
        </p:nvSpPr>
        <p:spPr>
          <a:xfrm>
            <a:off x="868680" y="1207008"/>
            <a:ext cx="3493008" cy="274320"/>
          </a:xfrm>
          <a:prstGeom prst="rect">
            <a:avLst/>
          </a:prstGeom>
          <a:noFill/>
          <a:ln/>
        </p:spPr>
        <p:txBody>
          <a:bodyPr wrap="square" lIns="0" tIns="0" rIns="0" bIns="0" rtlCol="0" anchor="ctr"/>
          <a:lstStyle/>
          <a:p>
            <a:pPr marL="0" indent="0">
              <a:buNone/>
            </a:pPr>
            <a:r>
              <a:rPr lang="en-US" sz="1050" b="1" dirty="0">
                <a:solidFill>
                  <a:srgbClr val="E8620A"/>
                </a:solidFill>
                <a:latin typeface="Arial Black" pitchFamily="34" charset="0"/>
                <a:ea typeface="Arial Black" pitchFamily="34" charset="-122"/>
                <a:cs typeface="Arial Black" pitchFamily="34" charset="-120"/>
              </a:rPr>
              <a:t>Brazil Stands Alone at the Top</a:t>
            </a:r>
            <a:endParaRPr lang="en-US" sz="1050" dirty="0"/>
          </a:p>
        </p:txBody>
      </p:sp>
      <p:sp>
        <p:nvSpPr>
          <p:cNvPr id="13" name="Shape 11"/>
          <p:cNvSpPr/>
          <p:nvPr/>
        </p:nvSpPr>
        <p:spPr>
          <a:xfrm>
            <a:off x="402336" y="1554480"/>
            <a:ext cx="3950208" cy="13716"/>
          </a:xfrm>
          <a:prstGeom prst="rect">
            <a:avLst/>
          </a:prstGeom>
          <a:solidFill>
            <a:srgbClr val="E8620A"/>
          </a:solidFill>
          <a:ln w="12700">
            <a:solidFill>
              <a:srgbClr val="E8620A"/>
            </a:solidFill>
            <a:prstDash val="solid"/>
          </a:ln>
        </p:spPr>
        <p:txBody>
          <a:bodyPr/>
          <a:lstStyle/>
          <a:p>
            <a:endParaRPr lang="en-US"/>
          </a:p>
        </p:txBody>
      </p:sp>
      <p:sp>
        <p:nvSpPr>
          <p:cNvPr id="14" name="Text 12"/>
          <p:cNvSpPr/>
          <p:nvPr/>
        </p:nvSpPr>
        <p:spPr>
          <a:xfrm>
            <a:off x="402336" y="1591056"/>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With 5 titles, Brazil has won the World Cup more than any other nation. Their dominance spans 7 decades — from their first win in 1958 to their last in 2002. No other nation has been as consistently excellent across all eras.</a:t>
            </a:r>
            <a:endParaRPr lang="en-US" sz="820" dirty="0"/>
          </a:p>
        </p:txBody>
      </p:sp>
      <p:sp>
        <p:nvSpPr>
          <p:cNvPr id="15" name="Shape 13"/>
          <p:cNvSpPr/>
          <p:nvPr/>
        </p:nvSpPr>
        <p:spPr>
          <a:xfrm>
            <a:off x="274320" y="2331720"/>
            <a:ext cx="4206240" cy="1115568"/>
          </a:xfrm>
          <a:prstGeom prst="rect">
            <a:avLst/>
          </a:prstGeom>
          <a:solidFill>
            <a:srgbClr val="0D0D1A"/>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16" name="Shape 14"/>
          <p:cNvSpPr/>
          <p:nvPr/>
        </p:nvSpPr>
        <p:spPr>
          <a:xfrm>
            <a:off x="402336" y="2459736"/>
            <a:ext cx="365760" cy="365760"/>
          </a:xfrm>
          <a:prstGeom prst="ellipse">
            <a:avLst/>
          </a:prstGeom>
          <a:solidFill>
            <a:srgbClr val="F5A623"/>
          </a:solidFill>
          <a:ln w="12700">
            <a:solidFill>
              <a:srgbClr val="F5A623"/>
            </a:solidFill>
            <a:prstDash val="solid"/>
          </a:ln>
        </p:spPr>
        <p:txBody>
          <a:bodyPr/>
          <a:lstStyle/>
          <a:p>
            <a:endParaRPr lang="en-US"/>
          </a:p>
        </p:txBody>
      </p:sp>
      <p:sp>
        <p:nvSpPr>
          <p:cNvPr id="17" name="Text 15"/>
          <p:cNvSpPr/>
          <p:nvPr/>
        </p:nvSpPr>
        <p:spPr>
          <a:xfrm>
            <a:off x="402336" y="245973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02</a:t>
            </a:r>
            <a:endParaRPr lang="en-US" sz="1100" dirty="0"/>
          </a:p>
        </p:txBody>
      </p:sp>
      <p:sp>
        <p:nvSpPr>
          <p:cNvPr id="18" name="Text 16"/>
          <p:cNvSpPr/>
          <p:nvPr/>
        </p:nvSpPr>
        <p:spPr>
          <a:xfrm>
            <a:off x="868680" y="2423160"/>
            <a:ext cx="3493008" cy="274320"/>
          </a:xfrm>
          <a:prstGeom prst="rect">
            <a:avLst/>
          </a:prstGeom>
          <a:noFill/>
          <a:ln/>
        </p:spPr>
        <p:txBody>
          <a:bodyPr wrap="square" lIns="0" tIns="0" rIns="0" bIns="0" rtlCol="0" anchor="ctr"/>
          <a:lstStyle/>
          <a:p>
            <a:pPr marL="0" indent="0">
              <a:buNone/>
            </a:pPr>
            <a:r>
              <a:rPr lang="en-US" sz="1050" b="1" dirty="0">
                <a:solidFill>
                  <a:srgbClr val="F5A623"/>
                </a:solidFill>
                <a:latin typeface="Arial Black" pitchFamily="34" charset="0"/>
                <a:ea typeface="Arial Black" pitchFamily="34" charset="-122"/>
                <a:cs typeface="Arial Black" pitchFamily="34" charset="-120"/>
              </a:rPr>
              <a:t>Goals Are at an All-Time High</a:t>
            </a:r>
            <a:endParaRPr lang="en-US" sz="1050" dirty="0"/>
          </a:p>
        </p:txBody>
      </p:sp>
      <p:sp>
        <p:nvSpPr>
          <p:cNvPr id="19" name="Shape 17"/>
          <p:cNvSpPr/>
          <p:nvPr/>
        </p:nvSpPr>
        <p:spPr>
          <a:xfrm>
            <a:off x="402336" y="2770632"/>
            <a:ext cx="3950208" cy="13716"/>
          </a:xfrm>
          <a:prstGeom prst="rect">
            <a:avLst/>
          </a:prstGeom>
          <a:solidFill>
            <a:srgbClr val="F5A623"/>
          </a:solidFill>
          <a:ln w="12700">
            <a:solidFill>
              <a:srgbClr val="F5A623"/>
            </a:solidFill>
            <a:prstDash val="solid"/>
          </a:ln>
        </p:spPr>
        <p:txBody>
          <a:bodyPr/>
          <a:lstStyle/>
          <a:p>
            <a:endParaRPr lang="en-US"/>
          </a:p>
        </p:txBody>
      </p:sp>
      <p:sp>
        <p:nvSpPr>
          <p:cNvPr id="20" name="Text 18"/>
          <p:cNvSpPr/>
          <p:nvPr/>
        </p:nvSpPr>
        <p:spPr>
          <a:xfrm>
            <a:off x="402336" y="2807208"/>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The 2022 Qatar World Cup produced 172 goals — the highest in tournament history. Modern football's high press, improved fitness and attacking strategies are driving an upward trend in goals per match in recent editions.</a:t>
            </a:r>
            <a:endParaRPr lang="en-US" sz="820" dirty="0"/>
          </a:p>
        </p:txBody>
      </p:sp>
      <p:sp>
        <p:nvSpPr>
          <p:cNvPr id="21" name="Shape 19"/>
          <p:cNvSpPr/>
          <p:nvPr/>
        </p:nvSpPr>
        <p:spPr>
          <a:xfrm>
            <a:off x="274320" y="3547872"/>
            <a:ext cx="4206240" cy="1115568"/>
          </a:xfrm>
          <a:prstGeom prst="rect">
            <a:avLst/>
          </a:prstGeom>
          <a:solidFill>
            <a:srgbClr val="0D0D1A"/>
          </a:solidFill>
          <a:ln w="12700">
            <a:solidFill>
              <a:srgbClr val="E74C3C"/>
            </a:solidFill>
            <a:prstDash val="solid"/>
          </a:ln>
          <a:effectLst>
            <a:outerShdw blurRad="127000" dist="38100" dir="8100000" algn="bl" rotWithShape="0">
              <a:srgbClr val="000000">
                <a:alpha val="35000"/>
              </a:srgbClr>
            </a:outerShdw>
          </a:effectLst>
        </p:spPr>
        <p:txBody>
          <a:bodyPr/>
          <a:lstStyle/>
          <a:p>
            <a:endParaRPr lang="en-US"/>
          </a:p>
        </p:txBody>
      </p:sp>
      <p:sp>
        <p:nvSpPr>
          <p:cNvPr id="22" name="Shape 20"/>
          <p:cNvSpPr/>
          <p:nvPr/>
        </p:nvSpPr>
        <p:spPr>
          <a:xfrm>
            <a:off x="402336" y="3675888"/>
            <a:ext cx="365760" cy="365760"/>
          </a:xfrm>
          <a:prstGeom prst="ellipse">
            <a:avLst/>
          </a:prstGeom>
          <a:solidFill>
            <a:srgbClr val="E74C3C"/>
          </a:solidFill>
          <a:ln w="12700">
            <a:solidFill>
              <a:srgbClr val="E74C3C"/>
            </a:solidFill>
            <a:prstDash val="solid"/>
          </a:ln>
        </p:spPr>
        <p:txBody>
          <a:bodyPr/>
          <a:lstStyle/>
          <a:p>
            <a:endParaRPr lang="en-US"/>
          </a:p>
        </p:txBody>
      </p:sp>
      <p:sp>
        <p:nvSpPr>
          <p:cNvPr id="23" name="Text 21"/>
          <p:cNvSpPr/>
          <p:nvPr/>
        </p:nvSpPr>
        <p:spPr>
          <a:xfrm>
            <a:off x="402336" y="36758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03</a:t>
            </a:r>
            <a:endParaRPr lang="en-US" sz="1100" dirty="0"/>
          </a:p>
        </p:txBody>
      </p:sp>
      <p:sp>
        <p:nvSpPr>
          <p:cNvPr id="24" name="Text 22"/>
          <p:cNvSpPr/>
          <p:nvPr/>
        </p:nvSpPr>
        <p:spPr>
          <a:xfrm>
            <a:off x="868680" y="3639312"/>
            <a:ext cx="3493008" cy="274320"/>
          </a:xfrm>
          <a:prstGeom prst="rect">
            <a:avLst/>
          </a:prstGeom>
          <a:noFill/>
          <a:ln/>
        </p:spPr>
        <p:txBody>
          <a:bodyPr wrap="square" lIns="0" tIns="0" rIns="0" bIns="0" rtlCol="0" anchor="ctr"/>
          <a:lstStyle/>
          <a:p>
            <a:pPr marL="0" indent="0">
              <a:buNone/>
            </a:pPr>
            <a:r>
              <a:rPr lang="en-US" sz="1050" b="1" dirty="0">
                <a:solidFill>
                  <a:srgbClr val="E74C3C"/>
                </a:solidFill>
                <a:latin typeface="Arial Black" pitchFamily="34" charset="0"/>
                <a:ea typeface="Arial Black" pitchFamily="34" charset="-122"/>
                <a:cs typeface="Arial Black" pitchFamily="34" charset="-120"/>
              </a:rPr>
              <a:t>Hosting Does Not Guarantee Victory</a:t>
            </a:r>
            <a:endParaRPr lang="en-US" sz="1050" dirty="0"/>
          </a:p>
        </p:txBody>
      </p:sp>
      <p:sp>
        <p:nvSpPr>
          <p:cNvPr id="25" name="Shape 23"/>
          <p:cNvSpPr/>
          <p:nvPr/>
        </p:nvSpPr>
        <p:spPr>
          <a:xfrm>
            <a:off x="402336" y="3986784"/>
            <a:ext cx="3950208" cy="13716"/>
          </a:xfrm>
          <a:prstGeom prst="rect">
            <a:avLst/>
          </a:prstGeom>
          <a:solidFill>
            <a:srgbClr val="E74C3C"/>
          </a:solidFill>
          <a:ln w="12700">
            <a:solidFill>
              <a:srgbClr val="E74C3C"/>
            </a:solidFill>
            <a:prstDash val="solid"/>
          </a:ln>
        </p:spPr>
        <p:txBody>
          <a:bodyPr/>
          <a:lstStyle/>
          <a:p>
            <a:endParaRPr lang="en-US"/>
          </a:p>
        </p:txBody>
      </p:sp>
      <p:sp>
        <p:nvSpPr>
          <p:cNvPr id="26" name="Text 24"/>
          <p:cNvSpPr/>
          <p:nvPr/>
        </p:nvSpPr>
        <p:spPr>
          <a:xfrm>
            <a:off x="402336" y="4023360"/>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Only 5 of 22 host nations have won the tournament on home soil — a 22.7% win rate. Being the host provides logistical and crowd advantages, but elite football quality ultimately determines the winner.</a:t>
            </a:r>
            <a:endParaRPr lang="en-US" sz="820" dirty="0"/>
          </a:p>
        </p:txBody>
      </p:sp>
      <p:sp>
        <p:nvSpPr>
          <p:cNvPr id="27" name="Shape 25"/>
          <p:cNvSpPr/>
          <p:nvPr/>
        </p:nvSpPr>
        <p:spPr>
          <a:xfrm>
            <a:off x="4709160" y="1115568"/>
            <a:ext cx="4206240" cy="1115568"/>
          </a:xfrm>
          <a:prstGeom prst="rect">
            <a:avLst/>
          </a:prstGeom>
          <a:solidFill>
            <a:srgbClr val="0D0D1A"/>
          </a:solidFill>
          <a:ln w="12700">
            <a:solidFill>
              <a:srgbClr val="27AE60"/>
            </a:solidFill>
            <a:prstDash val="solid"/>
          </a:ln>
          <a:effectLst>
            <a:outerShdw blurRad="127000" dist="38100" dir="8100000" algn="bl" rotWithShape="0">
              <a:srgbClr val="000000">
                <a:alpha val="35000"/>
              </a:srgbClr>
            </a:outerShdw>
          </a:effectLst>
        </p:spPr>
        <p:txBody>
          <a:bodyPr/>
          <a:lstStyle/>
          <a:p>
            <a:endParaRPr lang="en-US"/>
          </a:p>
        </p:txBody>
      </p:sp>
      <p:sp>
        <p:nvSpPr>
          <p:cNvPr id="28" name="Shape 26"/>
          <p:cNvSpPr/>
          <p:nvPr/>
        </p:nvSpPr>
        <p:spPr>
          <a:xfrm>
            <a:off x="4837176" y="1243584"/>
            <a:ext cx="365760" cy="365760"/>
          </a:xfrm>
          <a:prstGeom prst="ellipse">
            <a:avLst/>
          </a:prstGeom>
          <a:solidFill>
            <a:srgbClr val="27AE60"/>
          </a:solidFill>
          <a:ln w="12700">
            <a:solidFill>
              <a:srgbClr val="27AE60"/>
            </a:solidFill>
            <a:prstDash val="solid"/>
          </a:ln>
        </p:spPr>
        <p:txBody>
          <a:bodyPr/>
          <a:lstStyle/>
          <a:p>
            <a:endParaRPr lang="en-US"/>
          </a:p>
        </p:txBody>
      </p:sp>
      <p:sp>
        <p:nvSpPr>
          <p:cNvPr id="29" name="Text 27"/>
          <p:cNvSpPr/>
          <p:nvPr/>
        </p:nvSpPr>
        <p:spPr>
          <a:xfrm>
            <a:off x="4837176" y="124358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04</a:t>
            </a:r>
            <a:endParaRPr lang="en-US" sz="1100" dirty="0"/>
          </a:p>
        </p:txBody>
      </p:sp>
      <p:sp>
        <p:nvSpPr>
          <p:cNvPr id="30" name="Text 28"/>
          <p:cNvSpPr/>
          <p:nvPr/>
        </p:nvSpPr>
        <p:spPr>
          <a:xfrm>
            <a:off x="5303520" y="1207008"/>
            <a:ext cx="3493008" cy="274320"/>
          </a:xfrm>
          <a:prstGeom prst="rect">
            <a:avLst/>
          </a:prstGeom>
          <a:noFill/>
          <a:ln/>
        </p:spPr>
        <p:txBody>
          <a:bodyPr wrap="square" lIns="0" tIns="0" rIns="0" bIns="0" rtlCol="0" anchor="ctr"/>
          <a:lstStyle/>
          <a:p>
            <a:pPr marL="0" indent="0">
              <a:buNone/>
            </a:pPr>
            <a:r>
              <a:rPr lang="en-US" sz="1050" b="1" dirty="0">
                <a:solidFill>
                  <a:srgbClr val="27AE60"/>
                </a:solidFill>
                <a:latin typeface="Arial Black" pitchFamily="34" charset="0"/>
                <a:ea typeface="Arial Black" pitchFamily="34" charset="-122"/>
                <a:cs typeface="Arial Black" pitchFamily="34" charset="-120"/>
              </a:rPr>
              <a:t>Attendance Peaked in 1994</a:t>
            </a:r>
            <a:endParaRPr lang="en-US" sz="1050" dirty="0"/>
          </a:p>
        </p:txBody>
      </p:sp>
      <p:sp>
        <p:nvSpPr>
          <p:cNvPr id="31" name="Shape 29"/>
          <p:cNvSpPr/>
          <p:nvPr/>
        </p:nvSpPr>
        <p:spPr>
          <a:xfrm>
            <a:off x="4837176" y="1554480"/>
            <a:ext cx="3950208" cy="13716"/>
          </a:xfrm>
          <a:prstGeom prst="rect">
            <a:avLst/>
          </a:prstGeom>
          <a:solidFill>
            <a:srgbClr val="27AE60"/>
          </a:solidFill>
          <a:ln w="12700">
            <a:solidFill>
              <a:srgbClr val="27AE60"/>
            </a:solidFill>
            <a:prstDash val="solid"/>
          </a:ln>
        </p:spPr>
        <p:txBody>
          <a:bodyPr/>
          <a:lstStyle/>
          <a:p>
            <a:endParaRPr lang="en-US"/>
          </a:p>
        </p:txBody>
      </p:sp>
      <p:sp>
        <p:nvSpPr>
          <p:cNvPr id="32" name="Text 30"/>
          <p:cNvSpPr/>
          <p:nvPr/>
        </p:nvSpPr>
        <p:spPr>
          <a:xfrm>
            <a:off x="4837176" y="1591056"/>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The 1994 USA World Cup holds the record for highest total attendance at 3.59 million. Despite expansions to 32 teams, no subsequent tournament has matched this total — reflecting stadium size and geographic demand differences.</a:t>
            </a:r>
            <a:endParaRPr lang="en-US" sz="820" dirty="0"/>
          </a:p>
        </p:txBody>
      </p:sp>
      <p:sp>
        <p:nvSpPr>
          <p:cNvPr id="33" name="Shape 31"/>
          <p:cNvSpPr/>
          <p:nvPr/>
        </p:nvSpPr>
        <p:spPr>
          <a:xfrm>
            <a:off x="4709160" y="2331720"/>
            <a:ext cx="4206240" cy="1115568"/>
          </a:xfrm>
          <a:prstGeom prst="rect">
            <a:avLst/>
          </a:prstGeom>
          <a:solidFill>
            <a:srgbClr val="0D0D1A"/>
          </a:solidFill>
          <a:ln w="12700">
            <a:solidFill>
              <a:srgbClr val="F28C28"/>
            </a:solidFill>
            <a:prstDash val="solid"/>
          </a:ln>
          <a:effectLst>
            <a:outerShdw blurRad="127000" dist="38100" dir="8100000" algn="bl" rotWithShape="0">
              <a:srgbClr val="000000">
                <a:alpha val="35000"/>
              </a:srgbClr>
            </a:outerShdw>
          </a:effectLst>
        </p:spPr>
        <p:txBody>
          <a:bodyPr/>
          <a:lstStyle/>
          <a:p>
            <a:endParaRPr lang="en-US"/>
          </a:p>
        </p:txBody>
      </p:sp>
      <p:sp>
        <p:nvSpPr>
          <p:cNvPr id="34" name="Shape 32"/>
          <p:cNvSpPr/>
          <p:nvPr/>
        </p:nvSpPr>
        <p:spPr>
          <a:xfrm>
            <a:off x="4837176" y="2459736"/>
            <a:ext cx="365760" cy="365760"/>
          </a:xfrm>
          <a:prstGeom prst="ellipse">
            <a:avLst/>
          </a:prstGeom>
          <a:solidFill>
            <a:srgbClr val="F28C28"/>
          </a:solidFill>
          <a:ln w="12700">
            <a:solidFill>
              <a:srgbClr val="F28C28"/>
            </a:solidFill>
            <a:prstDash val="solid"/>
          </a:ln>
        </p:spPr>
        <p:txBody>
          <a:bodyPr/>
          <a:lstStyle/>
          <a:p>
            <a:endParaRPr lang="en-US"/>
          </a:p>
        </p:txBody>
      </p:sp>
      <p:sp>
        <p:nvSpPr>
          <p:cNvPr id="35" name="Text 33"/>
          <p:cNvSpPr/>
          <p:nvPr/>
        </p:nvSpPr>
        <p:spPr>
          <a:xfrm>
            <a:off x="4837176" y="245973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05</a:t>
            </a:r>
            <a:endParaRPr lang="en-US" sz="1100" dirty="0"/>
          </a:p>
        </p:txBody>
      </p:sp>
      <p:sp>
        <p:nvSpPr>
          <p:cNvPr id="36" name="Text 34"/>
          <p:cNvSpPr/>
          <p:nvPr/>
        </p:nvSpPr>
        <p:spPr>
          <a:xfrm>
            <a:off x="5303520" y="2423160"/>
            <a:ext cx="3493008" cy="274320"/>
          </a:xfrm>
          <a:prstGeom prst="rect">
            <a:avLst/>
          </a:prstGeom>
          <a:noFill/>
          <a:ln/>
        </p:spPr>
        <p:txBody>
          <a:bodyPr wrap="square" lIns="0" tIns="0" rIns="0" bIns="0" rtlCol="0" anchor="ctr"/>
          <a:lstStyle/>
          <a:p>
            <a:pPr marL="0" indent="0">
              <a:buNone/>
            </a:pPr>
            <a:r>
              <a:rPr lang="en-US" sz="1050" b="1" dirty="0">
                <a:solidFill>
                  <a:srgbClr val="F28C28"/>
                </a:solidFill>
                <a:latin typeface="Arial Black" pitchFamily="34" charset="0"/>
                <a:ea typeface="Arial Black" pitchFamily="34" charset="-122"/>
                <a:cs typeface="Arial Black" pitchFamily="34" charset="-120"/>
              </a:rPr>
              <a:t>Just 8 Nations Have Ever Won</a:t>
            </a:r>
            <a:endParaRPr lang="en-US" sz="1050" dirty="0"/>
          </a:p>
        </p:txBody>
      </p:sp>
      <p:sp>
        <p:nvSpPr>
          <p:cNvPr id="37" name="Shape 35"/>
          <p:cNvSpPr/>
          <p:nvPr/>
        </p:nvSpPr>
        <p:spPr>
          <a:xfrm>
            <a:off x="4837176" y="2770632"/>
            <a:ext cx="3950208" cy="13716"/>
          </a:xfrm>
          <a:prstGeom prst="rect">
            <a:avLst/>
          </a:prstGeom>
          <a:solidFill>
            <a:srgbClr val="F28C28"/>
          </a:solidFill>
          <a:ln w="12700">
            <a:solidFill>
              <a:srgbClr val="F28C28"/>
            </a:solidFill>
            <a:prstDash val="solid"/>
          </a:ln>
        </p:spPr>
        <p:txBody>
          <a:bodyPr/>
          <a:lstStyle/>
          <a:p>
            <a:endParaRPr lang="en-US"/>
          </a:p>
        </p:txBody>
      </p:sp>
      <p:sp>
        <p:nvSpPr>
          <p:cNvPr id="38" name="Text 36"/>
          <p:cNvSpPr/>
          <p:nvPr/>
        </p:nvSpPr>
        <p:spPr>
          <a:xfrm>
            <a:off x="4837176" y="2807208"/>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In 22 tournaments, only 8 countries — all European or South American — have ever lifted the World Cup trophy. Africa, Asia, North America and Oceania are yet to produce a World Cup winner, highlighting regional power gaps.</a:t>
            </a:r>
            <a:endParaRPr lang="en-US" sz="820" dirty="0"/>
          </a:p>
        </p:txBody>
      </p:sp>
      <p:sp>
        <p:nvSpPr>
          <p:cNvPr id="39" name="Shape 37"/>
          <p:cNvSpPr/>
          <p:nvPr/>
        </p:nvSpPr>
        <p:spPr>
          <a:xfrm>
            <a:off x="4709160" y="3547872"/>
            <a:ext cx="4206240" cy="1115568"/>
          </a:xfrm>
          <a:prstGeom prst="rect">
            <a:avLst/>
          </a:prstGeom>
          <a:solidFill>
            <a:srgbClr val="0D0D1A"/>
          </a:solidFill>
          <a:ln w="12700">
            <a:solidFill>
              <a:srgbClr val="F5A623"/>
            </a:solidFill>
            <a:prstDash val="solid"/>
          </a:ln>
          <a:effectLst>
            <a:outerShdw blurRad="127000" dist="38100" dir="8100000" algn="bl" rotWithShape="0">
              <a:srgbClr val="000000">
                <a:alpha val="35000"/>
              </a:srgbClr>
            </a:outerShdw>
          </a:effectLst>
        </p:spPr>
        <p:txBody>
          <a:bodyPr/>
          <a:lstStyle/>
          <a:p>
            <a:endParaRPr lang="en-US"/>
          </a:p>
        </p:txBody>
      </p:sp>
      <p:sp>
        <p:nvSpPr>
          <p:cNvPr id="40" name="Shape 38"/>
          <p:cNvSpPr/>
          <p:nvPr/>
        </p:nvSpPr>
        <p:spPr>
          <a:xfrm>
            <a:off x="4837176" y="3675888"/>
            <a:ext cx="365760" cy="365760"/>
          </a:xfrm>
          <a:prstGeom prst="ellipse">
            <a:avLst/>
          </a:prstGeom>
          <a:solidFill>
            <a:srgbClr val="F5A623"/>
          </a:solidFill>
          <a:ln w="12700">
            <a:solidFill>
              <a:srgbClr val="F5A623"/>
            </a:solidFill>
            <a:prstDash val="solid"/>
          </a:ln>
        </p:spPr>
        <p:txBody>
          <a:bodyPr/>
          <a:lstStyle/>
          <a:p>
            <a:endParaRPr lang="en-US"/>
          </a:p>
        </p:txBody>
      </p:sp>
      <p:sp>
        <p:nvSpPr>
          <p:cNvPr id="41" name="Text 39"/>
          <p:cNvSpPr/>
          <p:nvPr/>
        </p:nvSpPr>
        <p:spPr>
          <a:xfrm>
            <a:off x="4837176" y="36758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06</a:t>
            </a:r>
            <a:endParaRPr lang="en-US" sz="1100" dirty="0"/>
          </a:p>
        </p:txBody>
      </p:sp>
      <p:sp>
        <p:nvSpPr>
          <p:cNvPr id="42" name="Text 40"/>
          <p:cNvSpPr/>
          <p:nvPr/>
        </p:nvSpPr>
        <p:spPr>
          <a:xfrm>
            <a:off x="5303520" y="3639312"/>
            <a:ext cx="3493008" cy="274320"/>
          </a:xfrm>
          <a:prstGeom prst="rect">
            <a:avLst/>
          </a:prstGeom>
          <a:noFill/>
          <a:ln/>
        </p:spPr>
        <p:txBody>
          <a:bodyPr wrap="square" lIns="0" tIns="0" rIns="0" bIns="0" rtlCol="0" anchor="ctr"/>
          <a:lstStyle/>
          <a:p>
            <a:pPr marL="0" indent="0">
              <a:buNone/>
            </a:pPr>
            <a:r>
              <a:rPr lang="en-US" sz="1050" b="1" dirty="0">
                <a:solidFill>
                  <a:srgbClr val="F5A623"/>
                </a:solidFill>
                <a:latin typeface="Arial Black" pitchFamily="34" charset="0"/>
                <a:ea typeface="Arial Black" pitchFamily="34" charset="-122"/>
                <a:cs typeface="Arial Black" pitchFamily="34" charset="-120"/>
              </a:rPr>
              <a:t>1990 Was the Least Entertaining on Paper</a:t>
            </a:r>
            <a:endParaRPr lang="en-US" sz="1050" dirty="0"/>
          </a:p>
        </p:txBody>
      </p:sp>
      <p:sp>
        <p:nvSpPr>
          <p:cNvPr id="43" name="Shape 41"/>
          <p:cNvSpPr/>
          <p:nvPr/>
        </p:nvSpPr>
        <p:spPr>
          <a:xfrm>
            <a:off x="4837176" y="3986784"/>
            <a:ext cx="3950208" cy="13716"/>
          </a:xfrm>
          <a:prstGeom prst="rect">
            <a:avLst/>
          </a:prstGeom>
          <a:solidFill>
            <a:srgbClr val="F5A623"/>
          </a:solidFill>
          <a:ln w="12700">
            <a:solidFill>
              <a:srgbClr val="F5A623"/>
            </a:solidFill>
            <a:prstDash val="solid"/>
          </a:ln>
        </p:spPr>
        <p:txBody>
          <a:bodyPr/>
          <a:lstStyle/>
          <a:p>
            <a:endParaRPr lang="en-US"/>
          </a:p>
        </p:txBody>
      </p:sp>
      <p:sp>
        <p:nvSpPr>
          <p:cNvPr id="44" name="Text 42"/>
          <p:cNvSpPr/>
          <p:nvPr/>
        </p:nvSpPr>
        <p:spPr>
          <a:xfrm>
            <a:off x="4837176" y="4023360"/>
            <a:ext cx="3950208" cy="585216"/>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The 1990 Italy World Cup produced just 115 goals in 52 matches — a goals-per-match ratio of 2.21, the lowest in the modern era. Defensive tactics dominated, leading FIFA to introduce rule changes to encourage more attacking play.</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0A0A"/>
          </a:solidFill>
          <a:ln w="12700">
            <a:solidFill>
              <a:srgbClr val="0A0A0A"/>
            </a:solidFill>
            <a:prstDash val="solid"/>
          </a:ln>
        </p:spPr>
        <p:txBody>
          <a:bodyPr/>
          <a:lstStyle/>
          <a:p>
            <a:endParaRPr lang="en-US"/>
          </a:p>
        </p:txBody>
      </p:sp>
      <p:sp>
        <p:nvSpPr>
          <p:cNvPr id="3" name="Shape 1"/>
          <p:cNvSpPr/>
          <p:nvPr/>
        </p:nvSpPr>
        <p:spPr>
          <a:xfrm>
            <a:off x="0" y="640080"/>
            <a:ext cx="9144000" cy="36576"/>
          </a:xfrm>
          <a:prstGeom prst="rect">
            <a:avLst/>
          </a:prstGeom>
          <a:solidFill>
            <a:srgbClr val="E8620A"/>
          </a:solidFill>
          <a:ln w="12700">
            <a:solidFill>
              <a:srgbClr val="E8620A"/>
            </a:solidFill>
            <a:prstDash val="solid"/>
          </a:ln>
        </p:spPr>
        <p:txBody>
          <a:bodyPr/>
          <a:lstStyle/>
          <a:p>
            <a:endParaRPr lang="en-US"/>
          </a:p>
        </p:txBody>
      </p:sp>
      <p:sp>
        <p:nvSpPr>
          <p:cNvPr id="4" name="Text 2"/>
          <p:cNvSpPr/>
          <p:nvPr/>
        </p:nvSpPr>
        <p:spPr>
          <a:xfrm>
            <a:off x="457200" y="73152"/>
            <a:ext cx="8229600" cy="512064"/>
          </a:xfrm>
          <a:prstGeom prst="rect">
            <a:avLst/>
          </a:prstGeom>
          <a:noFill/>
          <a:ln/>
        </p:spPr>
        <p:txBody>
          <a:bodyPr wrap="square" lIns="0" tIns="0" rIns="0" bIns="0" rtlCol="0" anchor="ctr"/>
          <a:lstStyle/>
          <a:p>
            <a:pPr marL="0" indent="0">
              <a:buNone/>
            </a:pPr>
            <a:r>
              <a:rPr lang="en-US" sz="1900" b="1" dirty="0">
                <a:solidFill>
                  <a:srgbClr val="FFFFFF"/>
                </a:solidFill>
                <a:latin typeface="Arial Black" pitchFamily="34" charset="0"/>
                <a:ea typeface="Arial Black" pitchFamily="34" charset="-122"/>
                <a:cs typeface="Arial Black" pitchFamily="34" charset="-120"/>
              </a:rPr>
              <a:t>Recommendations  |  Lessons for Teams, Hosts &amp; Governing Bodies</a:t>
            </a:r>
            <a:endParaRPr lang="en-US" sz="1900" dirty="0"/>
          </a:p>
        </p:txBody>
      </p:sp>
      <p:sp>
        <p:nvSpPr>
          <p:cNvPr id="5" name="Shape 3"/>
          <p:cNvSpPr/>
          <p:nvPr/>
        </p:nvSpPr>
        <p:spPr>
          <a:xfrm>
            <a:off x="0" y="4892040"/>
            <a:ext cx="9144000" cy="251460"/>
          </a:xfrm>
          <a:prstGeom prst="rect">
            <a:avLst/>
          </a:prstGeom>
          <a:solidFill>
            <a:srgbClr val="0A0A0A"/>
          </a:solidFill>
          <a:ln w="12700">
            <a:solidFill>
              <a:srgbClr val="0A0A0A"/>
            </a:solidFill>
            <a:prstDash val="solid"/>
          </a:ln>
        </p:spPr>
        <p:txBody>
          <a:bodyPr/>
          <a:lstStyle/>
          <a:p>
            <a:endParaRPr lang="en-US"/>
          </a:p>
        </p:txBody>
      </p:sp>
      <p:sp>
        <p:nvSpPr>
          <p:cNvPr id="6" name="Text 4"/>
          <p:cNvSpPr/>
          <p:nvPr/>
        </p:nvSpPr>
        <p:spPr>
          <a:xfrm>
            <a:off x="274320" y="4901184"/>
            <a:ext cx="7315200" cy="201168"/>
          </a:xfrm>
          <a:prstGeom prst="rect">
            <a:avLst/>
          </a:prstGeom>
          <a:noFill/>
          <a:ln/>
        </p:spPr>
        <p:txBody>
          <a:bodyPr wrap="square" lIns="0" tIns="0" rIns="0" bIns="0" rtlCol="0" anchor="ctr"/>
          <a:lstStyle/>
          <a:p>
            <a:pPr marL="0" indent="0">
              <a:buNone/>
            </a:pPr>
            <a:r>
              <a:rPr lang="en-US" sz="750" dirty="0">
                <a:solidFill>
                  <a:srgbClr val="888888"/>
                </a:solidFill>
                <a:latin typeface="Arial" pitchFamily="34" charset="0"/>
                <a:ea typeface="Arial" pitchFamily="34" charset="-122"/>
                <a:cs typeface="Arial" pitchFamily="34" charset="-120"/>
              </a:rPr>
              <a:t>FIFA World Cup Analysis  |  Performance, Goals &amp; Hosting Effects  |  1930–2022</a:t>
            </a:r>
            <a:endParaRPr lang="en-US" sz="750" dirty="0"/>
          </a:p>
        </p:txBody>
      </p:sp>
      <p:sp>
        <p:nvSpPr>
          <p:cNvPr id="7" name="Text 5"/>
          <p:cNvSpPr/>
          <p:nvPr/>
        </p:nvSpPr>
        <p:spPr>
          <a:xfrm>
            <a:off x="8595360" y="4901184"/>
            <a:ext cx="365760" cy="201168"/>
          </a:xfrm>
          <a:prstGeom prst="rect">
            <a:avLst/>
          </a:prstGeom>
          <a:noFill/>
          <a:ln/>
        </p:spPr>
        <p:txBody>
          <a:bodyPr wrap="square" lIns="0" tIns="0" rIns="0" bIns="0" rtlCol="0" anchor="ctr"/>
          <a:lstStyle/>
          <a:p>
            <a:pPr marL="0" indent="0" algn="r">
              <a:buNone/>
            </a:pPr>
            <a:r>
              <a:rPr lang="en-US" sz="750" b="1" dirty="0">
                <a:solidFill>
                  <a:srgbClr val="E8620A"/>
                </a:solidFill>
                <a:latin typeface="Arial" pitchFamily="34" charset="0"/>
                <a:ea typeface="Arial" pitchFamily="34" charset="-122"/>
                <a:cs typeface="Arial" pitchFamily="34" charset="-120"/>
              </a:rPr>
              <a:t>11</a:t>
            </a:r>
            <a:endParaRPr lang="en-US" sz="750" dirty="0"/>
          </a:p>
        </p:txBody>
      </p:sp>
      <p:sp>
        <p:nvSpPr>
          <p:cNvPr id="8" name="Text 6"/>
          <p:cNvSpPr/>
          <p:nvPr/>
        </p:nvSpPr>
        <p:spPr>
          <a:xfrm>
            <a:off x="365760" y="749808"/>
            <a:ext cx="8412480" cy="274320"/>
          </a:xfrm>
          <a:prstGeom prst="rect">
            <a:avLst/>
          </a:prstGeom>
          <a:noFill/>
          <a:ln/>
        </p:spPr>
        <p:txBody>
          <a:bodyPr wrap="square" lIns="0" tIns="0" rIns="0" bIns="0" rtlCol="0" anchor="ctr"/>
          <a:lstStyle/>
          <a:p>
            <a:pPr marL="0" indent="0">
              <a:buNone/>
            </a:pPr>
            <a:r>
              <a:rPr lang="en-US" sz="1300" b="1" dirty="0">
                <a:solidFill>
                  <a:srgbClr val="E8620A"/>
                </a:solidFill>
                <a:latin typeface="Arial Black" pitchFamily="34" charset="0"/>
                <a:ea typeface="Arial Black" pitchFamily="34" charset="-122"/>
                <a:cs typeface="Arial Black" pitchFamily="34" charset="-120"/>
              </a:rPr>
              <a:t>Strategic Actions Based on the Analysis</a:t>
            </a:r>
            <a:endParaRPr lang="en-US" sz="1300" dirty="0"/>
          </a:p>
        </p:txBody>
      </p:sp>
      <p:sp>
        <p:nvSpPr>
          <p:cNvPr id="9" name="Shape 7"/>
          <p:cNvSpPr/>
          <p:nvPr/>
        </p:nvSpPr>
        <p:spPr>
          <a:xfrm>
            <a:off x="274320" y="1115568"/>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10" name="Shape 8"/>
          <p:cNvSpPr/>
          <p:nvPr/>
        </p:nvSpPr>
        <p:spPr>
          <a:xfrm>
            <a:off x="274320" y="1115568"/>
            <a:ext cx="73152" cy="1115568"/>
          </a:xfrm>
          <a:prstGeom prst="rect">
            <a:avLst/>
          </a:prstGeom>
          <a:solidFill>
            <a:srgbClr val="E8620A"/>
          </a:solidFill>
          <a:ln w="12700">
            <a:solidFill>
              <a:srgbClr val="E8620A"/>
            </a:solidFill>
            <a:prstDash val="solid"/>
          </a:ln>
        </p:spPr>
        <p:txBody>
          <a:bodyPr/>
          <a:lstStyle/>
          <a:p>
            <a:endParaRPr lang="en-US"/>
          </a:p>
        </p:txBody>
      </p:sp>
      <p:sp>
        <p:nvSpPr>
          <p:cNvPr id="11" name="Shape 9"/>
          <p:cNvSpPr/>
          <p:nvPr/>
        </p:nvSpPr>
        <p:spPr>
          <a:xfrm>
            <a:off x="438912" y="1243584"/>
            <a:ext cx="347472" cy="347472"/>
          </a:xfrm>
          <a:prstGeom prst="ellipse">
            <a:avLst/>
          </a:prstGeom>
          <a:solidFill>
            <a:srgbClr val="E8620A"/>
          </a:solidFill>
          <a:ln w="12700">
            <a:solidFill>
              <a:srgbClr val="E8620A"/>
            </a:solidFill>
            <a:prstDash val="solid"/>
          </a:ln>
        </p:spPr>
        <p:txBody>
          <a:bodyPr/>
          <a:lstStyle/>
          <a:p>
            <a:endParaRPr lang="en-US"/>
          </a:p>
        </p:txBody>
      </p:sp>
      <p:sp>
        <p:nvSpPr>
          <p:cNvPr id="12" name="Text 10"/>
          <p:cNvSpPr/>
          <p:nvPr/>
        </p:nvSpPr>
        <p:spPr>
          <a:xfrm>
            <a:off x="438912" y="12435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13" name="Text 11"/>
          <p:cNvSpPr/>
          <p:nvPr/>
        </p:nvSpPr>
        <p:spPr>
          <a:xfrm>
            <a:off x="896112" y="1207008"/>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Invest in Long-Term Youth Development</a:t>
            </a:r>
            <a:endParaRPr lang="en-US" sz="1000" dirty="0"/>
          </a:p>
        </p:txBody>
      </p:sp>
      <p:sp>
        <p:nvSpPr>
          <p:cNvPr id="14" name="Shape 12"/>
          <p:cNvSpPr/>
          <p:nvPr/>
        </p:nvSpPr>
        <p:spPr>
          <a:xfrm>
            <a:off x="438912" y="1536192"/>
            <a:ext cx="3931920" cy="13716"/>
          </a:xfrm>
          <a:prstGeom prst="rect">
            <a:avLst/>
          </a:prstGeom>
          <a:solidFill>
            <a:srgbClr val="2A2A3E"/>
          </a:solidFill>
          <a:ln w="12700">
            <a:solidFill>
              <a:srgbClr val="2A2A3E"/>
            </a:solidFill>
            <a:prstDash val="solid"/>
          </a:ln>
        </p:spPr>
        <p:txBody>
          <a:bodyPr/>
          <a:lstStyle/>
          <a:p>
            <a:endParaRPr lang="en-US"/>
          </a:p>
        </p:txBody>
      </p:sp>
      <p:sp>
        <p:nvSpPr>
          <p:cNvPr id="15" name="Text 13"/>
          <p:cNvSpPr/>
          <p:nvPr/>
        </p:nvSpPr>
        <p:spPr>
          <a:xfrm>
            <a:off x="438912" y="1572768"/>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All 5 champions won the World Cup at home. But across 9 decades, Brazil, Germany, Italy and Argentina built winning cultures through elite youth academies. Nations must invest in grassroots football 10–15 years before targeting a title.</a:t>
            </a:r>
            <a:endParaRPr lang="en-US" sz="820" dirty="0"/>
          </a:p>
        </p:txBody>
      </p:sp>
      <p:sp>
        <p:nvSpPr>
          <p:cNvPr id="16" name="Shape 14"/>
          <p:cNvSpPr/>
          <p:nvPr/>
        </p:nvSpPr>
        <p:spPr>
          <a:xfrm>
            <a:off x="274320" y="2331720"/>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17" name="Shape 15"/>
          <p:cNvSpPr/>
          <p:nvPr/>
        </p:nvSpPr>
        <p:spPr>
          <a:xfrm>
            <a:off x="274320" y="2331720"/>
            <a:ext cx="73152" cy="1115568"/>
          </a:xfrm>
          <a:prstGeom prst="rect">
            <a:avLst/>
          </a:prstGeom>
          <a:solidFill>
            <a:srgbClr val="F5A623"/>
          </a:solidFill>
          <a:ln w="12700">
            <a:solidFill>
              <a:srgbClr val="F5A623"/>
            </a:solidFill>
            <a:prstDash val="solid"/>
          </a:ln>
        </p:spPr>
        <p:txBody>
          <a:bodyPr/>
          <a:lstStyle/>
          <a:p>
            <a:endParaRPr lang="en-US"/>
          </a:p>
        </p:txBody>
      </p:sp>
      <p:sp>
        <p:nvSpPr>
          <p:cNvPr id="18" name="Shape 16"/>
          <p:cNvSpPr/>
          <p:nvPr/>
        </p:nvSpPr>
        <p:spPr>
          <a:xfrm>
            <a:off x="438912" y="2459736"/>
            <a:ext cx="347472" cy="347472"/>
          </a:xfrm>
          <a:prstGeom prst="ellipse">
            <a:avLst/>
          </a:prstGeom>
          <a:solidFill>
            <a:srgbClr val="F5A623"/>
          </a:solidFill>
          <a:ln w="12700">
            <a:solidFill>
              <a:srgbClr val="F5A623"/>
            </a:solidFill>
            <a:prstDash val="solid"/>
          </a:ln>
        </p:spPr>
        <p:txBody>
          <a:bodyPr/>
          <a:lstStyle/>
          <a:p>
            <a:endParaRPr lang="en-US"/>
          </a:p>
        </p:txBody>
      </p:sp>
      <p:sp>
        <p:nvSpPr>
          <p:cNvPr id="19" name="Text 17"/>
          <p:cNvSpPr/>
          <p:nvPr/>
        </p:nvSpPr>
        <p:spPr>
          <a:xfrm>
            <a:off x="438912" y="2459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20" name="Text 18"/>
          <p:cNvSpPr/>
          <p:nvPr/>
        </p:nvSpPr>
        <p:spPr>
          <a:xfrm>
            <a:off x="896112" y="2423160"/>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Host Nations Must Prepare Holistically</a:t>
            </a:r>
            <a:endParaRPr lang="en-US" sz="1000" dirty="0"/>
          </a:p>
        </p:txBody>
      </p:sp>
      <p:sp>
        <p:nvSpPr>
          <p:cNvPr id="21" name="Shape 19"/>
          <p:cNvSpPr/>
          <p:nvPr/>
        </p:nvSpPr>
        <p:spPr>
          <a:xfrm>
            <a:off x="438912" y="2752344"/>
            <a:ext cx="3931920" cy="13716"/>
          </a:xfrm>
          <a:prstGeom prst="rect">
            <a:avLst/>
          </a:prstGeom>
          <a:solidFill>
            <a:srgbClr val="2A2A3E"/>
          </a:solidFill>
          <a:ln w="12700">
            <a:solidFill>
              <a:srgbClr val="2A2A3E"/>
            </a:solidFill>
            <a:prstDash val="solid"/>
          </a:ln>
        </p:spPr>
        <p:txBody>
          <a:bodyPr/>
          <a:lstStyle/>
          <a:p>
            <a:endParaRPr lang="en-US"/>
          </a:p>
        </p:txBody>
      </p:sp>
      <p:sp>
        <p:nvSpPr>
          <p:cNvPr id="22" name="Text 20"/>
          <p:cNvSpPr/>
          <p:nvPr/>
        </p:nvSpPr>
        <p:spPr>
          <a:xfrm>
            <a:off x="438912" y="2788920"/>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Of 22 hosts, only 5 won. Hosting success requires more than infrastructure — nations must align tournament hosting with a peak squad generation to maximise competitive chances on home soil.</a:t>
            </a:r>
            <a:endParaRPr lang="en-US" sz="820" dirty="0"/>
          </a:p>
        </p:txBody>
      </p:sp>
      <p:sp>
        <p:nvSpPr>
          <p:cNvPr id="23" name="Shape 21"/>
          <p:cNvSpPr/>
          <p:nvPr/>
        </p:nvSpPr>
        <p:spPr>
          <a:xfrm>
            <a:off x="274320" y="3547872"/>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24" name="Shape 22"/>
          <p:cNvSpPr/>
          <p:nvPr/>
        </p:nvSpPr>
        <p:spPr>
          <a:xfrm>
            <a:off x="274320" y="3547872"/>
            <a:ext cx="73152" cy="1115568"/>
          </a:xfrm>
          <a:prstGeom prst="rect">
            <a:avLst/>
          </a:prstGeom>
          <a:solidFill>
            <a:srgbClr val="E74C3C"/>
          </a:solidFill>
          <a:ln w="12700">
            <a:solidFill>
              <a:srgbClr val="E74C3C"/>
            </a:solidFill>
            <a:prstDash val="solid"/>
          </a:ln>
        </p:spPr>
        <p:txBody>
          <a:bodyPr/>
          <a:lstStyle/>
          <a:p>
            <a:endParaRPr lang="en-US"/>
          </a:p>
        </p:txBody>
      </p:sp>
      <p:sp>
        <p:nvSpPr>
          <p:cNvPr id="25" name="Shape 23"/>
          <p:cNvSpPr/>
          <p:nvPr/>
        </p:nvSpPr>
        <p:spPr>
          <a:xfrm>
            <a:off x="438912" y="3675888"/>
            <a:ext cx="347472" cy="347472"/>
          </a:xfrm>
          <a:prstGeom prst="ellipse">
            <a:avLst/>
          </a:prstGeom>
          <a:solidFill>
            <a:srgbClr val="E74C3C"/>
          </a:solidFill>
          <a:ln w="12700">
            <a:solidFill>
              <a:srgbClr val="E74C3C"/>
            </a:solidFill>
            <a:prstDash val="solid"/>
          </a:ln>
        </p:spPr>
        <p:txBody>
          <a:bodyPr/>
          <a:lstStyle/>
          <a:p>
            <a:endParaRPr lang="en-US"/>
          </a:p>
        </p:txBody>
      </p:sp>
      <p:sp>
        <p:nvSpPr>
          <p:cNvPr id="26" name="Text 24"/>
          <p:cNvSpPr/>
          <p:nvPr/>
        </p:nvSpPr>
        <p:spPr>
          <a:xfrm>
            <a:off x="438912" y="3675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27" name="Text 25"/>
          <p:cNvSpPr/>
          <p:nvPr/>
        </p:nvSpPr>
        <p:spPr>
          <a:xfrm>
            <a:off x="896112" y="3639312"/>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Prioritise Attacking Football Strategies</a:t>
            </a:r>
            <a:endParaRPr lang="en-US" sz="1000" dirty="0"/>
          </a:p>
        </p:txBody>
      </p:sp>
      <p:sp>
        <p:nvSpPr>
          <p:cNvPr id="28" name="Shape 26"/>
          <p:cNvSpPr/>
          <p:nvPr/>
        </p:nvSpPr>
        <p:spPr>
          <a:xfrm>
            <a:off x="438912" y="3968496"/>
            <a:ext cx="3931920" cy="13716"/>
          </a:xfrm>
          <a:prstGeom prst="rect">
            <a:avLst/>
          </a:prstGeom>
          <a:solidFill>
            <a:srgbClr val="2A2A3E"/>
          </a:solidFill>
          <a:ln w="12700">
            <a:solidFill>
              <a:srgbClr val="2A2A3E"/>
            </a:solidFill>
            <a:prstDash val="solid"/>
          </a:ln>
        </p:spPr>
        <p:txBody>
          <a:bodyPr/>
          <a:lstStyle/>
          <a:p>
            <a:endParaRPr lang="en-US"/>
          </a:p>
        </p:txBody>
      </p:sp>
      <p:sp>
        <p:nvSpPr>
          <p:cNvPr id="29" name="Text 27"/>
          <p:cNvSpPr/>
          <p:nvPr/>
        </p:nvSpPr>
        <p:spPr>
          <a:xfrm>
            <a:off x="438912" y="4005072"/>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Goal tallies have trended upward in modern tournaments. Nations that embrace attacking, high-press football (like France 2018 and Argentina 2022) achieve both results and fan engagement — a dual competitive advantage.</a:t>
            </a:r>
            <a:endParaRPr lang="en-US" sz="820" dirty="0"/>
          </a:p>
        </p:txBody>
      </p:sp>
      <p:sp>
        <p:nvSpPr>
          <p:cNvPr id="30" name="Shape 28"/>
          <p:cNvSpPr/>
          <p:nvPr/>
        </p:nvSpPr>
        <p:spPr>
          <a:xfrm>
            <a:off x="4709160" y="1115568"/>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31" name="Shape 29"/>
          <p:cNvSpPr/>
          <p:nvPr/>
        </p:nvSpPr>
        <p:spPr>
          <a:xfrm>
            <a:off x="4709160" y="1115568"/>
            <a:ext cx="73152" cy="1115568"/>
          </a:xfrm>
          <a:prstGeom prst="rect">
            <a:avLst/>
          </a:prstGeom>
          <a:solidFill>
            <a:srgbClr val="27AE60"/>
          </a:solidFill>
          <a:ln w="12700">
            <a:solidFill>
              <a:srgbClr val="27AE60"/>
            </a:solidFill>
            <a:prstDash val="solid"/>
          </a:ln>
        </p:spPr>
        <p:txBody>
          <a:bodyPr/>
          <a:lstStyle/>
          <a:p>
            <a:endParaRPr lang="en-US"/>
          </a:p>
        </p:txBody>
      </p:sp>
      <p:sp>
        <p:nvSpPr>
          <p:cNvPr id="32" name="Shape 30"/>
          <p:cNvSpPr/>
          <p:nvPr/>
        </p:nvSpPr>
        <p:spPr>
          <a:xfrm>
            <a:off x="4873752" y="1243584"/>
            <a:ext cx="347472" cy="347472"/>
          </a:xfrm>
          <a:prstGeom prst="ellipse">
            <a:avLst/>
          </a:prstGeom>
          <a:solidFill>
            <a:srgbClr val="27AE60"/>
          </a:solidFill>
          <a:ln w="12700">
            <a:solidFill>
              <a:srgbClr val="27AE60"/>
            </a:solidFill>
            <a:prstDash val="solid"/>
          </a:ln>
        </p:spPr>
        <p:txBody>
          <a:bodyPr/>
          <a:lstStyle/>
          <a:p>
            <a:endParaRPr lang="en-US"/>
          </a:p>
        </p:txBody>
      </p:sp>
      <p:sp>
        <p:nvSpPr>
          <p:cNvPr id="33" name="Text 31"/>
          <p:cNvSpPr/>
          <p:nvPr/>
        </p:nvSpPr>
        <p:spPr>
          <a:xfrm>
            <a:off x="4873752" y="12435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4</a:t>
            </a:r>
            <a:endParaRPr lang="en-US" sz="1200" dirty="0"/>
          </a:p>
        </p:txBody>
      </p:sp>
      <p:sp>
        <p:nvSpPr>
          <p:cNvPr id="34" name="Text 32"/>
          <p:cNvSpPr/>
          <p:nvPr/>
        </p:nvSpPr>
        <p:spPr>
          <a:xfrm>
            <a:off x="5330952" y="1207008"/>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Expand Development Investment to New Regions</a:t>
            </a:r>
            <a:endParaRPr lang="en-US" sz="1000" dirty="0"/>
          </a:p>
        </p:txBody>
      </p:sp>
      <p:sp>
        <p:nvSpPr>
          <p:cNvPr id="35" name="Shape 33"/>
          <p:cNvSpPr/>
          <p:nvPr/>
        </p:nvSpPr>
        <p:spPr>
          <a:xfrm>
            <a:off x="4873752" y="1536192"/>
            <a:ext cx="3931920" cy="13716"/>
          </a:xfrm>
          <a:prstGeom prst="rect">
            <a:avLst/>
          </a:prstGeom>
          <a:solidFill>
            <a:srgbClr val="2A2A3E"/>
          </a:solidFill>
          <a:ln w="12700">
            <a:solidFill>
              <a:srgbClr val="2A2A3E"/>
            </a:solidFill>
            <a:prstDash val="solid"/>
          </a:ln>
        </p:spPr>
        <p:txBody>
          <a:bodyPr/>
          <a:lstStyle/>
          <a:p>
            <a:endParaRPr lang="en-US"/>
          </a:p>
        </p:txBody>
      </p:sp>
      <p:sp>
        <p:nvSpPr>
          <p:cNvPr id="36" name="Text 34"/>
          <p:cNvSpPr/>
          <p:nvPr/>
        </p:nvSpPr>
        <p:spPr>
          <a:xfrm>
            <a:off x="4873752" y="1572768"/>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Only European and South American teams have ever won the World Cup. FIFA and continental bodies should redirect funding and coaching infrastructure to Africa, Asia and North America to create genuine global competition by 2030+.</a:t>
            </a:r>
            <a:endParaRPr lang="en-US" sz="820" dirty="0"/>
          </a:p>
        </p:txBody>
      </p:sp>
      <p:sp>
        <p:nvSpPr>
          <p:cNvPr id="37" name="Shape 35"/>
          <p:cNvSpPr/>
          <p:nvPr/>
        </p:nvSpPr>
        <p:spPr>
          <a:xfrm>
            <a:off x="4709160" y="2331720"/>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38" name="Shape 36"/>
          <p:cNvSpPr/>
          <p:nvPr/>
        </p:nvSpPr>
        <p:spPr>
          <a:xfrm>
            <a:off x="4709160" y="2331720"/>
            <a:ext cx="73152" cy="1115568"/>
          </a:xfrm>
          <a:prstGeom prst="rect">
            <a:avLst/>
          </a:prstGeom>
          <a:solidFill>
            <a:srgbClr val="F28C28"/>
          </a:solidFill>
          <a:ln w="12700">
            <a:solidFill>
              <a:srgbClr val="F28C28"/>
            </a:solidFill>
            <a:prstDash val="solid"/>
          </a:ln>
        </p:spPr>
        <p:txBody>
          <a:bodyPr/>
          <a:lstStyle/>
          <a:p>
            <a:endParaRPr lang="en-US"/>
          </a:p>
        </p:txBody>
      </p:sp>
      <p:sp>
        <p:nvSpPr>
          <p:cNvPr id="39" name="Shape 37"/>
          <p:cNvSpPr/>
          <p:nvPr/>
        </p:nvSpPr>
        <p:spPr>
          <a:xfrm>
            <a:off x="4873752" y="2459736"/>
            <a:ext cx="347472" cy="347472"/>
          </a:xfrm>
          <a:prstGeom prst="ellipse">
            <a:avLst/>
          </a:prstGeom>
          <a:solidFill>
            <a:srgbClr val="F28C28"/>
          </a:solidFill>
          <a:ln w="12700">
            <a:solidFill>
              <a:srgbClr val="F28C28"/>
            </a:solidFill>
            <a:prstDash val="solid"/>
          </a:ln>
        </p:spPr>
        <p:txBody>
          <a:bodyPr/>
          <a:lstStyle/>
          <a:p>
            <a:endParaRPr lang="en-US"/>
          </a:p>
        </p:txBody>
      </p:sp>
      <p:sp>
        <p:nvSpPr>
          <p:cNvPr id="40" name="Text 38"/>
          <p:cNvSpPr/>
          <p:nvPr/>
        </p:nvSpPr>
        <p:spPr>
          <a:xfrm>
            <a:off x="4873752" y="24597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5</a:t>
            </a:r>
            <a:endParaRPr lang="en-US" sz="1200" dirty="0"/>
          </a:p>
        </p:txBody>
      </p:sp>
      <p:sp>
        <p:nvSpPr>
          <p:cNvPr id="41" name="Text 39"/>
          <p:cNvSpPr/>
          <p:nvPr/>
        </p:nvSpPr>
        <p:spPr>
          <a:xfrm>
            <a:off x="5330952" y="2423160"/>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Use Data Analytics for Opponent Preparation</a:t>
            </a:r>
            <a:endParaRPr lang="en-US" sz="1000" dirty="0"/>
          </a:p>
        </p:txBody>
      </p:sp>
      <p:sp>
        <p:nvSpPr>
          <p:cNvPr id="42" name="Shape 40"/>
          <p:cNvSpPr/>
          <p:nvPr/>
        </p:nvSpPr>
        <p:spPr>
          <a:xfrm>
            <a:off x="4873752" y="2752344"/>
            <a:ext cx="3931920" cy="13716"/>
          </a:xfrm>
          <a:prstGeom prst="rect">
            <a:avLst/>
          </a:prstGeom>
          <a:solidFill>
            <a:srgbClr val="2A2A3E"/>
          </a:solidFill>
          <a:ln w="12700">
            <a:solidFill>
              <a:srgbClr val="2A2A3E"/>
            </a:solidFill>
            <a:prstDash val="solid"/>
          </a:ln>
        </p:spPr>
        <p:txBody>
          <a:bodyPr/>
          <a:lstStyle/>
          <a:p>
            <a:endParaRPr lang="en-US"/>
          </a:p>
        </p:txBody>
      </p:sp>
      <p:sp>
        <p:nvSpPr>
          <p:cNvPr id="43" name="Text 41"/>
          <p:cNvSpPr/>
          <p:nvPr/>
        </p:nvSpPr>
        <p:spPr>
          <a:xfrm>
            <a:off x="4873752" y="2788920"/>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With 92 years of match data available, national teams can leverage historical patterns — goal timing, host advantages, high-pressure moments — to build data-driven tactical frameworks for upcoming tournaments.</a:t>
            </a:r>
            <a:endParaRPr lang="en-US" sz="820" dirty="0"/>
          </a:p>
        </p:txBody>
      </p:sp>
      <p:sp>
        <p:nvSpPr>
          <p:cNvPr id="44" name="Shape 42"/>
          <p:cNvSpPr/>
          <p:nvPr/>
        </p:nvSpPr>
        <p:spPr>
          <a:xfrm>
            <a:off x="4709160" y="3547872"/>
            <a:ext cx="4206240" cy="1115568"/>
          </a:xfrm>
          <a:prstGeom prst="rect">
            <a:avLst/>
          </a:prstGeom>
          <a:solidFill>
            <a:srgbClr val="111827"/>
          </a:solidFill>
          <a:ln w="12700">
            <a:solidFill>
              <a:srgbClr val="2A2A3E"/>
            </a:solidFill>
            <a:prstDash val="solid"/>
          </a:ln>
          <a:effectLst>
            <a:outerShdw blurRad="127000" dist="38100" dir="8100000" algn="bl" rotWithShape="0">
              <a:srgbClr val="000000">
                <a:alpha val="35000"/>
              </a:srgbClr>
            </a:outerShdw>
          </a:effectLst>
        </p:spPr>
        <p:txBody>
          <a:bodyPr/>
          <a:lstStyle/>
          <a:p>
            <a:endParaRPr lang="en-US"/>
          </a:p>
        </p:txBody>
      </p:sp>
      <p:sp>
        <p:nvSpPr>
          <p:cNvPr id="45" name="Shape 43"/>
          <p:cNvSpPr/>
          <p:nvPr/>
        </p:nvSpPr>
        <p:spPr>
          <a:xfrm>
            <a:off x="4709160" y="3547872"/>
            <a:ext cx="73152" cy="1115568"/>
          </a:xfrm>
          <a:prstGeom prst="rect">
            <a:avLst/>
          </a:prstGeom>
          <a:solidFill>
            <a:srgbClr val="F5A623"/>
          </a:solidFill>
          <a:ln w="12700">
            <a:solidFill>
              <a:srgbClr val="F5A623"/>
            </a:solidFill>
            <a:prstDash val="solid"/>
          </a:ln>
        </p:spPr>
        <p:txBody>
          <a:bodyPr/>
          <a:lstStyle/>
          <a:p>
            <a:endParaRPr lang="en-US"/>
          </a:p>
        </p:txBody>
      </p:sp>
      <p:sp>
        <p:nvSpPr>
          <p:cNvPr id="46" name="Shape 44"/>
          <p:cNvSpPr/>
          <p:nvPr/>
        </p:nvSpPr>
        <p:spPr>
          <a:xfrm>
            <a:off x="4873752" y="3675888"/>
            <a:ext cx="347472" cy="347472"/>
          </a:xfrm>
          <a:prstGeom prst="ellipse">
            <a:avLst/>
          </a:prstGeom>
          <a:solidFill>
            <a:srgbClr val="F5A623"/>
          </a:solidFill>
          <a:ln w="12700">
            <a:solidFill>
              <a:srgbClr val="F5A623"/>
            </a:solidFill>
            <a:prstDash val="solid"/>
          </a:ln>
        </p:spPr>
        <p:txBody>
          <a:bodyPr/>
          <a:lstStyle/>
          <a:p>
            <a:endParaRPr lang="en-US"/>
          </a:p>
        </p:txBody>
      </p:sp>
      <p:sp>
        <p:nvSpPr>
          <p:cNvPr id="47" name="Text 45"/>
          <p:cNvSpPr/>
          <p:nvPr/>
        </p:nvSpPr>
        <p:spPr>
          <a:xfrm>
            <a:off x="4873752" y="3675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6</a:t>
            </a:r>
            <a:endParaRPr lang="en-US" sz="1200" dirty="0"/>
          </a:p>
        </p:txBody>
      </p:sp>
      <p:sp>
        <p:nvSpPr>
          <p:cNvPr id="48" name="Text 46"/>
          <p:cNvSpPr/>
          <p:nvPr/>
        </p:nvSpPr>
        <p:spPr>
          <a:xfrm>
            <a:off x="5330952" y="3639312"/>
            <a:ext cx="3456432"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Black" pitchFamily="34" charset="0"/>
                <a:ea typeface="Arial Black" pitchFamily="34" charset="-122"/>
                <a:cs typeface="Arial Black" pitchFamily="34" charset="-120"/>
              </a:rPr>
              <a:t>Plan Stadium Capacity to Break Attendance Records</a:t>
            </a:r>
            <a:endParaRPr lang="en-US" sz="1000" dirty="0"/>
          </a:p>
        </p:txBody>
      </p:sp>
      <p:sp>
        <p:nvSpPr>
          <p:cNvPr id="49" name="Shape 47"/>
          <p:cNvSpPr/>
          <p:nvPr/>
        </p:nvSpPr>
        <p:spPr>
          <a:xfrm>
            <a:off x="4873752" y="3968496"/>
            <a:ext cx="3931920" cy="13716"/>
          </a:xfrm>
          <a:prstGeom prst="rect">
            <a:avLst/>
          </a:prstGeom>
          <a:solidFill>
            <a:srgbClr val="2A2A3E"/>
          </a:solidFill>
          <a:ln w="12700">
            <a:solidFill>
              <a:srgbClr val="2A2A3E"/>
            </a:solidFill>
            <a:prstDash val="solid"/>
          </a:ln>
        </p:spPr>
        <p:txBody>
          <a:bodyPr/>
          <a:lstStyle/>
          <a:p>
            <a:endParaRPr lang="en-US"/>
          </a:p>
        </p:txBody>
      </p:sp>
      <p:sp>
        <p:nvSpPr>
          <p:cNvPr id="50" name="Text 48"/>
          <p:cNvSpPr/>
          <p:nvPr/>
        </p:nvSpPr>
        <p:spPr>
          <a:xfrm>
            <a:off x="4873752" y="4005072"/>
            <a:ext cx="3931920" cy="594360"/>
          </a:xfrm>
          <a:prstGeom prst="rect">
            <a:avLst/>
          </a:prstGeom>
          <a:noFill/>
          <a:ln/>
        </p:spPr>
        <p:txBody>
          <a:bodyPr wrap="square" lIns="0" tIns="0" rIns="0" bIns="0" rtlCol="0" anchor="ctr"/>
          <a:lstStyle/>
          <a:p>
            <a:pPr marL="0" indent="0">
              <a:buNone/>
            </a:pPr>
            <a:r>
              <a:rPr lang="en-US" sz="820" dirty="0">
                <a:solidFill>
                  <a:srgbClr val="D0D0D0"/>
                </a:solidFill>
                <a:latin typeface="Arial" pitchFamily="34" charset="0"/>
                <a:ea typeface="Arial" pitchFamily="34" charset="-122"/>
                <a:cs typeface="Arial" pitchFamily="34" charset="-120"/>
              </a:rPr>
              <a:t>The 1994 attendance record of 3.59M has not been broken in 30 years. Future hosts like 2026 USA/Canada/Mexico should leverage large-capacity NFL stadiums and multi-city formats to finally surpass this milestone.</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594360" cy="5143500"/>
          </a:xfrm>
          <a:prstGeom prst="rect">
            <a:avLst/>
          </a:prstGeom>
          <a:solidFill>
            <a:srgbClr val="E8620A"/>
          </a:solidFill>
          <a:ln w="12700">
            <a:solidFill>
              <a:srgbClr val="E8620A"/>
            </a:solidFill>
            <a:prstDash val="solid"/>
          </a:ln>
        </p:spPr>
        <p:txBody>
          <a:bodyPr/>
          <a:lstStyle/>
          <a:p>
            <a:endParaRPr lang="en-US"/>
          </a:p>
        </p:txBody>
      </p:sp>
      <p:sp>
        <p:nvSpPr>
          <p:cNvPr id="3" name="Shape 1"/>
          <p:cNvSpPr/>
          <p:nvPr/>
        </p:nvSpPr>
        <p:spPr>
          <a:xfrm>
            <a:off x="530352" y="0"/>
            <a:ext cx="91440" cy="5143500"/>
          </a:xfrm>
          <a:prstGeom prst="rect">
            <a:avLst/>
          </a:prstGeom>
          <a:solidFill>
            <a:srgbClr val="F5A623"/>
          </a:solidFill>
          <a:ln w="12700">
            <a:solidFill>
              <a:srgbClr val="F5A623"/>
            </a:solidFill>
            <a:prstDash val="solid"/>
          </a:ln>
        </p:spPr>
        <p:txBody>
          <a:bodyPr/>
          <a:lstStyle/>
          <a:p>
            <a:endParaRPr lang="en-US"/>
          </a:p>
        </p:txBody>
      </p:sp>
      <p:sp>
        <p:nvSpPr>
          <p:cNvPr id="4" name="Shape 2"/>
          <p:cNvSpPr/>
          <p:nvPr/>
        </p:nvSpPr>
        <p:spPr>
          <a:xfrm>
            <a:off x="6675120" y="0"/>
            <a:ext cx="2468880" cy="5143500"/>
          </a:xfrm>
          <a:prstGeom prst="rect">
            <a:avLst/>
          </a:prstGeom>
          <a:solidFill>
            <a:srgbClr val="0D0D0D"/>
          </a:solidFill>
          <a:ln w="12700">
            <a:solidFill>
              <a:srgbClr val="0D0D0D"/>
            </a:solidFill>
            <a:prstDash val="solid"/>
          </a:ln>
        </p:spPr>
        <p:txBody>
          <a:bodyPr/>
          <a:lstStyle/>
          <a:p>
            <a:endParaRPr lang="en-US"/>
          </a:p>
        </p:txBody>
      </p:sp>
      <p:sp>
        <p:nvSpPr>
          <p:cNvPr id="5" name="Shape 3"/>
          <p:cNvSpPr/>
          <p:nvPr/>
        </p:nvSpPr>
        <p:spPr>
          <a:xfrm>
            <a:off x="8778240" y="0"/>
            <a:ext cx="365760" cy="5143500"/>
          </a:xfrm>
          <a:prstGeom prst="rect">
            <a:avLst/>
          </a:prstGeom>
          <a:solidFill>
            <a:srgbClr val="E8620A"/>
          </a:solidFill>
          <a:ln w="12700">
            <a:solidFill>
              <a:srgbClr val="E8620A"/>
            </a:solidFill>
            <a:prstDash val="solid"/>
          </a:ln>
        </p:spPr>
        <p:txBody>
          <a:bodyPr/>
          <a:lstStyle/>
          <a:p>
            <a:endParaRPr lang="en-US"/>
          </a:p>
        </p:txBody>
      </p:sp>
      <p:sp>
        <p:nvSpPr>
          <p:cNvPr id="6" name="Text 4"/>
          <p:cNvSpPr/>
          <p:nvPr/>
        </p:nvSpPr>
        <p:spPr>
          <a:xfrm>
            <a:off x="822960" y="1097280"/>
            <a:ext cx="5669280" cy="822960"/>
          </a:xfrm>
          <a:prstGeom prst="rect">
            <a:avLst/>
          </a:prstGeom>
          <a:noFill/>
          <a:ln/>
        </p:spPr>
        <p:txBody>
          <a:bodyPr wrap="square" lIns="0" tIns="0" rIns="0" bIns="0" rtlCol="0" anchor="ctr"/>
          <a:lstStyle/>
          <a:p>
            <a:pPr marL="0" indent="0">
              <a:buNone/>
            </a:pPr>
            <a:r>
              <a:rPr lang="en-US" sz="4800" b="1" dirty="0">
                <a:solidFill>
                  <a:srgbClr val="FFFFFF"/>
                </a:solidFill>
                <a:latin typeface="Arial Black" pitchFamily="34" charset="0"/>
                <a:ea typeface="Arial Black" pitchFamily="34" charset="-122"/>
                <a:cs typeface="Arial Black" pitchFamily="34" charset="-120"/>
              </a:rPr>
              <a:t>Thank You</a:t>
            </a:r>
            <a:endParaRPr lang="en-US" sz="4800" dirty="0"/>
          </a:p>
        </p:txBody>
      </p:sp>
      <p:sp>
        <p:nvSpPr>
          <p:cNvPr id="7" name="Text 5"/>
          <p:cNvSpPr/>
          <p:nvPr/>
        </p:nvSpPr>
        <p:spPr>
          <a:xfrm>
            <a:off x="822960" y="1920240"/>
            <a:ext cx="5669280" cy="384048"/>
          </a:xfrm>
          <a:prstGeom prst="rect">
            <a:avLst/>
          </a:prstGeom>
          <a:noFill/>
          <a:ln/>
        </p:spPr>
        <p:txBody>
          <a:bodyPr wrap="square" lIns="0" tIns="0" rIns="0" bIns="0" rtlCol="0" anchor="ctr"/>
          <a:lstStyle/>
          <a:p>
            <a:pPr marL="0" indent="0">
              <a:buNone/>
            </a:pPr>
            <a:r>
              <a:rPr lang="en-US" sz="1500" i="1" dirty="0">
                <a:solidFill>
                  <a:srgbClr val="E8620A"/>
                </a:solidFill>
                <a:latin typeface="Arial" pitchFamily="34" charset="0"/>
                <a:ea typeface="Arial" pitchFamily="34" charset="-122"/>
                <a:cs typeface="Arial" pitchFamily="34" charset="-120"/>
              </a:rPr>
              <a:t>The Beautiful Game — A Data Story</a:t>
            </a:r>
            <a:endParaRPr lang="en-US" sz="1500" dirty="0"/>
          </a:p>
        </p:txBody>
      </p:sp>
      <p:sp>
        <p:nvSpPr>
          <p:cNvPr id="8" name="Shape 6"/>
          <p:cNvSpPr/>
          <p:nvPr/>
        </p:nvSpPr>
        <p:spPr>
          <a:xfrm>
            <a:off x="822960" y="2377440"/>
            <a:ext cx="5669280" cy="41148"/>
          </a:xfrm>
          <a:prstGeom prst="rect">
            <a:avLst/>
          </a:prstGeom>
          <a:solidFill>
            <a:srgbClr val="E8620A"/>
          </a:solidFill>
          <a:ln w="12700">
            <a:solidFill>
              <a:srgbClr val="E8620A"/>
            </a:solidFill>
            <a:prstDash val="solid"/>
          </a:ln>
        </p:spPr>
        <p:txBody>
          <a:bodyPr/>
          <a:lstStyle/>
          <a:p>
            <a:endParaRPr lang="en-US"/>
          </a:p>
        </p:txBody>
      </p:sp>
      <p:sp>
        <p:nvSpPr>
          <p:cNvPr id="9" name="Text 7"/>
          <p:cNvSpPr/>
          <p:nvPr/>
        </p:nvSpPr>
        <p:spPr>
          <a:xfrm>
            <a:off x="822960" y="2487168"/>
            <a:ext cx="5669280" cy="256032"/>
          </a:xfrm>
          <a:prstGeom prst="rect">
            <a:avLst/>
          </a:prstGeom>
          <a:noFill/>
          <a:ln/>
        </p:spPr>
        <p:txBody>
          <a:bodyPr wrap="square" lIns="0" tIns="0" rIns="0" bIns="0" rtlCol="0" anchor="ctr"/>
          <a:lstStyle/>
          <a:p>
            <a:pPr marL="0" indent="0">
              <a:buNone/>
            </a:pPr>
            <a:r>
              <a:rPr lang="en-US" sz="850" dirty="0">
                <a:solidFill>
                  <a:srgbClr val="888888"/>
                </a:solidFill>
                <a:latin typeface="Arial" pitchFamily="34" charset="0"/>
                <a:ea typeface="Arial" pitchFamily="34" charset="-122"/>
                <a:cs typeface="Arial" pitchFamily="34" charset="-120"/>
              </a:rPr>
              <a:t>Data Source: FIFA World Cup Dataset  |  Period: 1930 – 2022  |  22 Tournaments  |  964 Matches</a:t>
            </a:r>
            <a:endParaRPr lang="en-US" sz="850" dirty="0"/>
          </a:p>
        </p:txBody>
      </p:sp>
      <p:sp>
        <p:nvSpPr>
          <p:cNvPr id="10" name="Shape 8"/>
          <p:cNvSpPr/>
          <p:nvPr/>
        </p:nvSpPr>
        <p:spPr>
          <a:xfrm>
            <a:off x="822960" y="2907792"/>
            <a:ext cx="1298448" cy="804672"/>
          </a:xfrm>
          <a:prstGeom prst="rect">
            <a:avLst/>
          </a:prstGeom>
          <a:solidFill>
            <a:srgbClr val="0D0D1A"/>
          </a:solidFill>
          <a:ln w="12700">
            <a:solidFill>
              <a:srgbClr val="E8620A"/>
            </a:solidFill>
            <a:prstDash val="solid"/>
          </a:ln>
        </p:spPr>
        <p:txBody>
          <a:bodyPr/>
          <a:lstStyle/>
          <a:p>
            <a:endParaRPr lang="en-US"/>
          </a:p>
        </p:txBody>
      </p:sp>
      <p:sp>
        <p:nvSpPr>
          <p:cNvPr id="11" name="Text 9"/>
          <p:cNvSpPr/>
          <p:nvPr/>
        </p:nvSpPr>
        <p:spPr>
          <a:xfrm>
            <a:off x="822960" y="2944368"/>
            <a:ext cx="1298448" cy="420624"/>
          </a:xfrm>
          <a:prstGeom prst="rect">
            <a:avLst/>
          </a:prstGeom>
          <a:noFill/>
          <a:ln/>
        </p:spPr>
        <p:txBody>
          <a:bodyPr wrap="square" lIns="0" tIns="0" rIns="0" bIns="0" rtlCol="0" anchor="ctr"/>
          <a:lstStyle/>
          <a:p>
            <a:pPr marL="0" indent="0" algn="ctr">
              <a:buNone/>
            </a:pPr>
            <a:r>
              <a:rPr lang="en-US" sz="2200" b="1" dirty="0">
                <a:solidFill>
                  <a:srgbClr val="E8620A"/>
                </a:solidFill>
                <a:latin typeface="Arial Black" pitchFamily="34" charset="0"/>
                <a:ea typeface="Arial Black" pitchFamily="34" charset="-122"/>
                <a:cs typeface="Arial Black" pitchFamily="34" charset="-120"/>
              </a:rPr>
              <a:t>2,720</a:t>
            </a:r>
            <a:endParaRPr lang="en-US" sz="2200" dirty="0"/>
          </a:p>
        </p:txBody>
      </p:sp>
      <p:sp>
        <p:nvSpPr>
          <p:cNvPr id="12" name="Text 10"/>
          <p:cNvSpPr/>
          <p:nvPr/>
        </p:nvSpPr>
        <p:spPr>
          <a:xfrm>
            <a:off x="822960" y="3364992"/>
            <a:ext cx="1298448" cy="274320"/>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Total Goals</a:t>
            </a:r>
            <a:endParaRPr lang="en-US" sz="800" dirty="0"/>
          </a:p>
        </p:txBody>
      </p:sp>
      <p:sp>
        <p:nvSpPr>
          <p:cNvPr id="13" name="Shape 11"/>
          <p:cNvSpPr/>
          <p:nvPr/>
        </p:nvSpPr>
        <p:spPr>
          <a:xfrm>
            <a:off x="2249424" y="2907792"/>
            <a:ext cx="1298448" cy="804672"/>
          </a:xfrm>
          <a:prstGeom prst="rect">
            <a:avLst/>
          </a:prstGeom>
          <a:solidFill>
            <a:srgbClr val="0D0D1A"/>
          </a:solidFill>
          <a:ln w="12700">
            <a:solidFill>
              <a:srgbClr val="E8620A"/>
            </a:solidFill>
            <a:prstDash val="solid"/>
          </a:ln>
        </p:spPr>
        <p:txBody>
          <a:bodyPr/>
          <a:lstStyle/>
          <a:p>
            <a:endParaRPr lang="en-US"/>
          </a:p>
        </p:txBody>
      </p:sp>
      <p:sp>
        <p:nvSpPr>
          <p:cNvPr id="14" name="Text 12"/>
          <p:cNvSpPr/>
          <p:nvPr/>
        </p:nvSpPr>
        <p:spPr>
          <a:xfrm>
            <a:off x="2249424" y="2944368"/>
            <a:ext cx="1298448" cy="420624"/>
          </a:xfrm>
          <a:prstGeom prst="rect">
            <a:avLst/>
          </a:prstGeom>
          <a:noFill/>
          <a:ln/>
        </p:spPr>
        <p:txBody>
          <a:bodyPr wrap="square" lIns="0" tIns="0" rIns="0" bIns="0" rtlCol="0" anchor="ctr"/>
          <a:lstStyle/>
          <a:p>
            <a:pPr marL="0" indent="0" algn="ctr">
              <a:buNone/>
            </a:pPr>
            <a:r>
              <a:rPr lang="en-US" sz="2200" b="1" dirty="0">
                <a:solidFill>
                  <a:srgbClr val="E8620A"/>
                </a:solidFill>
                <a:latin typeface="Arial Black" pitchFamily="34" charset="0"/>
                <a:ea typeface="Arial Black" pitchFamily="34" charset="-122"/>
                <a:cs typeface="Arial Black" pitchFamily="34" charset="-120"/>
              </a:rPr>
              <a:t>964</a:t>
            </a:r>
            <a:endParaRPr lang="en-US" sz="2200" dirty="0"/>
          </a:p>
        </p:txBody>
      </p:sp>
      <p:sp>
        <p:nvSpPr>
          <p:cNvPr id="15" name="Text 13"/>
          <p:cNvSpPr/>
          <p:nvPr/>
        </p:nvSpPr>
        <p:spPr>
          <a:xfrm>
            <a:off x="2249424" y="3364992"/>
            <a:ext cx="1298448" cy="274320"/>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Total Matches</a:t>
            </a:r>
            <a:endParaRPr lang="en-US" sz="800" dirty="0"/>
          </a:p>
        </p:txBody>
      </p:sp>
      <p:sp>
        <p:nvSpPr>
          <p:cNvPr id="16" name="Shape 14"/>
          <p:cNvSpPr/>
          <p:nvPr/>
        </p:nvSpPr>
        <p:spPr>
          <a:xfrm>
            <a:off x="3675888" y="2907792"/>
            <a:ext cx="1298448" cy="804672"/>
          </a:xfrm>
          <a:prstGeom prst="rect">
            <a:avLst/>
          </a:prstGeom>
          <a:solidFill>
            <a:srgbClr val="0D0D1A"/>
          </a:solidFill>
          <a:ln w="12700">
            <a:solidFill>
              <a:srgbClr val="E8620A"/>
            </a:solidFill>
            <a:prstDash val="solid"/>
          </a:ln>
        </p:spPr>
        <p:txBody>
          <a:bodyPr/>
          <a:lstStyle/>
          <a:p>
            <a:endParaRPr lang="en-US"/>
          </a:p>
        </p:txBody>
      </p:sp>
      <p:sp>
        <p:nvSpPr>
          <p:cNvPr id="17" name="Text 15"/>
          <p:cNvSpPr/>
          <p:nvPr/>
        </p:nvSpPr>
        <p:spPr>
          <a:xfrm>
            <a:off x="3675888" y="2944368"/>
            <a:ext cx="1298448" cy="420624"/>
          </a:xfrm>
          <a:prstGeom prst="rect">
            <a:avLst/>
          </a:prstGeom>
          <a:noFill/>
          <a:ln/>
        </p:spPr>
        <p:txBody>
          <a:bodyPr wrap="square" lIns="0" tIns="0" rIns="0" bIns="0" rtlCol="0" anchor="ctr"/>
          <a:lstStyle/>
          <a:p>
            <a:pPr marL="0" indent="0" algn="ctr">
              <a:buNone/>
            </a:pPr>
            <a:r>
              <a:rPr lang="en-US" sz="2200" b="1" dirty="0">
                <a:solidFill>
                  <a:srgbClr val="E8620A"/>
                </a:solidFill>
                <a:latin typeface="Arial Black" pitchFamily="34" charset="0"/>
                <a:ea typeface="Arial Black" pitchFamily="34" charset="-122"/>
                <a:cs typeface="Arial Black" pitchFamily="34" charset="-120"/>
              </a:rPr>
              <a:t>5×</a:t>
            </a:r>
            <a:endParaRPr lang="en-US" sz="2200" dirty="0"/>
          </a:p>
        </p:txBody>
      </p:sp>
      <p:sp>
        <p:nvSpPr>
          <p:cNvPr id="18" name="Text 16"/>
          <p:cNvSpPr/>
          <p:nvPr/>
        </p:nvSpPr>
        <p:spPr>
          <a:xfrm>
            <a:off x="3675888" y="3364992"/>
            <a:ext cx="1298448" cy="274320"/>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Brazil's Titles</a:t>
            </a:r>
            <a:endParaRPr lang="en-US" sz="800" dirty="0"/>
          </a:p>
        </p:txBody>
      </p:sp>
      <p:sp>
        <p:nvSpPr>
          <p:cNvPr id="19" name="Shape 17"/>
          <p:cNvSpPr/>
          <p:nvPr/>
        </p:nvSpPr>
        <p:spPr>
          <a:xfrm>
            <a:off x="5102352" y="2907792"/>
            <a:ext cx="1298448" cy="804672"/>
          </a:xfrm>
          <a:prstGeom prst="rect">
            <a:avLst/>
          </a:prstGeom>
          <a:solidFill>
            <a:srgbClr val="0D0D1A"/>
          </a:solidFill>
          <a:ln w="12700">
            <a:solidFill>
              <a:srgbClr val="E8620A"/>
            </a:solidFill>
            <a:prstDash val="solid"/>
          </a:ln>
        </p:spPr>
        <p:txBody>
          <a:bodyPr/>
          <a:lstStyle/>
          <a:p>
            <a:endParaRPr lang="en-US"/>
          </a:p>
        </p:txBody>
      </p:sp>
      <p:sp>
        <p:nvSpPr>
          <p:cNvPr id="20" name="Text 18"/>
          <p:cNvSpPr/>
          <p:nvPr/>
        </p:nvSpPr>
        <p:spPr>
          <a:xfrm>
            <a:off x="5102352" y="2944368"/>
            <a:ext cx="1298448" cy="420624"/>
          </a:xfrm>
          <a:prstGeom prst="rect">
            <a:avLst/>
          </a:prstGeom>
          <a:noFill/>
          <a:ln/>
        </p:spPr>
        <p:txBody>
          <a:bodyPr wrap="square" lIns="0" tIns="0" rIns="0" bIns="0" rtlCol="0" anchor="ctr"/>
          <a:lstStyle/>
          <a:p>
            <a:pPr marL="0" indent="0" algn="ctr">
              <a:buNone/>
            </a:pPr>
            <a:r>
              <a:rPr lang="en-US" sz="2200" b="1" dirty="0">
                <a:solidFill>
                  <a:srgbClr val="E8620A"/>
                </a:solidFill>
                <a:latin typeface="Arial Black" pitchFamily="34" charset="0"/>
                <a:ea typeface="Arial Black" pitchFamily="34" charset="-122"/>
                <a:cs typeface="Arial Black" pitchFamily="34" charset="-120"/>
              </a:rPr>
              <a:t>22.7%</a:t>
            </a:r>
            <a:endParaRPr lang="en-US" sz="2200" dirty="0"/>
          </a:p>
        </p:txBody>
      </p:sp>
      <p:sp>
        <p:nvSpPr>
          <p:cNvPr id="21" name="Text 19"/>
          <p:cNvSpPr/>
          <p:nvPr/>
        </p:nvSpPr>
        <p:spPr>
          <a:xfrm>
            <a:off x="5102352" y="3364992"/>
            <a:ext cx="1298448" cy="274320"/>
          </a:xfrm>
          <a:prstGeom prst="rect">
            <a:avLst/>
          </a:prstGeom>
          <a:noFill/>
          <a:ln/>
        </p:spPr>
        <p:txBody>
          <a:bodyPr wrap="square" lIns="0" tIns="0" rIns="0" bIns="0" rtlCol="0" anchor="ctr"/>
          <a:lstStyle/>
          <a:p>
            <a:pPr marL="0" indent="0" algn="ctr">
              <a:buNone/>
            </a:pPr>
            <a:r>
              <a:rPr lang="en-US" sz="800" dirty="0">
                <a:solidFill>
                  <a:srgbClr val="D0D0D0"/>
                </a:solidFill>
                <a:latin typeface="Arial" pitchFamily="34" charset="0"/>
                <a:ea typeface="Arial" pitchFamily="34" charset="-122"/>
                <a:cs typeface="Arial" pitchFamily="34" charset="-120"/>
              </a:rPr>
              <a:t>Host Win Rate</a:t>
            </a:r>
            <a:endParaRPr lang="en-US" sz="800" dirty="0"/>
          </a:p>
        </p:txBody>
      </p:sp>
      <p:sp>
        <p:nvSpPr>
          <p:cNvPr id="22" name="Text 20"/>
          <p:cNvSpPr/>
          <p:nvPr/>
        </p:nvSpPr>
        <p:spPr>
          <a:xfrm>
            <a:off x="822960" y="4617720"/>
            <a:ext cx="5669280" cy="256032"/>
          </a:xfrm>
          <a:prstGeom prst="rect">
            <a:avLst/>
          </a:prstGeom>
          <a:noFill/>
          <a:ln/>
        </p:spPr>
        <p:txBody>
          <a:bodyPr wrap="square" lIns="0" tIns="0" rIns="0" bIns="0" rtlCol="0" anchor="ctr"/>
          <a:lstStyle/>
          <a:p>
            <a:pPr marL="0" indent="0">
              <a:buNone/>
            </a:pPr>
            <a:r>
              <a:rPr lang="en-US" sz="950" i="1" dirty="0">
                <a:solidFill>
                  <a:srgbClr val="888888"/>
                </a:solidFill>
                <a:latin typeface="Arial" pitchFamily="34" charset="0"/>
                <a:ea typeface="Arial" pitchFamily="34" charset="-122"/>
                <a:cs typeface="Arial" pitchFamily="34" charset="-120"/>
              </a:rPr>
              <a:t>The World Cup is not just football — it is history, culture and data.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1576</Words>
  <Application>Microsoft Office PowerPoint</Application>
  <PresentationFormat>On-screen Show (16:9)</PresentationFormat>
  <Paragraphs>306</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FIFA World Cup Analysis 1930–2022</dc:title>
  <dc:subject>PptxGenJS Presentation</dc:subject>
  <dc:creator>PptxGenJS</dc:creator>
  <cp:lastModifiedBy>Habeeb Olamide Olayiwola</cp:lastModifiedBy>
  <cp:revision>2</cp:revision>
  <dcterms:created xsi:type="dcterms:W3CDTF">2026-04-03T11:45:27Z</dcterms:created>
  <dcterms:modified xsi:type="dcterms:W3CDTF">2026-04-03T11:57:49Z</dcterms:modified>
</cp:coreProperties>
</file>